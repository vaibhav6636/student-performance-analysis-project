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4630400" cy="8229600"/>
  <p:notesSz cx="8229600" cy="14630400"/>
  <p:embeddedFontLst>
    <p:embeddedFont>
      <p:font typeface="Calibri" panose="020F0502020204030204" pitchFamily="34" charset="0"/>
      <p:regular r:id="rId25"/>
      <p:bold r:id="rId26"/>
      <p:italic r:id="rId27"/>
      <p:boldItalic r:id="rId28"/>
    </p:embeddedFont>
    <p:embeddedFont>
      <p:font typeface="Syne" panose="020B0604020202020204" charset="0"/>
      <p:regular r:id="rId29"/>
    </p:embeddedFont>
    <p:embeddedFont>
      <p:font typeface="Syne Extra Bol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1E24"/>
    <a:srgbClr val="151F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6" d="100"/>
          <a:sy n="56" d="100"/>
        </p:scale>
        <p:origin x="62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3263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sv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9.xml"/><Relationship Id="rId5" Type="http://schemas.openxmlformats.org/officeDocument/2006/relationships/image" Target="../media/image18.svg"/><Relationship Id="rId4" Type="http://schemas.openxmlformats.org/officeDocument/2006/relationships/image" Target="../media/image17.svg"/></Relationships>
</file>

<file path=ppt/slides/_rels/slide19.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9.png"/><Relationship Id="rId7" Type="http://schemas.openxmlformats.org/officeDocument/2006/relationships/image" Target="../media/image22.svg"/><Relationship Id="rId12" Type="http://schemas.openxmlformats.org/officeDocument/2006/relationships/image" Target="../media/image27.svg"/><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image" Target="../media/image21.svg"/><Relationship Id="rId11" Type="http://schemas.openxmlformats.org/officeDocument/2006/relationships/image" Target="../media/image26.svg"/><Relationship Id="rId5" Type="http://schemas.openxmlformats.org/officeDocument/2006/relationships/image" Target="../media/image20.svg"/><Relationship Id="rId10" Type="http://schemas.openxmlformats.org/officeDocument/2006/relationships/image" Target="../media/image25.svg"/><Relationship Id="rId4" Type="http://schemas.openxmlformats.org/officeDocument/2006/relationships/image" Target="../media/image9.png"/><Relationship Id="rId9" Type="http://schemas.openxmlformats.org/officeDocument/2006/relationships/image" Target="../media/image24.sv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052632"/>
            <a:ext cx="13042821" cy="1807369"/>
          </a:xfrm>
          <a:prstGeom prst="rect">
            <a:avLst/>
          </a:prstGeom>
          <a:noFill/>
          <a:ln/>
        </p:spPr>
        <p:txBody>
          <a:bodyPr wrap="square" lIns="0" tIns="0" rIns="0" bIns="0" rtlCol="0" anchor="t"/>
          <a:lstStyle/>
          <a:p>
            <a:pPr marL="0" indent="0" algn="l">
              <a:lnSpc>
                <a:spcPts val="4700"/>
              </a:lnSpc>
              <a:buNone/>
            </a:pPr>
            <a:r>
              <a:rPr lang="en-US" sz="3750" b="1" dirty="0">
                <a:solidFill>
                  <a:srgbClr val="F0F4F1"/>
                </a:solidFill>
                <a:latin typeface="Syne Extra Bold" pitchFamily="34" charset="0"/>
                <a:ea typeface="Syne Extra Bold" pitchFamily="34" charset="-122"/>
                <a:cs typeface="Syne Extra Bold" pitchFamily="34" charset="-120"/>
              </a:rPr>
              <a:t>A Study on Student Challenges and Their Impact on Academic Achievement</a:t>
            </a:r>
            <a:endParaRPr lang="en-US" sz="3750" dirty="0"/>
          </a:p>
        </p:txBody>
      </p:sp>
      <p:sp>
        <p:nvSpPr>
          <p:cNvPr id="3" name="Text 1"/>
          <p:cNvSpPr/>
          <p:nvPr/>
        </p:nvSpPr>
        <p:spPr>
          <a:xfrm>
            <a:off x="793790" y="2925485"/>
            <a:ext cx="5853232" cy="301228"/>
          </a:xfrm>
          <a:prstGeom prst="rect">
            <a:avLst/>
          </a:prstGeom>
          <a:noFill/>
          <a:ln/>
        </p:spPr>
        <p:txBody>
          <a:bodyPr wrap="none" lIns="0" tIns="0" rIns="0" bIns="0" rtlCol="0" anchor="t"/>
          <a:lstStyle/>
          <a:p>
            <a:pPr marL="0" indent="0" algn="l">
              <a:lnSpc>
                <a:spcPts val="2350"/>
              </a:lnSpc>
              <a:buNone/>
            </a:pPr>
            <a:r>
              <a:rPr lang="en-US" sz="2800" b="1" dirty="0">
                <a:solidFill>
                  <a:srgbClr val="F0F4F1"/>
                </a:solidFill>
                <a:latin typeface="Syne Extra Bold" pitchFamily="34" charset="0"/>
                <a:ea typeface="Syne Extra Bold" pitchFamily="34" charset="-122"/>
                <a:cs typeface="Syne Extra Bold" pitchFamily="34" charset="-120"/>
              </a:rPr>
              <a:t>Research Project Presentation</a:t>
            </a:r>
            <a:endParaRPr lang="en-US" sz="2800" dirty="0"/>
          </a:p>
        </p:txBody>
      </p:sp>
      <p:sp>
        <p:nvSpPr>
          <p:cNvPr id="4" name="Text 2"/>
          <p:cNvSpPr/>
          <p:nvPr/>
        </p:nvSpPr>
        <p:spPr>
          <a:xfrm>
            <a:off x="793790" y="3472458"/>
            <a:ext cx="13042821" cy="285274"/>
          </a:xfrm>
          <a:prstGeom prst="rect">
            <a:avLst/>
          </a:prstGeom>
          <a:noFill/>
          <a:ln/>
        </p:spPr>
        <p:txBody>
          <a:bodyPr wrap="none" lIns="0" tIns="0" rIns="0" bIns="0" rtlCol="0" anchor="t"/>
          <a:lstStyle/>
          <a:p>
            <a:pPr marL="0" indent="0" algn="l">
              <a:lnSpc>
                <a:spcPts val="2200"/>
              </a:lnSpc>
              <a:buNone/>
            </a:pPr>
            <a:r>
              <a:rPr lang="en-US" sz="2000" b="1" dirty="0">
                <a:solidFill>
                  <a:srgbClr val="D7E5D8"/>
                </a:solidFill>
                <a:latin typeface="Syne" pitchFamily="34" charset="0"/>
                <a:ea typeface="Syne" pitchFamily="34" charset="-122"/>
                <a:cs typeface="Syne" pitchFamily="34" charset="-120"/>
              </a:rPr>
              <a:t>Presented By:</a:t>
            </a:r>
            <a:endParaRPr lang="en-US" sz="2000" dirty="0"/>
          </a:p>
        </p:txBody>
      </p:sp>
      <p:sp>
        <p:nvSpPr>
          <p:cNvPr id="5" name="Text 3"/>
          <p:cNvSpPr/>
          <p:nvPr/>
        </p:nvSpPr>
        <p:spPr>
          <a:xfrm>
            <a:off x="793790" y="3942040"/>
            <a:ext cx="13042821" cy="970359"/>
          </a:xfrm>
          <a:prstGeom prst="rect">
            <a:avLst/>
          </a:prstGeom>
          <a:noFill/>
          <a:ln/>
        </p:spPr>
        <p:txBody>
          <a:bodyPr wrap="square" lIns="0" tIns="0" rIns="0" bIns="0" rtlCol="0" anchor="t"/>
          <a:lstStyle/>
          <a:p>
            <a:pPr marL="342900" indent="-342900" algn="l">
              <a:lnSpc>
                <a:spcPts val="2200"/>
              </a:lnSpc>
              <a:buSzPct val="100000"/>
              <a:buChar char="•"/>
            </a:pPr>
            <a:r>
              <a:rPr lang="en-US" sz="2000" dirty="0">
                <a:solidFill>
                  <a:srgbClr val="D7E5D8"/>
                </a:solidFill>
                <a:latin typeface="Syne" pitchFamily="34" charset="0"/>
                <a:ea typeface="Syne" pitchFamily="34" charset="-122"/>
                <a:cs typeface="Syne" pitchFamily="34" charset="-120"/>
              </a:rPr>
              <a:t>Miss. Dnyaneshwari Namadev Khade</a:t>
            </a:r>
            <a:endParaRPr lang="en-US" sz="2000" dirty="0"/>
          </a:p>
          <a:p>
            <a:pPr marL="342900" indent="-342900" algn="l">
              <a:lnSpc>
                <a:spcPts val="2200"/>
              </a:lnSpc>
              <a:buSzPct val="100000"/>
              <a:buChar char="•"/>
            </a:pPr>
            <a:r>
              <a:rPr lang="en-US" sz="2000" dirty="0">
                <a:solidFill>
                  <a:srgbClr val="D7E5D8"/>
                </a:solidFill>
                <a:latin typeface="Syne" pitchFamily="34" charset="0"/>
                <a:ea typeface="Syne" pitchFamily="34" charset="-122"/>
                <a:cs typeface="Syne" pitchFamily="34" charset="-120"/>
              </a:rPr>
              <a:t>Miss. Shital Ramesh Davar</a:t>
            </a:r>
            <a:endParaRPr lang="en-US" sz="2000" dirty="0"/>
          </a:p>
          <a:p>
            <a:pPr marL="342900" indent="-342900" algn="l">
              <a:lnSpc>
                <a:spcPts val="2200"/>
              </a:lnSpc>
              <a:buSzPct val="100000"/>
              <a:buChar char="•"/>
            </a:pPr>
            <a:r>
              <a:rPr lang="en-US" sz="2000" dirty="0">
                <a:solidFill>
                  <a:srgbClr val="D7E5D8"/>
                </a:solidFill>
                <a:latin typeface="Syne" pitchFamily="34" charset="0"/>
                <a:ea typeface="Syne" pitchFamily="34" charset="-122"/>
                <a:cs typeface="Syne" pitchFamily="34" charset="-120"/>
              </a:rPr>
              <a:t>Mr. Vaibhav Shrikant Kore</a:t>
            </a:r>
            <a:endParaRPr lang="en-US" sz="2000" dirty="0"/>
          </a:p>
        </p:txBody>
      </p:sp>
      <p:sp>
        <p:nvSpPr>
          <p:cNvPr id="6" name="Text 4"/>
          <p:cNvSpPr/>
          <p:nvPr/>
        </p:nvSpPr>
        <p:spPr>
          <a:xfrm>
            <a:off x="793790" y="5096708"/>
            <a:ext cx="13042821" cy="285274"/>
          </a:xfrm>
          <a:prstGeom prst="rect">
            <a:avLst/>
          </a:prstGeom>
          <a:noFill/>
          <a:ln/>
        </p:spPr>
        <p:txBody>
          <a:bodyPr wrap="none" lIns="0" tIns="0" rIns="0" bIns="0" rtlCol="0" anchor="t"/>
          <a:lstStyle/>
          <a:p>
            <a:pPr marL="0" indent="0" algn="l">
              <a:lnSpc>
                <a:spcPts val="2200"/>
              </a:lnSpc>
              <a:buNone/>
            </a:pPr>
            <a:r>
              <a:rPr lang="en-US" sz="2000" b="1" dirty="0">
                <a:solidFill>
                  <a:srgbClr val="D7E5D8"/>
                </a:solidFill>
                <a:latin typeface="Syne" pitchFamily="34" charset="0"/>
                <a:ea typeface="Syne" pitchFamily="34" charset="-122"/>
                <a:cs typeface="Syne" pitchFamily="34" charset="-120"/>
              </a:rPr>
              <a:t>Under the Guidance Of:</a:t>
            </a:r>
            <a:endParaRPr lang="en-US" sz="2000" dirty="0"/>
          </a:p>
        </p:txBody>
      </p:sp>
      <p:sp>
        <p:nvSpPr>
          <p:cNvPr id="7" name="Text 5"/>
          <p:cNvSpPr/>
          <p:nvPr/>
        </p:nvSpPr>
        <p:spPr>
          <a:xfrm>
            <a:off x="793790" y="5566291"/>
            <a:ext cx="13042821" cy="1141095"/>
          </a:xfrm>
          <a:prstGeom prst="rect">
            <a:avLst/>
          </a:prstGeom>
          <a:noFill/>
          <a:ln/>
        </p:spPr>
        <p:txBody>
          <a:bodyPr wrap="square" lIns="0" tIns="0" rIns="0" bIns="0" rtlCol="0" anchor="t"/>
          <a:lstStyle/>
          <a:p>
            <a:pPr marL="0" indent="0" algn="l">
              <a:lnSpc>
                <a:spcPts val="2200"/>
              </a:lnSpc>
              <a:buNone/>
            </a:pPr>
            <a:r>
              <a:rPr lang="en-US" sz="2000" dirty="0">
                <a:solidFill>
                  <a:srgbClr val="D7E5D8"/>
                </a:solidFill>
                <a:latin typeface="Syne" pitchFamily="34" charset="0"/>
                <a:ea typeface="Syne" pitchFamily="34" charset="-122"/>
                <a:cs typeface="Syne" pitchFamily="34" charset="-120"/>
              </a:rPr>
              <a:t>Mr. A. B. Bhosale</a:t>
            </a:r>
            <a:endParaRPr lang="en-US" sz="2000" dirty="0"/>
          </a:p>
          <a:p>
            <a:pPr marL="0" indent="0" algn="l">
              <a:lnSpc>
                <a:spcPts val="2200"/>
              </a:lnSpc>
              <a:buNone/>
            </a:pPr>
            <a:r>
              <a:rPr lang="en-US" sz="2000" dirty="0">
                <a:solidFill>
                  <a:srgbClr val="D7E5D8"/>
                </a:solidFill>
                <a:latin typeface="Syne" pitchFamily="34" charset="0"/>
                <a:ea typeface="Syne" pitchFamily="34" charset="-122"/>
                <a:cs typeface="Syne" pitchFamily="34" charset="-120"/>
              </a:rPr>
              <a:t>Assistant Professor / Research Guide</a:t>
            </a:r>
            <a:endParaRPr lang="en-US" sz="2000" dirty="0"/>
          </a:p>
          <a:p>
            <a:pPr marL="0" indent="0" algn="l">
              <a:lnSpc>
                <a:spcPts val="2200"/>
              </a:lnSpc>
              <a:buNone/>
            </a:pPr>
            <a:endParaRPr lang="en-US" sz="2000" dirty="0">
              <a:solidFill>
                <a:srgbClr val="D7E5D8"/>
              </a:solidFill>
              <a:latin typeface="Syne" pitchFamily="34" charset="0"/>
              <a:ea typeface="Syne" pitchFamily="34" charset="-122"/>
              <a:cs typeface="Syne" pitchFamily="34" charset="-120"/>
            </a:endParaRPr>
          </a:p>
          <a:p>
            <a:pPr marL="0" indent="0" algn="l">
              <a:lnSpc>
                <a:spcPts val="2200"/>
              </a:lnSpc>
              <a:buNone/>
            </a:pPr>
            <a:r>
              <a:rPr lang="en-US" sz="2000" dirty="0">
                <a:solidFill>
                  <a:srgbClr val="D7E5D8"/>
                </a:solidFill>
                <a:latin typeface="Syne" pitchFamily="34" charset="0"/>
                <a:ea typeface="Syne" pitchFamily="34" charset="-122"/>
                <a:cs typeface="Syne" pitchFamily="34" charset="-120"/>
              </a:rPr>
              <a:t>Department of Statistics</a:t>
            </a:r>
            <a:endParaRPr lang="en-US" sz="2000" dirty="0"/>
          </a:p>
          <a:p>
            <a:pPr marL="0" indent="0" algn="l">
              <a:lnSpc>
                <a:spcPts val="2200"/>
              </a:lnSpc>
              <a:buNone/>
            </a:pPr>
            <a:r>
              <a:rPr lang="en-US" sz="2000" dirty="0">
                <a:solidFill>
                  <a:srgbClr val="D7E5D8"/>
                </a:solidFill>
                <a:latin typeface="Syne" pitchFamily="34" charset="0"/>
                <a:ea typeface="Syne" pitchFamily="34" charset="-122"/>
                <a:cs typeface="Syne" pitchFamily="34" charset="-120"/>
              </a:rPr>
              <a:t>Vivekanand College, Kolhapur</a:t>
            </a:r>
            <a:endParaRPr lang="en-US" sz="2000" dirty="0"/>
          </a:p>
        </p:txBody>
      </p:sp>
      <p:sp>
        <p:nvSpPr>
          <p:cNvPr id="8" name="Text 6"/>
          <p:cNvSpPr/>
          <p:nvPr/>
        </p:nvSpPr>
        <p:spPr>
          <a:xfrm>
            <a:off x="793790" y="7153037"/>
            <a:ext cx="13042821" cy="285274"/>
          </a:xfrm>
          <a:prstGeom prst="rect">
            <a:avLst/>
          </a:prstGeom>
          <a:noFill/>
          <a:ln/>
        </p:spPr>
        <p:txBody>
          <a:bodyPr wrap="none" lIns="0" tIns="0" rIns="0" bIns="0" rtlCol="0" anchor="t"/>
          <a:lstStyle/>
          <a:p>
            <a:pPr marL="0" indent="0" algn="l">
              <a:lnSpc>
                <a:spcPts val="2200"/>
              </a:lnSpc>
              <a:buNone/>
            </a:pPr>
            <a:r>
              <a:rPr lang="en-US" sz="2000" b="1" dirty="0">
                <a:solidFill>
                  <a:srgbClr val="D7E5D8"/>
                </a:solidFill>
                <a:latin typeface="Syne" pitchFamily="34" charset="0"/>
                <a:ea typeface="Syne" pitchFamily="34" charset="-122"/>
                <a:cs typeface="Syne" pitchFamily="34" charset="-120"/>
              </a:rPr>
              <a:t>Date:</a:t>
            </a:r>
            <a:r>
              <a:rPr lang="en-US" sz="2000" dirty="0">
                <a:solidFill>
                  <a:srgbClr val="D7E5D8"/>
                </a:solidFill>
                <a:latin typeface="Syne" pitchFamily="34" charset="0"/>
                <a:ea typeface="Syne" pitchFamily="34" charset="-122"/>
                <a:cs typeface="Syne" pitchFamily="34" charset="-120"/>
              </a:rPr>
              <a:t> 29 April 2026</a:t>
            </a:r>
            <a:endParaRPr lang="en-US" sz="2000" dirty="0"/>
          </a:p>
        </p:txBody>
      </p:sp>
      <p:sp>
        <p:nvSpPr>
          <p:cNvPr id="9" name="Rectangle 8">
            <a:extLst>
              <a:ext uri="{FF2B5EF4-FFF2-40B4-BE49-F238E27FC236}">
                <a16:creationId xmlns:a16="http://schemas.microsoft.com/office/drawing/2014/main" id="{28DEEA02-84D4-4E7C-AB33-03811A72A94D}"/>
              </a:ext>
            </a:extLst>
          </p:cNvPr>
          <p:cNvSpPr/>
          <p:nvPr/>
        </p:nvSpPr>
        <p:spPr>
          <a:xfrm>
            <a:off x="12801600" y="7661710"/>
            <a:ext cx="1742173" cy="548640"/>
          </a:xfrm>
          <a:prstGeom prst="rect">
            <a:avLst/>
          </a:prstGeom>
          <a:solidFill>
            <a:srgbClr val="141E24"/>
          </a:solidFill>
          <a:ln>
            <a:solidFill>
              <a:srgbClr val="141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1" y="662821"/>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F0F4F1"/>
                </a:solidFill>
                <a:latin typeface="Syne Extra Bold" pitchFamily="34" charset="0"/>
                <a:ea typeface="Syne Extra Bold" pitchFamily="34" charset="-122"/>
                <a:cs typeface="Syne Extra Bold" pitchFamily="34" charset="-120"/>
              </a:rPr>
              <a:t>Abstract</a:t>
            </a:r>
            <a:endParaRPr lang="en-US" sz="3550" dirty="0"/>
          </a:p>
        </p:txBody>
      </p:sp>
      <p:pic>
        <p:nvPicPr>
          <p:cNvPr id="3" name="Image 0" descr="preencoded.png"/>
          <p:cNvPicPr>
            <a:picLocks noChangeAspect="1"/>
          </p:cNvPicPr>
          <p:nvPr/>
        </p:nvPicPr>
        <p:blipFill>
          <a:blip r:embed="rId3"/>
          <a:stretch>
            <a:fillRect/>
          </a:stretch>
        </p:blipFill>
        <p:spPr>
          <a:xfrm>
            <a:off x="934878" y="1774746"/>
            <a:ext cx="6128862" cy="5186124"/>
          </a:xfrm>
          <a:prstGeom prst="rect">
            <a:avLst/>
          </a:prstGeom>
        </p:spPr>
      </p:pic>
      <p:sp>
        <p:nvSpPr>
          <p:cNvPr id="4" name="Text 1"/>
          <p:cNvSpPr/>
          <p:nvPr/>
        </p:nvSpPr>
        <p:spPr>
          <a:xfrm>
            <a:off x="7785796" y="2190154"/>
            <a:ext cx="5831681" cy="1567339"/>
          </a:xfrm>
          <a:prstGeom prst="rect">
            <a:avLst/>
          </a:prstGeom>
          <a:noFill/>
          <a:ln/>
        </p:spPr>
        <p:txBody>
          <a:bodyPr wrap="square" lIns="0" tIns="0" rIns="0" bIns="0" rtlCol="0" anchor="t"/>
          <a:lstStyle/>
          <a:p>
            <a:pPr marL="0" indent="0" algn="just">
              <a:lnSpc>
                <a:spcPts val="2050"/>
              </a:lnSpc>
              <a:buNone/>
            </a:pPr>
            <a:r>
              <a:rPr lang="en-US" dirty="0">
                <a:solidFill>
                  <a:srgbClr val="D7E5D8"/>
                </a:solidFill>
                <a:latin typeface="Syne" pitchFamily="34" charset="0"/>
                <a:ea typeface="Syne" pitchFamily="34" charset="-122"/>
                <a:cs typeface="Syne" pitchFamily="34" charset="-120"/>
              </a:rPr>
              <a:t>Academic performance is influenced by a combination of academic, personal, and environmental factors. This study examines the key factors affecting student achievement and identifies the major challenges faced by undergraduate students.</a:t>
            </a:r>
            <a:endParaRPr lang="en-US" dirty="0"/>
          </a:p>
        </p:txBody>
      </p:sp>
      <p:sp>
        <p:nvSpPr>
          <p:cNvPr id="5" name="Text 2"/>
          <p:cNvSpPr/>
          <p:nvPr/>
        </p:nvSpPr>
        <p:spPr>
          <a:xfrm>
            <a:off x="7785796" y="3714751"/>
            <a:ext cx="5980270" cy="1567339"/>
          </a:xfrm>
          <a:prstGeom prst="rect">
            <a:avLst/>
          </a:prstGeom>
          <a:noFill/>
          <a:ln/>
        </p:spPr>
        <p:txBody>
          <a:bodyPr wrap="square" lIns="0" tIns="0" rIns="0" bIns="0" rtlCol="0" anchor="t"/>
          <a:lstStyle/>
          <a:p>
            <a:pPr marL="0" indent="0" algn="just">
              <a:lnSpc>
                <a:spcPts val="2050"/>
              </a:lnSpc>
              <a:buNone/>
            </a:pPr>
            <a:r>
              <a:rPr lang="en-US" dirty="0">
                <a:solidFill>
                  <a:srgbClr val="D7E5D8"/>
                </a:solidFill>
                <a:latin typeface="Syne" pitchFamily="34" charset="0"/>
                <a:ea typeface="Syne" pitchFamily="34" charset="-122"/>
                <a:cs typeface="Syne" pitchFamily="34" charset="-120"/>
              </a:rPr>
              <a:t>The findings reveal that attendance, internal performance, study habits, motivation, stress, and family support play an important role in academic success. Common student challenges include lack of motivation, difficulty in understanding subjects, and poor time management.</a:t>
            </a:r>
            <a:endParaRPr lang="en-US" dirty="0"/>
          </a:p>
        </p:txBody>
      </p:sp>
      <p:sp>
        <p:nvSpPr>
          <p:cNvPr id="6" name="Text 3"/>
          <p:cNvSpPr/>
          <p:nvPr/>
        </p:nvSpPr>
        <p:spPr>
          <a:xfrm>
            <a:off x="7793296" y="5343287"/>
            <a:ext cx="5972770" cy="1530430"/>
          </a:xfrm>
          <a:prstGeom prst="rect">
            <a:avLst/>
          </a:prstGeom>
          <a:noFill/>
          <a:ln/>
        </p:spPr>
        <p:txBody>
          <a:bodyPr wrap="square" lIns="0" tIns="0" rIns="0" bIns="0" rtlCol="0" anchor="t"/>
          <a:lstStyle/>
          <a:p>
            <a:pPr marL="0" indent="0" algn="just">
              <a:lnSpc>
                <a:spcPts val="2050"/>
              </a:lnSpc>
              <a:buNone/>
            </a:pPr>
            <a:r>
              <a:rPr lang="en-US" dirty="0">
                <a:solidFill>
                  <a:srgbClr val="D7E5D8"/>
                </a:solidFill>
                <a:latin typeface="Syne" pitchFamily="34" charset="0"/>
                <a:ea typeface="Syne" pitchFamily="34" charset="-122"/>
                <a:cs typeface="Syne" pitchFamily="34" charset="-120"/>
              </a:rPr>
              <a:t>Overall, the study highlights the need for a balanced approach that combines academic support, personal guidance, and institutional intervention to improve student performance and student well-being.</a:t>
            </a:r>
            <a:endParaRPr lang="en-US" dirty="0"/>
          </a:p>
        </p:txBody>
      </p:sp>
      <p:sp>
        <p:nvSpPr>
          <p:cNvPr id="8" name="Rectangle 7">
            <a:extLst>
              <a:ext uri="{FF2B5EF4-FFF2-40B4-BE49-F238E27FC236}">
                <a16:creationId xmlns:a16="http://schemas.microsoft.com/office/drawing/2014/main" id="{E00273FF-3E43-4C5E-A472-6DB1244DC2F7}"/>
              </a:ext>
            </a:extLst>
          </p:cNvPr>
          <p:cNvSpPr/>
          <p:nvPr/>
        </p:nvSpPr>
        <p:spPr>
          <a:xfrm>
            <a:off x="12801600" y="7661710"/>
            <a:ext cx="1742173" cy="548640"/>
          </a:xfrm>
          <a:prstGeom prst="rect">
            <a:avLst/>
          </a:prstGeom>
          <a:solidFill>
            <a:srgbClr val="141E24"/>
          </a:solidFill>
          <a:ln>
            <a:solidFill>
              <a:srgbClr val="141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4962" y="513159"/>
            <a:ext cx="2994779" cy="374213"/>
          </a:xfrm>
          <a:prstGeom prst="rect">
            <a:avLst/>
          </a:prstGeom>
          <a:noFill/>
          <a:ln/>
        </p:spPr>
        <p:txBody>
          <a:bodyPr wrap="none" lIns="0" tIns="0" rIns="0" bIns="0" rtlCol="0" anchor="t"/>
          <a:lstStyle/>
          <a:p>
            <a:pPr marL="0" indent="0" algn="l">
              <a:lnSpc>
                <a:spcPts val="2900"/>
              </a:lnSpc>
              <a:buNone/>
            </a:pPr>
            <a:r>
              <a:rPr lang="en-US" sz="2350" b="1" dirty="0">
                <a:solidFill>
                  <a:srgbClr val="F0F4F1"/>
                </a:solidFill>
                <a:latin typeface="Syne Extra Bold" pitchFamily="34" charset="0"/>
                <a:ea typeface="Syne Extra Bold" pitchFamily="34" charset="-122"/>
                <a:cs typeface="Syne Extra Bold" pitchFamily="34" charset="-120"/>
              </a:rPr>
              <a:t>Introduction</a:t>
            </a:r>
            <a:endParaRPr lang="en-US" sz="2350" dirty="0"/>
          </a:p>
        </p:txBody>
      </p:sp>
      <p:pic>
        <p:nvPicPr>
          <p:cNvPr id="3" name="Image 0" descr="preencoded.png"/>
          <p:cNvPicPr>
            <a:picLocks noChangeAspect="1"/>
          </p:cNvPicPr>
          <p:nvPr/>
        </p:nvPicPr>
        <p:blipFill>
          <a:blip r:embed="rId3"/>
          <a:stretch>
            <a:fillRect/>
          </a:stretch>
        </p:blipFill>
        <p:spPr>
          <a:xfrm>
            <a:off x="644962" y="1053346"/>
            <a:ext cx="5569863" cy="1752838"/>
          </a:xfrm>
          <a:prstGeom prst="rect">
            <a:avLst/>
          </a:prstGeom>
        </p:spPr>
      </p:pic>
      <p:sp>
        <p:nvSpPr>
          <p:cNvPr id="4" name="Text 1"/>
          <p:cNvSpPr/>
          <p:nvPr/>
        </p:nvSpPr>
        <p:spPr>
          <a:xfrm>
            <a:off x="7438787" y="1053346"/>
            <a:ext cx="6037183" cy="1013162"/>
          </a:xfrm>
          <a:prstGeom prst="rect">
            <a:avLst/>
          </a:prstGeom>
          <a:noFill/>
          <a:ln/>
        </p:spPr>
        <p:txBody>
          <a:bodyPr wrap="square" lIns="0" tIns="0" rIns="0" bIns="0" rtlCol="0" anchor="t"/>
          <a:lstStyle/>
          <a:p>
            <a:pPr marL="0" indent="0" algn="l">
              <a:lnSpc>
                <a:spcPts val="1150"/>
              </a:lnSpc>
              <a:spcAft>
                <a:spcPts val="600"/>
              </a:spcAft>
              <a:buNone/>
            </a:pPr>
            <a:r>
              <a:rPr lang="en-US" sz="1600" dirty="0">
                <a:solidFill>
                  <a:srgbClr val="D7E5D8"/>
                </a:solidFill>
                <a:latin typeface="Syne" pitchFamily="34" charset="0"/>
                <a:ea typeface="Syne" pitchFamily="34" charset="-122"/>
                <a:cs typeface="Syne" pitchFamily="34" charset="-120"/>
              </a:rPr>
              <a:t>Academic performance is one of the most important indicators of student success and the quality of education. It is influenced by various academic, personal, and environmental factors. Students often face challenges such as stress, lack of motivation, poor study habits, and difficulty in understanding subjects. These challenges can directly affect their academic achievement.</a:t>
            </a:r>
            <a:endParaRPr lang="en-US" sz="1600" dirty="0"/>
          </a:p>
        </p:txBody>
      </p:sp>
      <p:sp>
        <p:nvSpPr>
          <p:cNvPr id="5" name="Text 2"/>
          <p:cNvSpPr/>
          <p:nvPr/>
        </p:nvSpPr>
        <p:spPr>
          <a:xfrm>
            <a:off x="7438785" y="2182357"/>
            <a:ext cx="6037183" cy="646687"/>
          </a:xfrm>
          <a:prstGeom prst="rect">
            <a:avLst/>
          </a:prstGeom>
          <a:noFill/>
          <a:ln/>
        </p:spPr>
        <p:txBody>
          <a:bodyPr wrap="square" lIns="0" tIns="0" rIns="0" bIns="0" rtlCol="0" anchor="t"/>
          <a:lstStyle/>
          <a:p>
            <a:pPr marL="0" indent="0" algn="l">
              <a:lnSpc>
                <a:spcPts val="1150"/>
              </a:lnSpc>
              <a:buNone/>
            </a:pPr>
            <a:r>
              <a:rPr lang="en-US" sz="1600" dirty="0">
                <a:solidFill>
                  <a:srgbClr val="D7E5D8"/>
                </a:solidFill>
                <a:latin typeface="Syne" pitchFamily="34" charset="0"/>
                <a:ea typeface="Syne" pitchFamily="34" charset="-122"/>
                <a:cs typeface="Syne" pitchFamily="34" charset="-120"/>
              </a:rPr>
              <a:t>This study aims to analyse these factors, identify major student challenges, and use statistical and machine learning techniques to support better academic decision-making.</a:t>
            </a:r>
            <a:endParaRPr lang="en-US" sz="1600" dirty="0"/>
          </a:p>
        </p:txBody>
      </p:sp>
      <p:sp>
        <p:nvSpPr>
          <p:cNvPr id="6" name="Text 3"/>
          <p:cNvSpPr/>
          <p:nvPr/>
        </p:nvSpPr>
        <p:spPr>
          <a:xfrm>
            <a:off x="644962" y="3203853"/>
            <a:ext cx="3819049" cy="299442"/>
          </a:xfrm>
          <a:prstGeom prst="rect">
            <a:avLst/>
          </a:prstGeom>
          <a:noFill/>
          <a:ln/>
        </p:spPr>
        <p:txBody>
          <a:bodyPr wrap="none" lIns="0" tIns="0" rIns="0" bIns="0" rtlCol="0" anchor="t"/>
          <a:lstStyle/>
          <a:p>
            <a:pPr marL="0" indent="0" algn="l">
              <a:lnSpc>
                <a:spcPts val="2350"/>
              </a:lnSpc>
              <a:buNone/>
            </a:pPr>
            <a:r>
              <a:rPr lang="en-US" sz="1850" b="1" dirty="0">
                <a:solidFill>
                  <a:srgbClr val="F0F4F1"/>
                </a:solidFill>
                <a:latin typeface="Syne Extra Bold" pitchFamily="34" charset="0"/>
                <a:ea typeface="Syne Extra Bold" pitchFamily="34" charset="-122"/>
                <a:cs typeface="Syne Extra Bold" pitchFamily="34" charset="-120"/>
              </a:rPr>
              <a:t>Review of Literature</a:t>
            </a:r>
            <a:endParaRPr lang="en-US" sz="1850" dirty="0"/>
          </a:p>
        </p:txBody>
      </p:sp>
      <p:sp>
        <p:nvSpPr>
          <p:cNvPr id="7" name="Shape 4"/>
          <p:cNvSpPr/>
          <p:nvPr/>
        </p:nvSpPr>
        <p:spPr>
          <a:xfrm>
            <a:off x="644961" y="3654504"/>
            <a:ext cx="13340477" cy="4460796"/>
          </a:xfrm>
          <a:prstGeom prst="roundRect">
            <a:avLst>
              <a:gd name="adj" fmla="val 1708"/>
            </a:avLst>
          </a:prstGeom>
          <a:noFill/>
          <a:ln w="7620">
            <a:solidFill>
              <a:srgbClr val="FFFFFF">
                <a:alpha val="24000"/>
              </a:srgbClr>
            </a:solidFill>
            <a:prstDash val="solid"/>
          </a:ln>
        </p:spPr>
      </p:sp>
      <p:sp>
        <p:nvSpPr>
          <p:cNvPr id="8" name="Text 5"/>
          <p:cNvSpPr/>
          <p:nvPr/>
        </p:nvSpPr>
        <p:spPr>
          <a:xfrm>
            <a:off x="772358" y="4411504"/>
            <a:ext cx="6419255" cy="146328"/>
          </a:xfrm>
          <a:prstGeom prst="rect">
            <a:avLst/>
          </a:prstGeom>
          <a:noFill/>
          <a:ln/>
        </p:spPr>
        <p:txBody>
          <a:bodyPr wrap="none" lIns="0" tIns="0" rIns="0" bIns="0" rtlCol="0" anchor="t"/>
          <a:lstStyle/>
          <a:p>
            <a:pPr marL="0" indent="0" algn="l">
              <a:lnSpc>
                <a:spcPts val="1150"/>
              </a:lnSpc>
              <a:buNone/>
            </a:pPr>
            <a:r>
              <a:rPr lang="en-US" sz="1400" b="1" dirty="0">
                <a:solidFill>
                  <a:srgbClr val="D7E5D8"/>
                </a:solidFill>
                <a:latin typeface="Syne" pitchFamily="34" charset="0"/>
                <a:ea typeface="Syne" pitchFamily="34" charset="-122"/>
                <a:cs typeface="Syne" pitchFamily="34" charset="-120"/>
              </a:rPr>
              <a:t>Author</a:t>
            </a:r>
            <a:endParaRPr lang="en-US" sz="1400" dirty="0"/>
          </a:p>
        </p:txBody>
      </p:sp>
      <p:sp>
        <p:nvSpPr>
          <p:cNvPr id="9" name="Text 6"/>
          <p:cNvSpPr/>
          <p:nvPr/>
        </p:nvSpPr>
        <p:spPr>
          <a:xfrm>
            <a:off x="7438787" y="4411504"/>
            <a:ext cx="6419255" cy="146328"/>
          </a:xfrm>
          <a:prstGeom prst="rect">
            <a:avLst/>
          </a:prstGeom>
          <a:noFill/>
          <a:ln/>
        </p:spPr>
        <p:txBody>
          <a:bodyPr wrap="none" lIns="0" tIns="0" rIns="0" bIns="0" rtlCol="0" anchor="t"/>
          <a:lstStyle/>
          <a:p>
            <a:pPr marL="0" indent="0" algn="l">
              <a:lnSpc>
                <a:spcPts val="1150"/>
              </a:lnSpc>
              <a:buNone/>
            </a:pPr>
            <a:r>
              <a:rPr lang="en-US" sz="1400" b="1" dirty="0">
                <a:solidFill>
                  <a:srgbClr val="D7E5D8"/>
                </a:solidFill>
                <a:latin typeface="Syne" pitchFamily="34" charset="0"/>
                <a:ea typeface="Syne" pitchFamily="34" charset="-122"/>
                <a:cs typeface="Syne" pitchFamily="34" charset="-120"/>
              </a:rPr>
              <a:t>Key Contribution</a:t>
            </a:r>
            <a:endParaRPr lang="en-US" sz="1400" dirty="0"/>
          </a:p>
        </p:txBody>
      </p:sp>
      <p:sp>
        <p:nvSpPr>
          <p:cNvPr id="10" name="Text 7"/>
          <p:cNvSpPr/>
          <p:nvPr/>
        </p:nvSpPr>
        <p:spPr>
          <a:xfrm>
            <a:off x="772358" y="4656415"/>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Ramaswami &amp; Bhaskaran (2009)</a:t>
            </a:r>
            <a:endParaRPr lang="en-US" sz="1400" dirty="0"/>
          </a:p>
        </p:txBody>
      </p:sp>
      <p:sp>
        <p:nvSpPr>
          <p:cNvPr id="11" name="Text 8"/>
          <p:cNvSpPr/>
          <p:nvPr/>
        </p:nvSpPr>
        <p:spPr>
          <a:xfrm>
            <a:off x="7438787" y="4656415"/>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Highlighted the importance of feature selection for improving prediction accuracy.</a:t>
            </a:r>
            <a:endParaRPr lang="en-US" sz="1400" dirty="0"/>
          </a:p>
        </p:txBody>
      </p:sp>
      <p:sp>
        <p:nvSpPr>
          <p:cNvPr id="12" name="Text 9"/>
          <p:cNvSpPr/>
          <p:nvPr/>
        </p:nvSpPr>
        <p:spPr>
          <a:xfrm>
            <a:off x="772358" y="4901327"/>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Yadav et al. (2012)</a:t>
            </a:r>
            <a:endParaRPr lang="en-US" sz="1400" dirty="0"/>
          </a:p>
        </p:txBody>
      </p:sp>
      <p:sp>
        <p:nvSpPr>
          <p:cNvPr id="13" name="Text 10"/>
          <p:cNvSpPr/>
          <p:nvPr/>
        </p:nvSpPr>
        <p:spPr>
          <a:xfrm>
            <a:off x="7438787" y="4901327"/>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Used academic data to classify students and identify weak performers early.</a:t>
            </a:r>
            <a:endParaRPr lang="en-US" sz="1400" dirty="0"/>
          </a:p>
        </p:txBody>
      </p:sp>
      <p:sp>
        <p:nvSpPr>
          <p:cNvPr id="14" name="Text 11"/>
          <p:cNvSpPr/>
          <p:nvPr/>
        </p:nvSpPr>
        <p:spPr>
          <a:xfrm>
            <a:off x="772358" y="5146238"/>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Vamanan &amp; Ramesh (2013)</a:t>
            </a:r>
            <a:endParaRPr lang="en-US" sz="1400" dirty="0"/>
          </a:p>
        </p:txBody>
      </p:sp>
      <p:sp>
        <p:nvSpPr>
          <p:cNvPr id="15" name="Text 12"/>
          <p:cNvSpPr/>
          <p:nvPr/>
        </p:nvSpPr>
        <p:spPr>
          <a:xfrm>
            <a:off x="7438787" y="5146238"/>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Studied the impact of personal, family, and academic factors on performance.</a:t>
            </a:r>
            <a:endParaRPr lang="en-US" sz="1400" dirty="0"/>
          </a:p>
        </p:txBody>
      </p:sp>
      <p:sp>
        <p:nvSpPr>
          <p:cNvPr id="16" name="Text 13"/>
          <p:cNvSpPr/>
          <p:nvPr/>
        </p:nvSpPr>
        <p:spPr>
          <a:xfrm>
            <a:off x="772358" y="5391150"/>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Adhatrao et al. (2013)</a:t>
            </a:r>
            <a:endParaRPr lang="en-US" sz="1400" dirty="0"/>
          </a:p>
        </p:txBody>
      </p:sp>
      <p:sp>
        <p:nvSpPr>
          <p:cNvPr id="17" name="Text 14"/>
          <p:cNvSpPr/>
          <p:nvPr/>
        </p:nvSpPr>
        <p:spPr>
          <a:xfrm>
            <a:off x="7438787" y="5391150"/>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Developed a prediction system to identify students needing academic support.</a:t>
            </a:r>
            <a:endParaRPr lang="en-US" sz="1400" dirty="0"/>
          </a:p>
        </p:txBody>
      </p:sp>
      <p:sp>
        <p:nvSpPr>
          <p:cNvPr id="18" name="Text 15"/>
          <p:cNvSpPr/>
          <p:nvPr/>
        </p:nvSpPr>
        <p:spPr>
          <a:xfrm>
            <a:off x="772358" y="5636062"/>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Sujatha et al. (2018)</a:t>
            </a:r>
            <a:endParaRPr lang="en-US" sz="1400" dirty="0"/>
          </a:p>
        </p:txBody>
      </p:sp>
      <p:sp>
        <p:nvSpPr>
          <p:cNvPr id="19" name="Text 16"/>
          <p:cNvSpPr/>
          <p:nvPr/>
        </p:nvSpPr>
        <p:spPr>
          <a:xfrm>
            <a:off x="7438787" y="5636062"/>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Predicted student performance for early academic intervention.</a:t>
            </a:r>
            <a:endParaRPr lang="en-US" sz="1400" dirty="0"/>
          </a:p>
        </p:txBody>
      </p:sp>
      <p:sp>
        <p:nvSpPr>
          <p:cNvPr id="20" name="Text 17"/>
          <p:cNvSpPr/>
          <p:nvPr/>
        </p:nvSpPr>
        <p:spPr>
          <a:xfrm>
            <a:off x="772358" y="5880973"/>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Li et al. (2019)</a:t>
            </a:r>
            <a:endParaRPr lang="en-US" sz="1400" dirty="0"/>
          </a:p>
        </p:txBody>
      </p:sp>
      <p:sp>
        <p:nvSpPr>
          <p:cNvPr id="21" name="Text 18"/>
          <p:cNvSpPr/>
          <p:nvPr/>
        </p:nvSpPr>
        <p:spPr>
          <a:xfrm>
            <a:off x="7438787" y="5880973"/>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Applied clustering techniques to analyse student learning patterns.</a:t>
            </a:r>
            <a:endParaRPr lang="en-US" sz="1400" dirty="0"/>
          </a:p>
        </p:txBody>
      </p:sp>
      <p:sp>
        <p:nvSpPr>
          <p:cNvPr id="22" name="Text 19"/>
          <p:cNvSpPr/>
          <p:nvPr/>
        </p:nvSpPr>
        <p:spPr>
          <a:xfrm>
            <a:off x="772358" y="6125885"/>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Zhang et al. (2021)</a:t>
            </a:r>
            <a:endParaRPr lang="en-US" sz="1400" dirty="0"/>
          </a:p>
        </p:txBody>
      </p:sp>
      <p:sp>
        <p:nvSpPr>
          <p:cNvPr id="23" name="Text 20"/>
          <p:cNvSpPr/>
          <p:nvPr/>
        </p:nvSpPr>
        <p:spPr>
          <a:xfrm>
            <a:off x="7438787" y="6125885"/>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Used academic records to identify at-risk students effectively.</a:t>
            </a:r>
            <a:endParaRPr lang="en-US" sz="1400" dirty="0"/>
          </a:p>
        </p:txBody>
      </p:sp>
      <p:sp>
        <p:nvSpPr>
          <p:cNvPr id="24" name="Text 21"/>
          <p:cNvSpPr/>
          <p:nvPr/>
        </p:nvSpPr>
        <p:spPr>
          <a:xfrm>
            <a:off x="772358" y="6370796"/>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Lynn &amp; Emanuel (2021)</a:t>
            </a:r>
            <a:endParaRPr lang="en-US" sz="1400" dirty="0"/>
          </a:p>
        </p:txBody>
      </p:sp>
      <p:sp>
        <p:nvSpPr>
          <p:cNvPr id="25" name="Text 22"/>
          <p:cNvSpPr/>
          <p:nvPr/>
        </p:nvSpPr>
        <p:spPr>
          <a:xfrm>
            <a:off x="7438787" y="6370796"/>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Reviewed various techniques for student performance prediction.</a:t>
            </a:r>
            <a:endParaRPr lang="en-US" sz="1400" dirty="0"/>
          </a:p>
        </p:txBody>
      </p:sp>
      <p:sp>
        <p:nvSpPr>
          <p:cNvPr id="26" name="Text 23"/>
          <p:cNvSpPr/>
          <p:nvPr/>
        </p:nvSpPr>
        <p:spPr>
          <a:xfrm>
            <a:off x="772358" y="6615708"/>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Ahmad et al. (2021)</a:t>
            </a:r>
            <a:endParaRPr lang="en-US" sz="1400" dirty="0"/>
          </a:p>
        </p:txBody>
      </p:sp>
      <p:sp>
        <p:nvSpPr>
          <p:cNvPr id="27" name="Text 24"/>
          <p:cNvSpPr/>
          <p:nvPr/>
        </p:nvSpPr>
        <p:spPr>
          <a:xfrm>
            <a:off x="7438787" y="6615708"/>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Analysed machine learning applications in educational prediction.</a:t>
            </a:r>
            <a:endParaRPr lang="en-US" sz="1400" dirty="0"/>
          </a:p>
        </p:txBody>
      </p:sp>
      <p:sp>
        <p:nvSpPr>
          <p:cNvPr id="28" name="Text 25"/>
          <p:cNvSpPr/>
          <p:nvPr/>
        </p:nvSpPr>
        <p:spPr>
          <a:xfrm>
            <a:off x="772358" y="6860619"/>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Mustapha (2023)</a:t>
            </a:r>
            <a:endParaRPr lang="en-US" sz="1400" dirty="0"/>
          </a:p>
        </p:txBody>
      </p:sp>
      <p:sp>
        <p:nvSpPr>
          <p:cNvPr id="29" name="Text 26"/>
          <p:cNvSpPr/>
          <p:nvPr/>
        </p:nvSpPr>
        <p:spPr>
          <a:xfrm>
            <a:off x="7438787" y="6860619"/>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Compared feature selection methods for performance prediction.</a:t>
            </a:r>
            <a:endParaRPr lang="en-US" sz="1400" dirty="0"/>
          </a:p>
        </p:txBody>
      </p:sp>
      <p:sp>
        <p:nvSpPr>
          <p:cNvPr id="30" name="Text 27"/>
          <p:cNvSpPr/>
          <p:nvPr/>
        </p:nvSpPr>
        <p:spPr>
          <a:xfrm>
            <a:off x="772358" y="7105531"/>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Hussain et al. (2024)</a:t>
            </a:r>
            <a:endParaRPr lang="en-US" sz="1400" dirty="0"/>
          </a:p>
        </p:txBody>
      </p:sp>
      <p:sp>
        <p:nvSpPr>
          <p:cNvPr id="31" name="Text 28"/>
          <p:cNvSpPr/>
          <p:nvPr/>
        </p:nvSpPr>
        <p:spPr>
          <a:xfrm>
            <a:off x="7438787" y="7105531"/>
            <a:ext cx="6419255" cy="146328"/>
          </a:xfrm>
          <a:prstGeom prst="rect">
            <a:avLst/>
          </a:prstGeom>
          <a:noFill/>
          <a:ln/>
        </p:spPr>
        <p:txBody>
          <a:bodyPr wrap="none" lIns="0" tIns="0" rIns="0" bIns="0" rtlCol="0" anchor="t"/>
          <a:lstStyle/>
          <a:p>
            <a:pPr marL="0" indent="0" algn="l">
              <a:lnSpc>
                <a:spcPts val="1150"/>
              </a:lnSpc>
              <a:buNone/>
            </a:pPr>
            <a:r>
              <a:rPr lang="en-US" sz="1400" dirty="0">
                <a:solidFill>
                  <a:srgbClr val="D7E5D8"/>
                </a:solidFill>
                <a:latin typeface="Syne" pitchFamily="34" charset="0"/>
                <a:ea typeface="Syne" pitchFamily="34" charset="-122"/>
                <a:cs typeface="Syne" pitchFamily="34" charset="-120"/>
              </a:rPr>
              <a:t>Predicted final exam results using data mining techniques.</a:t>
            </a:r>
            <a:endParaRPr lang="en-US" sz="1400" dirty="0"/>
          </a:p>
        </p:txBody>
      </p:sp>
      <p:sp>
        <p:nvSpPr>
          <p:cNvPr id="32" name="Rectangle 31">
            <a:extLst>
              <a:ext uri="{FF2B5EF4-FFF2-40B4-BE49-F238E27FC236}">
                <a16:creationId xmlns:a16="http://schemas.microsoft.com/office/drawing/2014/main" id="{9A0F343E-6813-436D-808D-FFFCD0211A12}"/>
              </a:ext>
            </a:extLst>
          </p:cNvPr>
          <p:cNvSpPr/>
          <p:nvPr/>
        </p:nvSpPr>
        <p:spPr>
          <a:xfrm>
            <a:off x="12801600" y="7661710"/>
            <a:ext cx="1742173" cy="548640"/>
          </a:xfrm>
          <a:prstGeom prst="rect">
            <a:avLst/>
          </a:prstGeom>
          <a:solidFill>
            <a:srgbClr val="141E24"/>
          </a:solidFill>
          <a:ln>
            <a:solidFill>
              <a:srgbClr val="141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646033"/>
            <a:ext cx="10458450" cy="708779"/>
          </a:xfrm>
          <a:prstGeom prst="rect">
            <a:avLst/>
          </a:prstGeom>
          <a:noFill/>
          <a:ln/>
        </p:spPr>
        <p:txBody>
          <a:bodyPr wrap="none" lIns="0" tIns="0" rIns="0" bIns="0" rtlCol="0" anchor="t"/>
          <a:lstStyle/>
          <a:p>
            <a:pPr marL="0" indent="0" algn="l">
              <a:lnSpc>
                <a:spcPts val="5550"/>
              </a:lnSpc>
              <a:buNone/>
            </a:pPr>
            <a:r>
              <a:rPr lang="en-US" sz="4450" b="1" dirty="0">
                <a:solidFill>
                  <a:srgbClr val="F0F4F1"/>
                </a:solidFill>
                <a:latin typeface="Syne Extra Bold" pitchFamily="34" charset="0"/>
                <a:ea typeface="Syne Extra Bold" pitchFamily="34" charset="-122"/>
                <a:cs typeface="Syne Extra Bold" pitchFamily="34" charset="-120"/>
              </a:rPr>
              <a:t>Objectives of the Study</a:t>
            </a:r>
            <a:endParaRPr lang="en-US" sz="4450" dirty="0"/>
          </a:p>
        </p:txBody>
      </p:sp>
      <p:sp>
        <p:nvSpPr>
          <p:cNvPr id="3" name="Shape 1"/>
          <p:cNvSpPr/>
          <p:nvPr/>
        </p:nvSpPr>
        <p:spPr>
          <a:xfrm>
            <a:off x="793790" y="1808440"/>
            <a:ext cx="6407944" cy="2774156"/>
          </a:xfrm>
          <a:prstGeom prst="roundRect">
            <a:avLst>
              <a:gd name="adj" fmla="val 3434"/>
            </a:avLst>
          </a:prstGeom>
          <a:solidFill>
            <a:srgbClr val="152025">
              <a:alpha val="95000"/>
            </a:srgbClr>
          </a:solidFill>
          <a:ln w="30480">
            <a:solidFill>
              <a:srgbClr val="6D9121"/>
            </a:solidFill>
            <a:prstDash val="solid"/>
          </a:ln>
        </p:spPr>
      </p:sp>
      <p:sp>
        <p:nvSpPr>
          <p:cNvPr id="4" name="Shape 2"/>
          <p:cNvSpPr/>
          <p:nvPr/>
        </p:nvSpPr>
        <p:spPr>
          <a:xfrm>
            <a:off x="824270" y="1838920"/>
            <a:ext cx="6346984" cy="680442"/>
          </a:xfrm>
          <a:prstGeom prst="roundRect">
            <a:avLst>
              <a:gd name="adj" fmla="val 8626"/>
            </a:avLst>
          </a:prstGeom>
          <a:solidFill>
            <a:srgbClr val="547808"/>
          </a:solidFill>
          <a:ln/>
        </p:spPr>
      </p:sp>
      <p:sp>
        <p:nvSpPr>
          <p:cNvPr id="5" name="Text 3"/>
          <p:cNvSpPr/>
          <p:nvPr/>
        </p:nvSpPr>
        <p:spPr>
          <a:xfrm>
            <a:off x="3827621" y="1962626"/>
            <a:ext cx="340162" cy="425291"/>
          </a:xfrm>
          <a:prstGeom prst="rect">
            <a:avLst/>
          </a:prstGeom>
          <a:noFill/>
          <a:ln/>
        </p:spPr>
        <p:txBody>
          <a:bodyPr wrap="none" lIns="0" tIns="0" rIns="0" bIns="0" rtlCol="0" anchor="t"/>
          <a:lstStyle/>
          <a:p>
            <a:pPr marL="0" indent="0" algn="l">
              <a:lnSpc>
                <a:spcPts val="2650"/>
              </a:lnSpc>
              <a:buNone/>
            </a:pPr>
            <a:r>
              <a:rPr lang="en-US" sz="2650" b="1" dirty="0">
                <a:solidFill>
                  <a:srgbClr val="FFFFFF"/>
                </a:solidFill>
                <a:latin typeface="Syne Extra Bold" pitchFamily="34" charset="0"/>
                <a:ea typeface="Syne Extra Bold" pitchFamily="34" charset="-122"/>
                <a:cs typeface="Syne Extra Bold" pitchFamily="34" charset="-120"/>
              </a:rPr>
              <a:t>1</a:t>
            </a:r>
            <a:endParaRPr lang="en-US" sz="2650" dirty="0"/>
          </a:p>
        </p:txBody>
      </p:sp>
      <p:sp>
        <p:nvSpPr>
          <p:cNvPr id="6" name="Text 4"/>
          <p:cNvSpPr/>
          <p:nvPr/>
        </p:nvSpPr>
        <p:spPr>
          <a:xfrm>
            <a:off x="1051084" y="274617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7E5D8"/>
                </a:solidFill>
                <a:latin typeface="Syne Extra Bold" pitchFamily="34" charset="0"/>
                <a:ea typeface="Syne Extra Bold" pitchFamily="34" charset="-122"/>
                <a:cs typeface="Syne Extra Bold" pitchFamily="34" charset="-120"/>
              </a:rPr>
              <a:t>Objective 1</a:t>
            </a:r>
            <a:endParaRPr lang="en-US" sz="2200" dirty="0"/>
          </a:p>
        </p:txBody>
      </p:sp>
      <p:sp>
        <p:nvSpPr>
          <p:cNvPr id="7" name="Text 5"/>
          <p:cNvSpPr/>
          <p:nvPr/>
        </p:nvSpPr>
        <p:spPr>
          <a:xfrm>
            <a:off x="1051084" y="3236595"/>
            <a:ext cx="5893356" cy="1088708"/>
          </a:xfrm>
          <a:prstGeom prst="rect">
            <a:avLst/>
          </a:prstGeom>
          <a:noFill/>
          <a:ln/>
        </p:spPr>
        <p:txBody>
          <a:bodyPr wrap="squar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To identify and test the influence of various academic, personal, and environmental factors on students' academic performance.</a:t>
            </a:r>
            <a:endParaRPr lang="en-US" sz="1750" dirty="0"/>
          </a:p>
        </p:txBody>
      </p:sp>
      <p:sp>
        <p:nvSpPr>
          <p:cNvPr id="8" name="Shape 6"/>
          <p:cNvSpPr/>
          <p:nvPr/>
        </p:nvSpPr>
        <p:spPr>
          <a:xfrm>
            <a:off x="7428548" y="1808440"/>
            <a:ext cx="6408063" cy="2774156"/>
          </a:xfrm>
          <a:prstGeom prst="roundRect">
            <a:avLst>
              <a:gd name="adj" fmla="val 3434"/>
            </a:avLst>
          </a:prstGeom>
          <a:solidFill>
            <a:srgbClr val="152025">
              <a:alpha val="95000"/>
            </a:srgbClr>
          </a:solidFill>
          <a:ln w="30480">
            <a:solidFill>
              <a:srgbClr val="6D9121"/>
            </a:solidFill>
            <a:prstDash val="solid"/>
          </a:ln>
        </p:spPr>
      </p:sp>
      <p:sp>
        <p:nvSpPr>
          <p:cNvPr id="9" name="Shape 7"/>
          <p:cNvSpPr/>
          <p:nvPr/>
        </p:nvSpPr>
        <p:spPr>
          <a:xfrm>
            <a:off x="7459027" y="1838920"/>
            <a:ext cx="6347103" cy="680442"/>
          </a:xfrm>
          <a:prstGeom prst="roundRect">
            <a:avLst>
              <a:gd name="adj" fmla="val 8626"/>
            </a:avLst>
          </a:prstGeom>
          <a:solidFill>
            <a:srgbClr val="547808"/>
          </a:solidFill>
          <a:ln/>
        </p:spPr>
      </p:sp>
      <p:sp>
        <p:nvSpPr>
          <p:cNvPr id="10" name="Text 8"/>
          <p:cNvSpPr/>
          <p:nvPr/>
        </p:nvSpPr>
        <p:spPr>
          <a:xfrm>
            <a:off x="10462498" y="1962626"/>
            <a:ext cx="340162" cy="425291"/>
          </a:xfrm>
          <a:prstGeom prst="rect">
            <a:avLst/>
          </a:prstGeom>
          <a:noFill/>
          <a:ln/>
        </p:spPr>
        <p:txBody>
          <a:bodyPr wrap="none" lIns="0" tIns="0" rIns="0" bIns="0" rtlCol="0" anchor="t"/>
          <a:lstStyle/>
          <a:p>
            <a:pPr marL="0" indent="0" algn="l">
              <a:lnSpc>
                <a:spcPts val="2650"/>
              </a:lnSpc>
              <a:buNone/>
            </a:pPr>
            <a:r>
              <a:rPr lang="en-US" sz="2650" b="1" dirty="0">
                <a:solidFill>
                  <a:srgbClr val="FFFFFF"/>
                </a:solidFill>
                <a:latin typeface="Syne Extra Bold" pitchFamily="34" charset="0"/>
                <a:ea typeface="Syne Extra Bold" pitchFamily="34" charset="-122"/>
                <a:cs typeface="Syne Extra Bold" pitchFamily="34" charset="-120"/>
              </a:rPr>
              <a:t>2</a:t>
            </a:r>
            <a:endParaRPr lang="en-US" sz="2650" dirty="0"/>
          </a:p>
        </p:txBody>
      </p:sp>
      <p:sp>
        <p:nvSpPr>
          <p:cNvPr id="11" name="Text 9"/>
          <p:cNvSpPr/>
          <p:nvPr/>
        </p:nvSpPr>
        <p:spPr>
          <a:xfrm>
            <a:off x="7685842" y="274617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7E5D8"/>
                </a:solidFill>
                <a:latin typeface="Syne Extra Bold" pitchFamily="34" charset="0"/>
                <a:ea typeface="Syne Extra Bold" pitchFamily="34" charset="-122"/>
                <a:cs typeface="Syne Extra Bold" pitchFamily="34" charset="-120"/>
              </a:rPr>
              <a:t>Objective 2</a:t>
            </a:r>
            <a:endParaRPr lang="en-US" sz="2200" dirty="0"/>
          </a:p>
        </p:txBody>
      </p:sp>
      <p:sp>
        <p:nvSpPr>
          <p:cNvPr id="12" name="Text 10"/>
          <p:cNvSpPr/>
          <p:nvPr/>
        </p:nvSpPr>
        <p:spPr>
          <a:xfrm>
            <a:off x="7685842" y="3236595"/>
            <a:ext cx="5893475" cy="725805"/>
          </a:xfrm>
          <a:prstGeom prst="rect">
            <a:avLst/>
          </a:prstGeom>
          <a:noFill/>
          <a:ln/>
        </p:spPr>
        <p:txBody>
          <a:bodyPr wrap="squar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To identify student difficulties in their studies using their information.</a:t>
            </a:r>
            <a:endParaRPr lang="en-US" sz="1750" dirty="0"/>
          </a:p>
        </p:txBody>
      </p:sp>
      <p:sp>
        <p:nvSpPr>
          <p:cNvPr id="13" name="Shape 11"/>
          <p:cNvSpPr/>
          <p:nvPr/>
        </p:nvSpPr>
        <p:spPr>
          <a:xfrm>
            <a:off x="793790" y="4809411"/>
            <a:ext cx="6407944" cy="2774156"/>
          </a:xfrm>
          <a:prstGeom prst="roundRect">
            <a:avLst>
              <a:gd name="adj" fmla="val 3434"/>
            </a:avLst>
          </a:prstGeom>
          <a:solidFill>
            <a:srgbClr val="152025">
              <a:alpha val="95000"/>
            </a:srgbClr>
          </a:solidFill>
          <a:ln w="30480">
            <a:solidFill>
              <a:srgbClr val="6D9121"/>
            </a:solidFill>
            <a:prstDash val="solid"/>
          </a:ln>
        </p:spPr>
      </p:sp>
      <p:sp>
        <p:nvSpPr>
          <p:cNvPr id="14" name="Shape 12"/>
          <p:cNvSpPr/>
          <p:nvPr/>
        </p:nvSpPr>
        <p:spPr>
          <a:xfrm>
            <a:off x="824270" y="4839891"/>
            <a:ext cx="6346984" cy="680442"/>
          </a:xfrm>
          <a:prstGeom prst="roundRect">
            <a:avLst>
              <a:gd name="adj" fmla="val 8626"/>
            </a:avLst>
          </a:prstGeom>
          <a:solidFill>
            <a:srgbClr val="547808"/>
          </a:solidFill>
          <a:ln/>
        </p:spPr>
      </p:sp>
      <p:sp>
        <p:nvSpPr>
          <p:cNvPr id="15" name="Text 13"/>
          <p:cNvSpPr/>
          <p:nvPr/>
        </p:nvSpPr>
        <p:spPr>
          <a:xfrm>
            <a:off x="3827621" y="4963597"/>
            <a:ext cx="340162" cy="425291"/>
          </a:xfrm>
          <a:prstGeom prst="rect">
            <a:avLst/>
          </a:prstGeom>
          <a:noFill/>
          <a:ln/>
        </p:spPr>
        <p:txBody>
          <a:bodyPr wrap="none" lIns="0" tIns="0" rIns="0" bIns="0" rtlCol="0" anchor="t"/>
          <a:lstStyle/>
          <a:p>
            <a:pPr marL="0" indent="0" algn="l">
              <a:lnSpc>
                <a:spcPts val="2650"/>
              </a:lnSpc>
              <a:buNone/>
            </a:pPr>
            <a:r>
              <a:rPr lang="en-US" sz="2650" b="1" dirty="0">
                <a:solidFill>
                  <a:srgbClr val="FFFFFF"/>
                </a:solidFill>
                <a:latin typeface="Syne Extra Bold" pitchFamily="34" charset="0"/>
                <a:ea typeface="Syne Extra Bold" pitchFamily="34" charset="-122"/>
                <a:cs typeface="Syne Extra Bold" pitchFamily="34" charset="-120"/>
              </a:rPr>
              <a:t>3</a:t>
            </a:r>
            <a:endParaRPr lang="en-US" sz="2650" dirty="0"/>
          </a:p>
        </p:txBody>
      </p:sp>
      <p:sp>
        <p:nvSpPr>
          <p:cNvPr id="16" name="Text 14"/>
          <p:cNvSpPr/>
          <p:nvPr/>
        </p:nvSpPr>
        <p:spPr>
          <a:xfrm>
            <a:off x="1051084" y="574714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7E5D8"/>
                </a:solidFill>
                <a:latin typeface="Syne Extra Bold" pitchFamily="34" charset="0"/>
                <a:ea typeface="Syne Extra Bold" pitchFamily="34" charset="-122"/>
                <a:cs typeface="Syne Extra Bold" pitchFamily="34" charset="-120"/>
              </a:rPr>
              <a:t>Objective 3</a:t>
            </a:r>
            <a:endParaRPr lang="en-US" sz="2200" dirty="0"/>
          </a:p>
        </p:txBody>
      </p:sp>
      <p:sp>
        <p:nvSpPr>
          <p:cNvPr id="17" name="Text 15"/>
          <p:cNvSpPr/>
          <p:nvPr/>
        </p:nvSpPr>
        <p:spPr>
          <a:xfrm>
            <a:off x="1051084" y="6237565"/>
            <a:ext cx="5893356" cy="1088708"/>
          </a:xfrm>
          <a:prstGeom prst="rect">
            <a:avLst/>
          </a:prstGeom>
          <a:noFill/>
          <a:ln/>
        </p:spPr>
        <p:txBody>
          <a:bodyPr wrap="squar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To examine and test the relationship between students' personal experiences, study habits, and their academic achievement.</a:t>
            </a:r>
            <a:endParaRPr lang="en-US" sz="1750" dirty="0"/>
          </a:p>
        </p:txBody>
      </p:sp>
      <p:sp>
        <p:nvSpPr>
          <p:cNvPr id="18" name="Shape 16"/>
          <p:cNvSpPr/>
          <p:nvPr/>
        </p:nvSpPr>
        <p:spPr>
          <a:xfrm>
            <a:off x="7428548" y="4809411"/>
            <a:ext cx="6408063" cy="2774156"/>
          </a:xfrm>
          <a:prstGeom prst="roundRect">
            <a:avLst>
              <a:gd name="adj" fmla="val 3434"/>
            </a:avLst>
          </a:prstGeom>
          <a:solidFill>
            <a:srgbClr val="152025">
              <a:alpha val="95000"/>
            </a:srgbClr>
          </a:solidFill>
          <a:ln w="30480">
            <a:solidFill>
              <a:srgbClr val="6D9121"/>
            </a:solidFill>
            <a:prstDash val="solid"/>
          </a:ln>
        </p:spPr>
      </p:sp>
      <p:sp>
        <p:nvSpPr>
          <p:cNvPr id="19" name="Shape 17"/>
          <p:cNvSpPr/>
          <p:nvPr/>
        </p:nvSpPr>
        <p:spPr>
          <a:xfrm>
            <a:off x="7459027" y="4839891"/>
            <a:ext cx="6347103" cy="680442"/>
          </a:xfrm>
          <a:prstGeom prst="roundRect">
            <a:avLst>
              <a:gd name="adj" fmla="val 8626"/>
            </a:avLst>
          </a:prstGeom>
          <a:solidFill>
            <a:srgbClr val="547808"/>
          </a:solidFill>
          <a:ln/>
        </p:spPr>
      </p:sp>
      <p:sp>
        <p:nvSpPr>
          <p:cNvPr id="20" name="Text 18"/>
          <p:cNvSpPr/>
          <p:nvPr/>
        </p:nvSpPr>
        <p:spPr>
          <a:xfrm>
            <a:off x="10462498" y="4963597"/>
            <a:ext cx="340162" cy="425291"/>
          </a:xfrm>
          <a:prstGeom prst="rect">
            <a:avLst/>
          </a:prstGeom>
          <a:noFill/>
          <a:ln/>
        </p:spPr>
        <p:txBody>
          <a:bodyPr wrap="none" lIns="0" tIns="0" rIns="0" bIns="0" rtlCol="0" anchor="t"/>
          <a:lstStyle/>
          <a:p>
            <a:pPr marL="0" indent="0" algn="l">
              <a:lnSpc>
                <a:spcPts val="2650"/>
              </a:lnSpc>
              <a:buNone/>
            </a:pPr>
            <a:r>
              <a:rPr lang="en-US" sz="2650" b="1" dirty="0">
                <a:solidFill>
                  <a:srgbClr val="FFFFFF"/>
                </a:solidFill>
                <a:latin typeface="Syne Extra Bold" pitchFamily="34" charset="0"/>
                <a:ea typeface="Syne Extra Bold" pitchFamily="34" charset="-122"/>
                <a:cs typeface="Syne Extra Bold" pitchFamily="34" charset="-120"/>
              </a:rPr>
              <a:t>4</a:t>
            </a:r>
            <a:endParaRPr lang="en-US" sz="2650" dirty="0"/>
          </a:p>
        </p:txBody>
      </p:sp>
      <p:sp>
        <p:nvSpPr>
          <p:cNvPr id="21" name="Text 19"/>
          <p:cNvSpPr/>
          <p:nvPr/>
        </p:nvSpPr>
        <p:spPr>
          <a:xfrm>
            <a:off x="7685842" y="574714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7E5D8"/>
                </a:solidFill>
                <a:latin typeface="Syne Extra Bold" pitchFamily="34" charset="0"/>
                <a:ea typeface="Syne Extra Bold" pitchFamily="34" charset="-122"/>
                <a:cs typeface="Syne Extra Bold" pitchFamily="34" charset="-120"/>
              </a:rPr>
              <a:t>Objective 4</a:t>
            </a:r>
            <a:endParaRPr lang="en-US" sz="2200" dirty="0"/>
          </a:p>
        </p:txBody>
      </p:sp>
      <p:sp>
        <p:nvSpPr>
          <p:cNvPr id="22" name="Text 20"/>
          <p:cNvSpPr/>
          <p:nvPr/>
        </p:nvSpPr>
        <p:spPr>
          <a:xfrm>
            <a:off x="7685842" y="6237565"/>
            <a:ext cx="5893475" cy="725805"/>
          </a:xfrm>
          <a:prstGeom prst="rect">
            <a:avLst/>
          </a:prstGeom>
          <a:noFill/>
          <a:ln/>
        </p:spPr>
        <p:txBody>
          <a:bodyPr wrap="squar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To identify at-risk students, analyse student challenges, and study their support needs.</a:t>
            </a:r>
            <a:endParaRPr lang="en-US" sz="1750" dirty="0"/>
          </a:p>
        </p:txBody>
      </p:sp>
      <p:sp>
        <p:nvSpPr>
          <p:cNvPr id="23" name="Rectangle 22">
            <a:extLst>
              <a:ext uri="{FF2B5EF4-FFF2-40B4-BE49-F238E27FC236}">
                <a16:creationId xmlns:a16="http://schemas.microsoft.com/office/drawing/2014/main" id="{E94C3328-655C-46F6-9073-BBFA7DAAE4FE}"/>
              </a:ext>
            </a:extLst>
          </p:cNvPr>
          <p:cNvSpPr/>
          <p:nvPr/>
        </p:nvSpPr>
        <p:spPr>
          <a:xfrm>
            <a:off x="12801600" y="7661710"/>
            <a:ext cx="1742173" cy="548640"/>
          </a:xfrm>
          <a:prstGeom prst="rect">
            <a:avLst/>
          </a:prstGeom>
          <a:solidFill>
            <a:srgbClr val="141E24"/>
          </a:solidFill>
          <a:ln>
            <a:solidFill>
              <a:srgbClr val="141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9846" y="542330"/>
            <a:ext cx="10817185" cy="388739"/>
          </a:xfrm>
          <a:prstGeom prst="rect">
            <a:avLst/>
          </a:prstGeom>
          <a:noFill/>
          <a:ln/>
        </p:spPr>
        <p:txBody>
          <a:bodyPr wrap="none" lIns="0" tIns="0" rIns="0" bIns="0" rtlCol="0" anchor="t"/>
          <a:lstStyle/>
          <a:p>
            <a:pPr marL="0" indent="0" algn="l">
              <a:lnSpc>
                <a:spcPts val="3050"/>
              </a:lnSpc>
              <a:buNone/>
            </a:pPr>
            <a:r>
              <a:rPr lang="en-US" sz="2400" b="1" dirty="0">
                <a:solidFill>
                  <a:srgbClr val="F0F4F1"/>
                </a:solidFill>
                <a:latin typeface="Syne Extra Bold" pitchFamily="34" charset="0"/>
                <a:ea typeface="Syne Extra Bold" pitchFamily="34" charset="-122"/>
                <a:cs typeface="Syne Extra Bold" pitchFamily="34" charset="-120"/>
              </a:rPr>
              <a:t>Data Collection and Research Methodology</a:t>
            </a:r>
            <a:endParaRPr lang="en-US" sz="2400" dirty="0"/>
          </a:p>
        </p:txBody>
      </p:sp>
      <p:pic>
        <p:nvPicPr>
          <p:cNvPr id="3" name="Image 0" descr="preencoded.png"/>
          <p:cNvPicPr>
            <a:picLocks noChangeAspect="1"/>
          </p:cNvPicPr>
          <p:nvPr/>
        </p:nvPicPr>
        <p:blipFill>
          <a:blip r:embed="rId3"/>
          <a:stretch>
            <a:fillRect/>
          </a:stretch>
        </p:blipFill>
        <p:spPr>
          <a:xfrm>
            <a:off x="669846" y="2788801"/>
            <a:ext cx="5546169" cy="3142774"/>
          </a:xfrm>
          <a:prstGeom prst="rect">
            <a:avLst/>
          </a:prstGeom>
        </p:spPr>
      </p:pic>
      <p:sp>
        <p:nvSpPr>
          <p:cNvPr id="4" name="Shape 1"/>
          <p:cNvSpPr/>
          <p:nvPr/>
        </p:nvSpPr>
        <p:spPr>
          <a:xfrm>
            <a:off x="7578090" y="1110020"/>
            <a:ext cx="6389965" cy="695682"/>
          </a:xfrm>
          <a:prstGeom prst="roundRect">
            <a:avLst>
              <a:gd name="adj" fmla="val 7510"/>
            </a:avLst>
          </a:prstGeom>
          <a:solidFill>
            <a:srgbClr val="152025">
              <a:alpha val="95000"/>
            </a:srgbClr>
          </a:solidFill>
          <a:ln w="15240">
            <a:solidFill>
              <a:srgbClr val="6D9121"/>
            </a:solidFill>
            <a:prstDash val="solid"/>
          </a:ln>
        </p:spPr>
      </p:sp>
      <p:sp>
        <p:nvSpPr>
          <p:cNvPr id="5" name="Text 2"/>
          <p:cNvSpPr/>
          <p:nvPr/>
        </p:nvSpPr>
        <p:spPr>
          <a:xfrm>
            <a:off x="9653111" y="1249561"/>
            <a:ext cx="1554956" cy="194310"/>
          </a:xfrm>
          <a:prstGeom prst="rect">
            <a:avLst/>
          </a:prstGeom>
          <a:noFill/>
          <a:ln/>
        </p:spPr>
        <p:txBody>
          <a:bodyPr wrap="none" lIns="0" tIns="0" rIns="0" bIns="0" rtlCol="0" anchor="t"/>
          <a:lstStyle/>
          <a:p>
            <a:pPr marL="0" indent="0" algn="l">
              <a:lnSpc>
                <a:spcPts val="1500"/>
              </a:lnSpc>
              <a:buNone/>
            </a:pPr>
            <a:r>
              <a:rPr lang="en-US" sz="2000" b="1" dirty="0">
                <a:solidFill>
                  <a:srgbClr val="D7E5D8"/>
                </a:solidFill>
                <a:latin typeface="Syne Extra Bold" pitchFamily="34" charset="0"/>
                <a:ea typeface="Syne Extra Bold" pitchFamily="34" charset="-122"/>
                <a:cs typeface="Syne Extra Bold" pitchFamily="34" charset="-120"/>
              </a:rPr>
              <a:t>Study Area</a:t>
            </a:r>
            <a:endParaRPr lang="en-US" sz="2000" dirty="0"/>
          </a:p>
        </p:txBody>
      </p:sp>
      <p:sp>
        <p:nvSpPr>
          <p:cNvPr id="6" name="Text 3"/>
          <p:cNvSpPr/>
          <p:nvPr/>
        </p:nvSpPr>
        <p:spPr>
          <a:xfrm>
            <a:off x="9653111" y="1512094"/>
            <a:ext cx="4175403" cy="154067"/>
          </a:xfrm>
          <a:prstGeom prst="rect">
            <a:avLst/>
          </a:prstGeom>
          <a:noFill/>
          <a:ln/>
        </p:spPr>
        <p:txBody>
          <a:bodyPr wrap="none" lIns="0" tIns="0" rIns="0" bIns="0" rtlCol="0" anchor="t"/>
          <a:lstStyle/>
          <a:p>
            <a:pPr marL="0" indent="0" algn="l">
              <a:lnSpc>
                <a:spcPts val="1200"/>
              </a:lnSpc>
              <a:buNone/>
            </a:pPr>
            <a:r>
              <a:rPr lang="en-US" sz="1200" dirty="0">
                <a:solidFill>
                  <a:srgbClr val="D7E5D8"/>
                </a:solidFill>
                <a:latin typeface="Syne" pitchFamily="34" charset="0"/>
                <a:ea typeface="Syne" pitchFamily="34" charset="-122"/>
                <a:cs typeface="Syne" pitchFamily="34" charset="-120"/>
              </a:rPr>
              <a:t>Kolhapur District</a:t>
            </a:r>
            <a:endParaRPr lang="en-US" sz="1200" dirty="0"/>
          </a:p>
        </p:txBody>
      </p:sp>
      <p:sp>
        <p:nvSpPr>
          <p:cNvPr id="7" name="Shape 4"/>
          <p:cNvSpPr/>
          <p:nvPr/>
        </p:nvSpPr>
        <p:spPr>
          <a:xfrm>
            <a:off x="7578090" y="1873925"/>
            <a:ext cx="6389965" cy="695682"/>
          </a:xfrm>
          <a:prstGeom prst="roundRect">
            <a:avLst>
              <a:gd name="adj" fmla="val 7510"/>
            </a:avLst>
          </a:prstGeom>
          <a:solidFill>
            <a:srgbClr val="152025">
              <a:alpha val="95000"/>
            </a:srgbClr>
          </a:solidFill>
          <a:ln w="15240">
            <a:solidFill>
              <a:srgbClr val="6D9121"/>
            </a:solidFill>
            <a:prstDash val="solid"/>
          </a:ln>
        </p:spPr>
      </p:sp>
      <p:sp>
        <p:nvSpPr>
          <p:cNvPr id="8" name="Text 5"/>
          <p:cNvSpPr/>
          <p:nvPr/>
        </p:nvSpPr>
        <p:spPr>
          <a:xfrm>
            <a:off x="9653111" y="2013466"/>
            <a:ext cx="2091214" cy="194310"/>
          </a:xfrm>
          <a:prstGeom prst="rect">
            <a:avLst/>
          </a:prstGeom>
          <a:noFill/>
          <a:ln/>
        </p:spPr>
        <p:txBody>
          <a:bodyPr wrap="none" lIns="0" tIns="0" rIns="0" bIns="0" rtlCol="0" anchor="t"/>
          <a:lstStyle/>
          <a:p>
            <a:pPr marL="0" indent="0" algn="l">
              <a:lnSpc>
                <a:spcPts val="1500"/>
              </a:lnSpc>
              <a:buNone/>
            </a:pPr>
            <a:r>
              <a:rPr lang="en-US" sz="2000" b="1" dirty="0">
                <a:solidFill>
                  <a:srgbClr val="D7E5D8"/>
                </a:solidFill>
                <a:latin typeface="Syne Extra Bold" pitchFamily="34" charset="0"/>
                <a:ea typeface="Syne Extra Bold" pitchFamily="34" charset="-122"/>
                <a:cs typeface="Syne Extra Bold" pitchFamily="34" charset="-120"/>
              </a:rPr>
              <a:t>Research Design</a:t>
            </a:r>
            <a:endParaRPr lang="en-US" sz="2000" dirty="0"/>
          </a:p>
        </p:txBody>
      </p:sp>
      <p:sp>
        <p:nvSpPr>
          <p:cNvPr id="9" name="Text 6"/>
          <p:cNvSpPr/>
          <p:nvPr/>
        </p:nvSpPr>
        <p:spPr>
          <a:xfrm>
            <a:off x="9653111" y="2275999"/>
            <a:ext cx="4175403" cy="154067"/>
          </a:xfrm>
          <a:prstGeom prst="rect">
            <a:avLst/>
          </a:prstGeom>
          <a:noFill/>
          <a:ln/>
        </p:spPr>
        <p:txBody>
          <a:bodyPr wrap="none" lIns="0" tIns="0" rIns="0" bIns="0" rtlCol="0" anchor="t"/>
          <a:lstStyle/>
          <a:p>
            <a:pPr marL="0" indent="0" algn="l">
              <a:lnSpc>
                <a:spcPts val="1200"/>
              </a:lnSpc>
              <a:buNone/>
            </a:pPr>
            <a:r>
              <a:rPr lang="en-US" sz="1200" dirty="0">
                <a:solidFill>
                  <a:srgbClr val="D7E5D8"/>
                </a:solidFill>
                <a:latin typeface="Syne" pitchFamily="34" charset="0"/>
                <a:ea typeface="Syne" pitchFamily="34" charset="-122"/>
                <a:cs typeface="Syne" pitchFamily="34" charset="-120"/>
              </a:rPr>
              <a:t>Quantitative Cross-Sectional Survey</a:t>
            </a:r>
            <a:endParaRPr lang="en-US" sz="1200" dirty="0"/>
          </a:p>
        </p:txBody>
      </p:sp>
      <p:sp>
        <p:nvSpPr>
          <p:cNvPr id="10" name="Shape 7"/>
          <p:cNvSpPr/>
          <p:nvPr/>
        </p:nvSpPr>
        <p:spPr>
          <a:xfrm>
            <a:off x="7578090" y="2637830"/>
            <a:ext cx="6389965" cy="849749"/>
          </a:xfrm>
          <a:prstGeom prst="roundRect">
            <a:avLst>
              <a:gd name="adj" fmla="val 6149"/>
            </a:avLst>
          </a:prstGeom>
          <a:solidFill>
            <a:srgbClr val="152025">
              <a:alpha val="95000"/>
            </a:srgbClr>
          </a:solidFill>
          <a:ln w="15240">
            <a:solidFill>
              <a:srgbClr val="6D9121"/>
            </a:solidFill>
            <a:prstDash val="solid"/>
          </a:ln>
        </p:spPr>
      </p:sp>
      <p:sp>
        <p:nvSpPr>
          <p:cNvPr id="11" name="Text 8"/>
          <p:cNvSpPr/>
          <p:nvPr/>
        </p:nvSpPr>
        <p:spPr>
          <a:xfrm>
            <a:off x="9653111" y="2777371"/>
            <a:ext cx="2207895" cy="194310"/>
          </a:xfrm>
          <a:prstGeom prst="rect">
            <a:avLst/>
          </a:prstGeom>
          <a:noFill/>
          <a:ln/>
        </p:spPr>
        <p:txBody>
          <a:bodyPr wrap="none" lIns="0" tIns="0" rIns="0" bIns="0" rtlCol="0" anchor="t"/>
          <a:lstStyle/>
          <a:p>
            <a:pPr marL="0" indent="0" algn="l">
              <a:lnSpc>
                <a:spcPts val="1500"/>
              </a:lnSpc>
              <a:buNone/>
            </a:pPr>
            <a:r>
              <a:rPr lang="en-US" sz="2000" b="1" dirty="0">
                <a:solidFill>
                  <a:srgbClr val="D7E5D8"/>
                </a:solidFill>
                <a:latin typeface="Syne Extra Bold" pitchFamily="34" charset="0"/>
                <a:ea typeface="Syne Extra Bold" pitchFamily="34" charset="-122"/>
                <a:cs typeface="Syne Extra Bold" pitchFamily="34" charset="-120"/>
              </a:rPr>
              <a:t>Target Population</a:t>
            </a:r>
            <a:endParaRPr lang="en-US" sz="2000" dirty="0"/>
          </a:p>
        </p:txBody>
      </p:sp>
      <p:sp>
        <p:nvSpPr>
          <p:cNvPr id="12" name="Text 9"/>
          <p:cNvSpPr/>
          <p:nvPr/>
        </p:nvSpPr>
        <p:spPr>
          <a:xfrm>
            <a:off x="9653111" y="3039904"/>
            <a:ext cx="4175403" cy="308134"/>
          </a:xfrm>
          <a:prstGeom prst="rect">
            <a:avLst/>
          </a:prstGeom>
          <a:noFill/>
          <a:ln/>
        </p:spPr>
        <p:txBody>
          <a:bodyPr wrap="square" lIns="0" tIns="0" rIns="0" bIns="0" rtlCol="0" anchor="t"/>
          <a:lstStyle/>
          <a:p>
            <a:pPr marL="0" indent="0" algn="l">
              <a:lnSpc>
                <a:spcPts val="1200"/>
              </a:lnSpc>
              <a:buNone/>
            </a:pPr>
            <a:r>
              <a:rPr lang="en-US" sz="1200" dirty="0">
                <a:solidFill>
                  <a:srgbClr val="D7E5D8"/>
                </a:solidFill>
                <a:latin typeface="Syne" pitchFamily="34" charset="0"/>
                <a:ea typeface="Syne" pitchFamily="34" charset="-122"/>
                <a:cs typeface="Syne" pitchFamily="34" charset="-120"/>
              </a:rPr>
              <a:t>Undergraduate students from Arts, Science, Commerce, and Management streams</a:t>
            </a:r>
            <a:endParaRPr lang="en-US" sz="1200" dirty="0"/>
          </a:p>
        </p:txBody>
      </p:sp>
      <p:sp>
        <p:nvSpPr>
          <p:cNvPr id="13" name="Shape 10"/>
          <p:cNvSpPr/>
          <p:nvPr/>
        </p:nvSpPr>
        <p:spPr>
          <a:xfrm>
            <a:off x="7578090" y="3555802"/>
            <a:ext cx="6389965" cy="1051441"/>
          </a:xfrm>
          <a:prstGeom prst="roundRect">
            <a:avLst>
              <a:gd name="adj" fmla="val 4969"/>
            </a:avLst>
          </a:prstGeom>
          <a:solidFill>
            <a:srgbClr val="152025">
              <a:alpha val="95000"/>
            </a:srgbClr>
          </a:solidFill>
          <a:ln w="15240">
            <a:solidFill>
              <a:srgbClr val="6D9121"/>
            </a:solidFill>
            <a:prstDash val="solid"/>
          </a:ln>
        </p:spPr>
      </p:sp>
      <p:sp>
        <p:nvSpPr>
          <p:cNvPr id="14" name="Text 11"/>
          <p:cNvSpPr/>
          <p:nvPr/>
        </p:nvSpPr>
        <p:spPr>
          <a:xfrm>
            <a:off x="9653111" y="3695343"/>
            <a:ext cx="2530316" cy="194310"/>
          </a:xfrm>
          <a:prstGeom prst="rect">
            <a:avLst/>
          </a:prstGeom>
          <a:noFill/>
          <a:ln/>
        </p:spPr>
        <p:txBody>
          <a:bodyPr wrap="none" lIns="0" tIns="0" rIns="0" bIns="0" rtlCol="0" anchor="t"/>
          <a:lstStyle/>
          <a:p>
            <a:pPr marL="0" indent="0" algn="l">
              <a:lnSpc>
                <a:spcPts val="1500"/>
              </a:lnSpc>
              <a:buNone/>
            </a:pPr>
            <a:r>
              <a:rPr lang="en-US" sz="2000" b="1" dirty="0">
                <a:solidFill>
                  <a:srgbClr val="D7E5D8"/>
                </a:solidFill>
                <a:latin typeface="Syne Extra Bold" pitchFamily="34" charset="0"/>
                <a:ea typeface="Syne Extra Bold" pitchFamily="34" charset="-122"/>
                <a:cs typeface="Syne Extra Bold" pitchFamily="34" charset="-120"/>
              </a:rPr>
              <a:t>Sampling Technique</a:t>
            </a:r>
            <a:endParaRPr lang="en-US" sz="2000" dirty="0"/>
          </a:p>
        </p:txBody>
      </p:sp>
      <p:sp>
        <p:nvSpPr>
          <p:cNvPr id="15" name="Text 12"/>
          <p:cNvSpPr/>
          <p:nvPr/>
        </p:nvSpPr>
        <p:spPr>
          <a:xfrm>
            <a:off x="9653111" y="3957876"/>
            <a:ext cx="4175403" cy="509826"/>
          </a:xfrm>
          <a:prstGeom prst="rect">
            <a:avLst/>
          </a:prstGeom>
          <a:noFill/>
          <a:ln/>
        </p:spPr>
        <p:txBody>
          <a:bodyPr wrap="square" lIns="0" tIns="0" rIns="0" bIns="0" rtlCol="0" anchor="t"/>
          <a:lstStyle/>
          <a:p>
            <a:pPr marL="342900" indent="-342900" algn="l">
              <a:lnSpc>
                <a:spcPts val="1200"/>
              </a:lnSpc>
              <a:buSzPct val="100000"/>
              <a:buChar char="•"/>
            </a:pPr>
            <a:r>
              <a:rPr lang="en-US" sz="1200" dirty="0">
                <a:solidFill>
                  <a:srgbClr val="D7E5D8"/>
                </a:solidFill>
                <a:latin typeface="Syne" pitchFamily="34" charset="0"/>
                <a:ea typeface="Syne" pitchFamily="34" charset="-122"/>
                <a:cs typeface="Syne" pitchFamily="34" charset="-120"/>
              </a:rPr>
              <a:t>Multistage Stratified Sampling</a:t>
            </a:r>
            <a:endParaRPr lang="en-US" sz="1200" dirty="0"/>
          </a:p>
          <a:p>
            <a:pPr marL="342900" indent="-342900" algn="l">
              <a:lnSpc>
                <a:spcPts val="1200"/>
              </a:lnSpc>
              <a:buSzPct val="100000"/>
              <a:buChar char="•"/>
            </a:pPr>
            <a:r>
              <a:rPr lang="en-US" sz="1200" dirty="0">
                <a:solidFill>
                  <a:srgbClr val="D7E5D8"/>
                </a:solidFill>
                <a:latin typeface="Syne" pitchFamily="34" charset="0"/>
                <a:ea typeface="Syne" pitchFamily="34" charset="-122"/>
                <a:cs typeface="Syne" pitchFamily="34" charset="-120"/>
              </a:rPr>
              <a:t>Proportional Allocation</a:t>
            </a:r>
            <a:endParaRPr lang="en-US" sz="1200" dirty="0"/>
          </a:p>
          <a:p>
            <a:pPr marL="342900" indent="-342900" algn="l">
              <a:lnSpc>
                <a:spcPts val="1200"/>
              </a:lnSpc>
              <a:buSzPct val="100000"/>
              <a:buChar char="•"/>
            </a:pPr>
            <a:r>
              <a:rPr lang="en-US" sz="1200" dirty="0">
                <a:solidFill>
                  <a:srgbClr val="D7E5D8"/>
                </a:solidFill>
                <a:latin typeface="Syne" pitchFamily="34" charset="0"/>
                <a:ea typeface="Syne" pitchFamily="34" charset="-122"/>
                <a:cs typeface="Syne" pitchFamily="34" charset="-120"/>
              </a:rPr>
              <a:t>Simple Random Sampling</a:t>
            </a:r>
            <a:endParaRPr lang="en-US" sz="1200" dirty="0"/>
          </a:p>
        </p:txBody>
      </p:sp>
      <p:sp>
        <p:nvSpPr>
          <p:cNvPr id="16" name="Shape 13"/>
          <p:cNvSpPr/>
          <p:nvPr/>
        </p:nvSpPr>
        <p:spPr>
          <a:xfrm>
            <a:off x="7578090" y="4675465"/>
            <a:ext cx="6389965" cy="1229320"/>
          </a:xfrm>
          <a:prstGeom prst="roundRect">
            <a:avLst>
              <a:gd name="adj" fmla="val 4250"/>
            </a:avLst>
          </a:prstGeom>
          <a:solidFill>
            <a:srgbClr val="152025">
              <a:alpha val="95000"/>
            </a:srgbClr>
          </a:solidFill>
          <a:ln w="15240">
            <a:solidFill>
              <a:srgbClr val="6D9121"/>
            </a:solidFill>
            <a:prstDash val="solid"/>
          </a:ln>
        </p:spPr>
      </p:sp>
      <p:sp>
        <p:nvSpPr>
          <p:cNvPr id="17" name="Text 14"/>
          <p:cNvSpPr/>
          <p:nvPr/>
        </p:nvSpPr>
        <p:spPr>
          <a:xfrm>
            <a:off x="9653111" y="4815007"/>
            <a:ext cx="3207306" cy="194310"/>
          </a:xfrm>
          <a:prstGeom prst="rect">
            <a:avLst/>
          </a:prstGeom>
          <a:noFill/>
          <a:ln/>
        </p:spPr>
        <p:txBody>
          <a:bodyPr wrap="none" lIns="0" tIns="0" rIns="0" bIns="0" rtlCol="0" anchor="t"/>
          <a:lstStyle/>
          <a:p>
            <a:pPr marL="0" indent="0" algn="l">
              <a:lnSpc>
                <a:spcPts val="1500"/>
              </a:lnSpc>
              <a:buNone/>
            </a:pPr>
            <a:r>
              <a:rPr lang="en-US" sz="2000" b="1" dirty="0">
                <a:solidFill>
                  <a:srgbClr val="D7E5D8"/>
                </a:solidFill>
                <a:latin typeface="Syne Extra Bold" pitchFamily="34" charset="0"/>
                <a:ea typeface="Syne Extra Bold" pitchFamily="34" charset="-122"/>
                <a:cs typeface="Syne Extra Bold" pitchFamily="34" charset="-120"/>
              </a:rPr>
              <a:t>Sample Selection Process</a:t>
            </a:r>
            <a:endParaRPr lang="en-US" sz="2000" dirty="0"/>
          </a:p>
        </p:txBody>
      </p:sp>
      <p:sp>
        <p:nvSpPr>
          <p:cNvPr id="18" name="Text 15"/>
          <p:cNvSpPr/>
          <p:nvPr/>
        </p:nvSpPr>
        <p:spPr>
          <a:xfrm>
            <a:off x="9653111" y="5077539"/>
            <a:ext cx="4175403" cy="687705"/>
          </a:xfrm>
          <a:prstGeom prst="rect">
            <a:avLst/>
          </a:prstGeom>
          <a:noFill/>
          <a:ln/>
        </p:spPr>
        <p:txBody>
          <a:bodyPr wrap="square" lIns="0" tIns="0" rIns="0" bIns="0" rtlCol="0" anchor="t"/>
          <a:lstStyle/>
          <a:p>
            <a:pPr marL="342900" indent="-342900" algn="l">
              <a:lnSpc>
                <a:spcPts val="1200"/>
              </a:lnSpc>
              <a:buSzPct val="100000"/>
              <a:buChar char="•"/>
            </a:pPr>
            <a:r>
              <a:rPr lang="en-US" sz="1200" dirty="0">
                <a:solidFill>
                  <a:srgbClr val="D7E5D8"/>
                </a:solidFill>
                <a:latin typeface="Syne" pitchFamily="34" charset="0"/>
                <a:ea typeface="Syne" pitchFamily="34" charset="-122"/>
                <a:cs typeface="Syne" pitchFamily="34" charset="-120"/>
              </a:rPr>
              <a:t>Urban and Rural stratification</a:t>
            </a:r>
            <a:endParaRPr lang="en-US" sz="1200" dirty="0"/>
          </a:p>
          <a:p>
            <a:pPr marL="342900" indent="-342900" algn="l">
              <a:lnSpc>
                <a:spcPts val="1200"/>
              </a:lnSpc>
              <a:buSzPct val="100000"/>
              <a:buChar char="•"/>
            </a:pPr>
            <a:r>
              <a:rPr lang="en-US" sz="1200" dirty="0">
                <a:solidFill>
                  <a:srgbClr val="D7E5D8"/>
                </a:solidFill>
                <a:latin typeface="Syne" pitchFamily="34" charset="0"/>
                <a:ea typeface="Syne" pitchFamily="34" charset="-122"/>
                <a:cs typeface="Syne" pitchFamily="34" charset="-120"/>
              </a:rPr>
              <a:t>Stream-wise classification</a:t>
            </a:r>
            <a:endParaRPr lang="en-US" sz="1200" dirty="0"/>
          </a:p>
          <a:p>
            <a:pPr marL="342900" indent="-342900" algn="l">
              <a:lnSpc>
                <a:spcPts val="1200"/>
              </a:lnSpc>
              <a:buSzPct val="100000"/>
              <a:buChar char="•"/>
            </a:pPr>
            <a:r>
              <a:rPr lang="en-US" sz="1200" dirty="0">
                <a:solidFill>
                  <a:srgbClr val="D7E5D8"/>
                </a:solidFill>
                <a:latin typeface="Syne" pitchFamily="34" charset="0"/>
                <a:ea typeface="Syne" pitchFamily="34" charset="-122"/>
                <a:cs typeface="Syne" pitchFamily="34" charset="-120"/>
              </a:rPr>
              <a:t>Random selection of colleges</a:t>
            </a:r>
            <a:endParaRPr lang="en-US" sz="1200" dirty="0"/>
          </a:p>
          <a:p>
            <a:pPr marL="342900" indent="-342900" algn="l">
              <a:lnSpc>
                <a:spcPts val="1200"/>
              </a:lnSpc>
              <a:buSzPct val="100000"/>
              <a:buChar char="•"/>
            </a:pPr>
            <a:r>
              <a:rPr lang="en-US" sz="1200" dirty="0">
                <a:solidFill>
                  <a:srgbClr val="D7E5D8"/>
                </a:solidFill>
                <a:latin typeface="Syne" pitchFamily="34" charset="0"/>
                <a:ea typeface="Syne" pitchFamily="34" charset="-122"/>
                <a:cs typeface="Syne" pitchFamily="34" charset="-120"/>
              </a:rPr>
              <a:t>Random selection of students</a:t>
            </a:r>
            <a:endParaRPr lang="en-US" sz="1200" dirty="0"/>
          </a:p>
        </p:txBody>
      </p:sp>
      <p:sp>
        <p:nvSpPr>
          <p:cNvPr id="19" name="Shape 16"/>
          <p:cNvSpPr/>
          <p:nvPr/>
        </p:nvSpPr>
        <p:spPr>
          <a:xfrm>
            <a:off x="7578090" y="5973008"/>
            <a:ext cx="6389965" cy="873562"/>
          </a:xfrm>
          <a:prstGeom prst="roundRect">
            <a:avLst>
              <a:gd name="adj" fmla="val 5981"/>
            </a:avLst>
          </a:prstGeom>
          <a:solidFill>
            <a:srgbClr val="152025">
              <a:alpha val="95000"/>
            </a:srgbClr>
          </a:solidFill>
          <a:ln w="15240">
            <a:solidFill>
              <a:srgbClr val="6D9121"/>
            </a:solidFill>
            <a:prstDash val="solid"/>
          </a:ln>
        </p:spPr>
      </p:sp>
      <p:sp>
        <p:nvSpPr>
          <p:cNvPr id="20" name="Text 17"/>
          <p:cNvSpPr/>
          <p:nvPr/>
        </p:nvSpPr>
        <p:spPr>
          <a:xfrm>
            <a:off x="9653111" y="6112550"/>
            <a:ext cx="3369588" cy="194310"/>
          </a:xfrm>
          <a:prstGeom prst="rect">
            <a:avLst/>
          </a:prstGeom>
          <a:noFill/>
          <a:ln/>
        </p:spPr>
        <p:txBody>
          <a:bodyPr wrap="none" lIns="0" tIns="0" rIns="0" bIns="0" rtlCol="0" anchor="t"/>
          <a:lstStyle/>
          <a:p>
            <a:pPr marL="0" indent="0" algn="l">
              <a:lnSpc>
                <a:spcPts val="1500"/>
              </a:lnSpc>
              <a:buNone/>
            </a:pPr>
            <a:r>
              <a:rPr lang="en-US" sz="2000" b="1" dirty="0">
                <a:solidFill>
                  <a:srgbClr val="D7E5D8"/>
                </a:solidFill>
                <a:latin typeface="Syne Extra Bold" pitchFamily="34" charset="0"/>
                <a:ea typeface="Syne Extra Bold" pitchFamily="34" charset="-122"/>
                <a:cs typeface="Syne Extra Bold" pitchFamily="34" charset="-120"/>
              </a:rPr>
              <a:t>Sample Size Determination</a:t>
            </a:r>
            <a:endParaRPr lang="en-US" sz="2000" dirty="0"/>
          </a:p>
        </p:txBody>
      </p:sp>
      <p:sp>
        <p:nvSpPr>
          <p:cNvPr id="21" name="Text 18"/>
          <p:cNvSpPr/>
          <p:nvPr/>
        </p:nvSpPr>
        <p:spPr>
          <a:xfrm>
            <a:off x="9653111" y="6375083"/>
            <a:ext cx="4175403" cy="331946"/>
          </a:xfrm>
          <a:prstGeom prst="rect">
            <a:avLst/>
          </a:prstGeom>
          <a:noFill/>
          <a:ln/>
        </p:spPr>
        <p:txBody>
          <a:bodyPr wrap="square" lIns="0" tIns="0" rIns="0" bIns="0" rtlCol="0" anchor="t"/>
          <a:lstStyle/>
          <a:p>
            <a:pPr marL="342900" indent="-342900" algn="l">
              <a:lnSpc>
                <a:spcPts val="1200"/>
              </a:lnSpc>
              <a:buSzPct val="100000"/>
              <a:buChar char="•"/>
            </a:pPr>
            <a:r>
              <a:rPr lang="en-US" sz="1200" dirty="0">
                <a:solidFill>
                  <a:srgbClr val="D7E5D8"/>
                </a:solidFill>
                <a:latin typeface="Syne" pitchFamily="34" charset="0"/>
                <a:ea typeface="Syne" pitchFamily="34" charset="-122"/>
                <a:cs typeface="Syne" pitchFamily="34" charset="-120"/>
              </a:rPr>
              <a:t>Cochran's Formula</a:t>
            </a:r>
            <a:endParaRPr lang="en-US" sz="1200" dirty="0"/>
          </a:p>
          <a:p>
            <a:pPr marL="342900" indent="-342900" algn="l">
              <a:lnSpc>
                <a:spcPts val="1200"/>
              </a:lnSpc>
              <a:buSzPct val="100000"/>
              <a:buChar char="•"/>
            </a:pPr>
            <a:r>
              <a:rPr lang="en-US" sz="1200" dirty="0">
                <a:solidFill>
                  <a:srgbClr val="D7E5D8"/>
                </a:solidFill>
                <a:latin typeface="Syne" pitchFamily="34" charset="0"/>
                <a:ea typeface="Syne" pitchFamily="34" charset="-122"/>
                <a:cs typeface="Syne" pitchFamily="34" charset="-120"/>
              </a:rPr>
              <a:t>Finite Population Correction (FPC)</a:t>
            </a:r>
            <a:endParaRPr lang="en-US" sz="1200" dirty="0"/>
          </a:p>
        </p:txBody>
      </p:sp>
      <p:sp>
        <p:nvSpPr>
          <p:cNvPr id="22" name="Shape 19"/>
          <p:cNvSpPr/>
          <p:nvPr/>
        </p:nvSpPr>
        <p:spPr>
          <a:xfrm>
            <a:off x="7578090" y="6914793"/>
            <a:ext cx="6389965" cy="695682"/>
          </a:xfrm>
          <a:prstGeom prst="roundRect">
            <a:avLst>
              <a:gd name="adj" fmla="val 7510"/>
            </a:avLst>
          </a:prstGeom>
          <a:solidFill>
            <a:srgbClr val="152025">
              <a:alpha val="95000"/>
            </a:srgbClr>
          </a:solidFill>
          <a:ln w="15240">
            <a:solidFill>
              <a:srgbClr val="6D9121"/>
            </a:solidFill>
            <a:prstDash val="solid"/>
          </a:ln>
        </p:spPr>
      </p:sp>
      <p:sp>
        <p:nvSpPr>
          <p:cNvPr id="23" name="Text 20"/>
          <p:cNvSpPr/>
          <p:nvPr/>
        </p:nvSpPr>
        <p:spPr>
          <a:xfrm>
            <a:off x="9653111" y="7054334"/>
            <a:ext cx="1554956" cy="194310"/>
          </a:xfrm>
          <a:prstGeom prst="rect">
            <a:avLst/>
          </a:prstGeom>
          <a:noFill/>
          <a:ln/>
        </p:spPr>
        <p:txBody>
          <a:bodyPr wrap="none" lIns="0" tIns="0" rIns="0" bIns="0" rtlCol="0" anchor="t"/>
          <a:lstStyle/>
          <a:p>
            <a:pPr marL="0" indent="0" algn="l">
              <a:lnSpc>
                <a:spcPts val="1500"/>
              </a:lnSpc>
              <a:buNone/>
            </a:pPr>
            <a:r>
              <a:rPr lang="en-US" sz="2000" b="1" dirty="0">
                <a:solidFill>
                  <a:srgbClr val="D7E5D8"/>
                </a:solidFill>
                <a:latin typeface="Syne Extra Bold" pitchFamily="34" charset="0"/>
                <a:ea typeface="Syne Extra Bold" pitchFamily="34" charset="-122"/>
                <a:cs typeface="Syne Extra Bold" pitchFamily="34" charset="-120"/>
              </a:rPr>
              <a:t>Data Source</a:t>
            </a:r>
            <a:endParaRPr lang="en-US" sz="2000" dirty="0"/>
          </a:p>
        </p:txBody>
      </p:sp>
      <p:sp>
        <p:nvSpPr>
          <p:cNvPr id="24" name="Text 21"/>
          <p:cNvSpPr/>
          <p:nvPr/>
        </p:nvSpPr>
        <p:spPr>
          <a:xfrm>
            <a:off x="9653111" y="7316867"/>
            <a:ext cx="4175403" cy="154067"/>
          </a:xfrm>
          <a:prstGeom prst="rect">
            <a:avLst/>
          </a:prstGeom>
          <a:noFill/>
          <a:ln/>
        </p:spPr>
        <p:txBody>
          <a:bodyPr wrap="none" lIns="0" tIns="0" rIns="0" bIns="0" rtlCol="0" anchor="t"/>
          <a:lstStyle/>
          <a:p>
            <a:pPr marL="0" indent="0" algn="l">
              <a:lnSpc>
                <a:spcPts val="1200"/>
              </a:lnSpc>
              <a:buNone/>
            </a:pPr>
            <a:r>
              <a:rPr lang="en-US" sz="1200" dirty="0">
                <a:solidFill>
                  <a:srgbClr val="D7E5D8"/>
                </a:solidFill>
                <a:latin typeface="Syne" pitchFamily="34" charset="0"/>
                <a:ea typeface="Syne" pitchFamily="34" charset="-122"/>
                <a:cs typeface="Syne" pitchFamily="34" charset="-120"/>
              </a:rPr>
              <a:t>Primary data collected through a structured questionnaire.</a:t>
            </a:r>
            <a:endParaRPr lang="en-US" sz="1200" dirty="0"/>
          </a:p>
        </p:txBody>
      </p:sp>
      <p:sp>
        <p:nvSpPr>
          <p:cNvPr id="25" name="Rectangle 24">
            <a:extLst>
              <a:ext uri="{FF2B5EF4-FFF2-40B4-BE49-F238E27FC236}">
                <a16:creationId xmlns:a16="http://schemas.microsoft.com/office/drawing/2014/main" id="{E69939F2-7F64-4270-BA50-63C72D194F45}"/>
              </a:ext>
            </a:extLst>
          </p:cNvPr>
          <p:cNvSpPr/>
          <p:nvPr/>
        </p:nvSpPr>
        <p:spPr>
          <a:xfrm>
            <a:off x="12801600" y="7661710"/>
            <a:ext cx="1742173" cy="548640"/>
          </a:xfrm>
          <a:prstGeom prst="rect">
            <a:avLst/>
          </a:prstGeom>
          <a:solidFill>
            <a:srgbClr val="141E24"/>
          </a:solidFill>
          <a:ln>
            <a:solidFill>
              <a:srgbClr val="141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67991"/>
            <a:ext cx="5882878" cy="602456"/>
          </a:xfrm>
          <a:prstGeom prst="rect">
            <a:avLst/>
          </a:prstGeom>
          <a:noFill/>
          <a:ln/>
        </p:spPr>
        <p:txBody>
          <a:bodyPr wrap="none" lIns="0" tIns="0" rIns="0" bIns="0" rtlCol="0" anchor="t"/>
          <a:lstStyle/>
          <a:p>
            <a:pPr marL="0" indent="0" algn="l">
              <a:lnSpc>
                <a:spcPts val="4700"/>
              </a:lnSpc>
              <a:buNone/>
            </a:pPr>
            <a:r>
              <a:rPr lang="en-US" sz="3750" b="1" dirty="0">
                <a:solidFill>
                  <a:srgbClr val="F0F4F1"/>
                </a:solidFill>
                <a:latin typeface="Syne Extra Bold" pitchFamily="34" charset="0"/>
                <a:ea typeface="Syne Extra Bold" pitchFamily="34" charset="-122"/>
                <a:cs typeface="Syne Extra Bold" pitchFamily="34" charset="-120"/>
              </a:rPr>
              <a:t>About the Data</a:t>
            </a:r>
            <a:endParaRPr lang="en-US" sz="3750" dirty="0"/>
          </a:p>
        </p:txBody>
      </p:sp>
      <p:sp>
        <p:nvSpPr>
          <p:cNvPr id="3" name="Text 1"/>
          <p:cNvSpPr/>
          <p:nvPr/>
        </p:nvSpPr>
        <p:spPr>
          <a:xfrm>
            <a:off x="793790" y="1998107"/>
            <a:ext cx="13042821" cy="285274"/>
          </a:xfrm>
          <a:prstGeom prst="rect">
            <a:avLst/>
          </a:prstGeom>
          <a:noFill/>
          <a:ln/>
        </p:spPr>
        <p:txBody>
          <a:bodyPr wrap="none" lIns="0" tIns="0" rIns="0" bIns="0" rtlCol="0" anchor="t"/>
          <a:lstStyle/>
          <a:p>
            <a:pPr marL="0" indent="0" algn="l">
              <a:lnSpc>
                <a:spcPts val="2200"/>
              </a:lnSpc>
              <a:buNone/>
            </a:pPr>
            <a:r>
              <a:rPr lang="en-US" sz="1500" b="1" dirty="0">
                <a:solidFill>
                  <a:srgbClr val="D7E5D8"/>
                </a:solidFill>
                <a:latin typeface="Syne" pitchFamily="34" charset="0"/>
                <a:ea typeface="Syne" pitchFamily="34" charset="-122"/>
                <a:cs typeface="Syne" pitchFamily="34" charset="-120"/>
              </a:rPr>
              <a:t>Description of Dataset:</a:t>
            </a:r>
            <a:endParaRPr lang="en-US" sz="1500" dirty="0"/>
          </a:p>
        </p:txBody>
      </p:sp>
      <p:sp>
        <p:nvSpPr>
          <p:cNvPr id="4" name="Shape 2"/>
          <p:cNvSpPr/>
          <p:nvPr/>
        </p:nvSpPr>
        <p:spPr>
          <a:xfrm>
            <a:off x="793790" y="2467689"/>
            <a:ext cx="4238387" cy="2273022"/>
          </a:xfrm>
          <a:prstGeom prst="roundRect">
            <a:avLst>
              <a:gd name="adj" fmla="val 4827"/>
            </a:avLst>
          </a:prstGeom>
          <a:solidFill>
            <a:srgbClr val="152025">
              <a:alpha val="95000"/>
            </a:srgbClr>
          </a:solidFill>
          <a:ln w="22860">
            <a:solidFill>
              <a:srgbClr val="6D9121"/>
            </a:solidFill>
            <a:prstDash val="solid"/>
          </a:ln>
        </p:spPr>
      </p:sp>
      <p:sp>
        <p:nvSpPr>
          <p:cNvPr id="5" name="Shape 3"/>
          <p:cNvSpPr/>
          <p:nvPr/>
        </p:nvSpPr>
        <p:spPr>
          <a:xfrm>
            <a:off x="770930" y="2467689"/>
            <a:ext cx="91440" cy="2273022"/>
          </a:xfrm>
          <a:prstGeom prst="roundRect">
            <a:avLst>
              <a:gd name="adj" fmla="val 88558"/>
            </a:avLst>
          </a:prstGeom>
          <a:solidFill>
            <a:srgbClr val="A9F00F"/>
          </a:solidFill>
          <a:ln/>
        </p:spPr>
      </p:sp>
      <p:sp>
        <p:nvSpPr>
          <p:cNvPr id="6" name="Text 4"/>
          <p:cNvSpPr/>
          <p:nvPr/>
        </p:nvSpPr>
        <p:spPr>
          <a:xfrm>
            <a:off x="1077992" y="2683312"/>
            <a:ext cx="3738563" cy="602456"/>
          </a:xfrm>
          <a:prstGeom prst="rect">
            <a:avLst/>
          </a:prstGeom>
          <a:noFill/>
          <a:ln/>
        </p:spPr>
        <p:txBody>
          <a:bodyPr wrap="square" lIns="0" tIns="0" rIns="0" bIns="0" rtlCol="0" anchor="t"/>
          <a:lstStyle/>
          <a:p>
            <a:pPr marL="0" indent="0" algn="l">
              <a:lnSpc>
                <a:spcPts val="2350"/>
              </a:lnSpc>
              <a:buNone/>
            </a:pPr>
            <a:r>
              <a:rPr lang="en-US" sz="1850" b="1" dirty="0">
                <a:solidFill>
                  <a:srgbClr val="D7E5D8"/>
                </a:solidFill>
                <a:latin typeface="Syne Extra Bold" pitchFamily="34" charset="0"/>
                <a:ea typeface="Syne Extra Bold" pitchFamily="34" charset="-122"/>
                <a:cs typeface="Syne Extra Bold" pitchFamily="34" charset="-120"/>
              </a:rPr>
              <a:t>a) Source of Dataset</a:t>
            </a:r>
            <a:endParaRPr lang="en-US" sz="1850" dirty="0"/>
          </a:p>
        </p:txBody>
      </p:sp>
      <p:sp>
        <p:nvSpPr>
          <p:cNvPr id="7" name="Text 5"/>
          <p:cNvSpPr/>
          <p:nvPr/>
        </p:nvSpPr>
        <p:spPr>
          <a:xfrm>
            <a:off x="1077992" y="3383994"/>
            <a:ext cx="3738563" cy="1141095"/>
          </a:xfrm>
          <a:prstGeom prst="rect">
            <a:avLst/>
          </a:prstGeom>
          <a:noFill/>
          <a:ln/>
        </p:spPr>
        <p:txBody>
          <a:bodyPr wrap="square" lIns="0" tIns="0" rIns="0" bIns="0" rtlCol="0" anchor="t"/>
          <a:lstStyle/>
          <a:p>
            <a:pPr marL="0" indent="0" algn="l">
              <a:lnSpc>
                <a:spcPts val="2200"/>
              </a:lnSpc>
              <a:buNone/>
            </a:pPr>
            <a:r>
              <a:rPr lang="en-US" sz="1500" dirty="0">
                <a:solidFill>
                  <a:srgbClr val="D7E5D8"/>
                </a:solidFill>
                <a:latin typeface="Syne" pitchFamily="34" charset="0"/>
                <a:ea typeface="Syne" pitchFamily="34" charset="-122"/>
                <a:cs typeface="Syne" pitchFamily="34" charset="-120"/>
              </a:rPr>
              <a:t>The dataset used for this study is based on primary data collected directly from students through a structured questionnaire designed for academic research purposes.</a:t>
            </a:r>
            <a:endParaRPr lang="en-US" sz="1500" dirty="0"/>
          </a:p>
        </p:txBody>
      </p:sp>
      <p:sp>
        <p:nvSpPr>
          <p:cNvPr id="8" name="Shape 6"/>
          <p:cNvSpPr/>
          <p:nvPr/>
        </p:nvSpPr>
        <p:spPr>
          <a:xfrm>
            <a:off x="5196007" y="2467689"/>
            <a:ext cx="4238387" cy="2273022"/>
          </a:xfrm>
          <a:prstGeom prst="roundRect">
            <a:avLst>
              <a:gd name="adj" fmla="val 4827"/>
            </a:avLst>
          </a:prstGeom>
          <a:solidFill>
            <a:srgbClr val="152025">
              <a:alpha val="95000"/>
            </a:srgbClr>
          </a:solidFill>
          <a:ln w="22860">
            <a:solidFill>
              <a:srgbClr val="6D9121"/>
            </a:solidFill>
            <a:prstDash val="solid"/>
          </a:ln>
        </p:spPr>
      </p:sp>
      <p:sp>
        <p:nvSpPr>
          <p:cNvPr id="9" name="Shape 7"/>
          <p:cNvSpPr/>
          <p:nvPr/>
        </p:nvSpPr>
        <p:spPr>
          <a:xfrm>
            <a:off x="5173147" y="2467689"/>
            <a:ext cx="91440" cy="2273022"/>
          </a:xfrm>
          <a:prstGeom prst="roundRect">
            <a:avLst>
              <a:gd name="adj" fmla="val 88558"/>
            </a:avLst>
          </a:prstGeom>
          <a:solidFill>
            <a:srgbClr val="A9F00F"/>
          </a:solidFill>
          <a:ln/>
        </p:spPr>
      </p:sp>
      <p:sp>
        <p:nvSpPr>
          <p:cNvPr id="10" name="Text 8"/>
          <p:cNvSpPr/>
          <p:nvPr/>
        </p:nvSpPr>
        <p:spPr>
          <a:xfrm>
            <a:off x="5480209" y="2683312"/>
            <a:ext cx="3738563" cy="602456"/>
          </a:xfrm>
          <a:prstGeom prst="rect">
            <a:avLst/>
          </a:prstGeom>
          <a:noFill/>
          <a:ln/>
        </p:spPr>
        <p:txBody>
          <a:bodyPr wrap="square" lIns="0" tIns="0" rIns="0" bIns="0" rtlCol="0" anchor="t"/>
          <a:lstStyle/>
          <a:p>
            <a:pPr marL="0" indent="0" algn="l">
              <a:lnSpc>
                <a:spcPts val="2350"/>
              </a:lnSpc>
              <a:buNone/>
            </a:pPr>
            <a:r>
              <a:rPr lang="en-US" sz="1850" b="1" dirty="0">
                <a:solidFill>
                  <a:srgbClr val="D7E5D8"/>
                </a:solidFill>
                <a:latin typeface="Syne Extra Bold" pitchFamily="34" charset="0"/>
                <a:ea typeface="Syne Extra Bold" pitchFamily="34" charset="-122"/>
                <a:cs typeface="Syne Extra Bold" pitchFamily="34" charset="-120"/>
              </a:rPr>
              <a:t>b) Name of the Dataset</a:t>
            </a:r>
            <a:endParaRPr lang="en-US" sz="1850" dirty="0"/>
          </a:p>
        </p:txBody>
      </p:sp>
      <p:sp>
        <p:nvSpPr>
          <p:cNvPr id="11" name="Text 9"/>
          <p:cNvSpPr/>
          <p:nvPr/>
        </p:nvSpPr>
        <p:spPr>
          <a:xfrm>
            <a:off x="5480209" y="3383994"/>
            <a:ext cx="3738563" cy="570548"/>
          </a:xfrm>
          <a:prstGeom prst="rect">
            <a:avLst/>
          </a:prstGeom>
          <a:noFill/>
          <a:ln/>
        </p:spPr>
        <p:txBody>
          <a:bodyPr wrap="square" lIns="0" tIns="0" rIns="0" bIns="0" rtlCol="0" anchor="t"/>
          <a:lstStyle/>
          <a:p>
            <a:pPr marL="0" indent="0" algn="l">
              <a:lnSpc>
                <a:spcPts val="2200"/>
              </a:lnSpc>
              <a:buNone/>
            </a:pPr>
            <a:r>
              <a:rPr lang="en-US" sz="1500" dirty="0">
                <a:solidFill>
                  <a:srgbClr val="D7E5D8"/>
                </a:solidFill>
                <a:latin typeface="Syne" pitchFamily="34" charset="0"/>
                <a:ea typeface="Syne" pitchFamily="34" charset="-122"/>
                <a:cs typeface="Syne" pitchFamily="34" charset="-120"/>
              </a:rPr>
              <a:t>Student Academic Performance and Challenges Dataset (2025–26)</a:t>
            </a:r>
            <a:endParaRPr lang="en-US" sz="1500" dirty="0"/>
          </a:p>
        </p:txBody>
      </p:sp>
      <p:sp>
        <p:nvSpPr>
          <p:cNvPr id="12" name="Shape 10"/>
          <p:cNvSpPr/>
          <p:nvPr/>
        </p:nvSpPr>
        <p:spPr>
          <a:xfrm>
            <a:off x="9598223" y="2467689"/>
            <a:ext cx="4238387" cy="2273022"/>
          </a:xfrm>
          <a:prstGeom prst="roundRect">
            <a:avLst>
              <a:gd name="adj" fmla="val 4827"/>
            </a:avLst>
          </a:prstGeom>
          <a:solidFill>
            <a:srgbClr val="152025">
              <a:alpha val="95000"/>
            </a:srgbClr>
          </a:solidFill>
          <a:ln w="22860">
            <a:solidFill>
              <a:srgbClr val="6D9121"/>
            </a:solidFill>
            <a:prstDash val="solid"/>
          </a:ln>
        </p:spPr>
      </p:sp>
      <p:sp>
        <p:nvSpPr>
          <p:cNvPr id="13" name="Shape 11"/>
          <p:cNvSpPr/>
          <p:nvPr/>
        </p:nvSpPr>
        <p:spPr>
          <a:xfrm>
            <a:off x="9575363" y="2467689"/>
            <a:ext cx="91440" cy="2273022"/>
          </a:xfrm>
          <a:prstGeom prst="roundRect">
            <a:avLst>
              <a:gd name="adj" fmla="val 88558"/>
            </a:avLst>
          </a:prstGeom>
          <a:solidFill>
            <a:srgbClr val="A9F00F"/>
          </a:solidFill>
          <a:ln/>
        </p:spPr>
      </p:sp>
      <p:sp>
        <p:nvSpPr>
          <p:cNvPr id="14" name="Text 12"/>
          <p:cNvSpPr/>
          <p:nvPr/>
        </p:nvSpPr>
        <p:spPr>
          <a:xfrm>
            <a:off x="9882426" y="2683312"/>
            <a:ext cx="3738563" cy="602456"/>
          </a:xfrm>
          <a:prstGeom prst="rect">
            <a:avLst/>
          </a:prstGeom>
          <a:noFill/>
          <a:ln/>
        </p:spPr>
        <p:txBody>
          <a:bodyPr wrap="square" lIns="0" tIns="0" rIns="0" bIns="0" rtlCol="0" anchor="t"/>
          <a:lstStyle/>
          <a:p>
            <a:pPr marL="0" indent="0" algn="l">
              <a:lnSpc>
                <a:spcPts val="2350"/>
              </a:lnSpc>
              <a:buNone/>
            </a:pPr>
            <a:r>
              <a:rPr lang="en-US" sz="1850" b="1" dirty="0">
                <a:solidFill>
                  <a:srgbClr val="D7E5D8"/>
                </a:solidFill>
                <a:latin typeface="Syne Extra Bold" pitchFamily="34" charset="0"/>
                <a:ea typeface="Syne Extra Bold" pitchFamily="34" charset="-122"/>
                <a:cs typeface="Syne Extra Bold" pitchFamily="34" charset="-120"/>
              </a:rPr>
              <a:t>c) Size of the Dataset</a:t>
            </a:r>
            <a:endParaRPr lang="en-US" sz="1850" dirty="0"/>
          </a:p>
        </p:txBody>
      </p:sp>
      <p:sp>
        <p:nvSpPr>
          <p:cNvPr id="15" name="Text 13"/>
          <p:cNvSpPr/>
          <p:nvPr/>
        </p:nvSpPr>
        <p:spPr>
          <a:xfrm>
            <a:off x="9882426" y="3383994"/>
            <a:ext cx="3738563" cy="913090"/>
          </a:xfrm>
          <a:prstGeom prst="rect">
            <a:avLst/>
          </a:prstGeom>
          <a:noFill/>
          <a:ln/>
        </p:spPr>
        <p:txBody>
          <a:bodyPr wrap="square" lIns="0" tIns="0" rIns="0" bIns="0" rtlCol="0" anchor="t"/>
          <a:lstStyle/>
          <a:p>
            <a:pPr marL="342900" indent="-342900" algn="l">
              <a:lnSpc>
                <a:spcPts val="2200"/>
              </a:lnSpc>
              <a:buSzPct val="100000"/>
              <a:buChar char="•"/>
            </a:pPr>
            <a:r>
              <a:rPr lang="en-US" sz="1500" dirty="0">
                <a:solidFill>
                  <a:srgbClr val="D7E5D8"/>
                </a:solidFill>
                <a:latin typeface="Syne" pitchFamily="34" charset="0"/>
                <a:ea typeface="Syne" pitchFamily="34" charset="-122"/>
                <a:cs typeface="Syne" pitchFamily="34" charset="-120"/>
              </a:rPr>
              <a:t>Number of observations (rows): 283</a:t>
            </a:r>
            <a:endParaRPr lang="en-US" sz="1500" dirty="0"/>
          </a:p>
          <a:p>
            <a:pPr marL="342900" indent="-342900" algn="l">
              <a:lnSpc>
                <a:spcPts val="2200"/>
              </a:lnSpc>
              <a:buSzPct val="100000"/>
              <a:buChar char="•"/>
            </a:pPr>
            <a:r>
              <a:rPr lang="en-US" sz="1500" dirty="0">
                <a:solidFill>
                  <a:srgbClr val="D7E5D8"/>
                </a:solidFill>
                <a:latin typeface="Syne" pitchFamily="34" charset="0"/>
                <a:ea typeface="Syne" pitchFamily="34" charset="-122"/>
                <a:cs typeface="Syne" pitchFamily="34" charset="-120"/>
              </a:rPr>
              <a:t>Number of variables (columns): approximately 35–40 variables</a:t>
            </a:r>
            <a:endParaRPr lang="en-US" sz="1500" dirty="0"/>
          </a:p>
        </p:txBody>
      </p:sp>
      <p:sp>
        <p:nvSpPr>
          <p:cNvPr id="16" name="Shape 14"/>
          <p:cNvSpPr/>
          <p:nvPr/>
        </p:nvSpPr>
        <p:spPr>
          <a:xfrm>
            <a:off x="793790" y="4904542"/>
            <a:ext cx="4238387" cy="2257068"/>
          </a:xfrm>
          <a:prstGeom prst="roundRect">
            <a:avLst>
              <a:gd name="adj" fmla="val 4862"/>
            </a:avLst>
          </a:prstGeom>
          <a:solidFill>
            <a:srgbClr val="152025">
              <a:alpha val="95000"/>
            </a:srgbClr>
          </a:solidFill>
          <a:ln w="22860">
            <a:solidFill>
              <a:srgbClr val="6D9121"/>
            </a:solidFill>
            <a:prstDash val="solid"/>
          </a:ln>
        </p:spPr>
      </p:sp>
      <p:sp>
        <p:nvSpPr>
          <p:cNvPr id="17" name="Shape 15"/>
          <p:cNvSpPr/>
          <p:nvPr/>
        </p:nvSpPr>
        <p:spPr>
          <a:xfrm>
            <a:off x="770930" y="4904542"/>
            <a:ext cx="91440" cy="2257068"/>
          </a:xfrm>
          <a:prstGeom prst="roundRect">
            <a:avLst>
              <a:gd name="adj" fmla="val 88558"/>
            </a:avLst>
          </a:prstGeom>
          <a:solidFill>
            <a:srgbClr val="A9F00F"/>
          </a:solidFill>
          <a:ln/>
        </p:spPr>
      </p:sp>
      <p:sp>
        <p:nvSpPr>
          <p:cNvPr id="18" name="Text 16"/>
          <p:cNvSpPr/>
          <p:nvPr/>
        </p:nvSpPr>
        <p:spPr>
          <a:xfrm>
            <a:off x="1077992" y="5120164"/>
            <a:ext cx="2842260" cy="301228"/>
          </a:xfrm>
          <a:prstGeom prst="rect">
            <a:avLst/>
          </a:prstGeom>
          <a:noFill/>
          <a:ln/>
        </p:spPr>
        <p:txBody>
          <a:bodyPr wrap="none" lIns="0" tIns="0" rIns="0" bIns="0" rtlCol="0" anchor="t"/>
          <a:lstStyle/>
          <a:p>
            <a:pPr marL="0" indent="0" algn="l">
              <a:lnSpc>
                <a:spcPts val="2350"/>
              </a:lnSpc>
              <a:buNone/>
            </a:pPr>
            <a:r>
              <a:rPr lang="en-US" sz="1850" b="1" dirty="0">
                <a:solidFill>
                  <a:srgbClr val="D7E5D8"/>
                </a:solidFill>
                <a:latin typeface="Syne Extra Bold" pitchFamily="34" charset="0"/>
                <a:ea typeface="Syne Extra Bold" pitchFamily="34" charset="-122"/>
                <a:cs typeface="Syne Extra Bold" pitchFamily="34" charset="-120"/>
              </a:rPr>
              <a:t>d) Data Source</a:t>
            </a:r>
            <a:endParaRPr lang="en-US" sz="1850" dirty="0"/>
          </a:p>
        </p:txBody>
      </p:sp>
      <p:sp>
        <p:nvSpPr>
          <p:cNvPr id="19" name="Text 17"/>
          <p:cNvSpPr/>
          <p:nvPr/>
        </p:nvSpPr>
        <p:spPr>
          <a:xfrm>
            <a:off x="1077992" y="5519618"/>
            <a:ext cx="3738563" cy="855821"/>
          </a:xfrm>
          <a:prstGeom prst="rect">
            <a:avLst/>
          </a:prstGeom>
          <a:noFill/>
          <a:ln/>
        </p:spPr>
        <p:txBody>
          <a:bodyPr wrap="square" lIns="0" tIns="0" rIns="0" bIns="0" rtlCol="0" anchor="t"/>
          <a:lstStyle/>
          <a:p>
            <a:pPr marL="0" indent="0" algn="l">
              <a:lnSpc>
                <a:spcPts val="2200"/>
              </a:lnSpc>
              <a:buNone/>
            </a:pPr>
            <a:r>
              <a:rPr lang="en-US" sz="1500" dirty="0">
                <a:solidFill>
                  <a:srgbClr val="D7E5D8"/>
                </a:solidFill>
                <a:latin typeface="Syne" pitchFamily="34" charset="0"/>
                <a:ea typeface="Syne" pitchFamily="34" charset="-122"/>
                <a:cs typeface="Syne" pitchFamily="34" charset="-120"/>
              </a:rPr>
              <a:t>Primary data collected from undergraduate students in various colleges of Kolhapur District.</a:t>
            </a:r>
            <a:endParaRPr lang="en-US" sz="1500" dirty="0"/>
          </a:p>
        </p:txBody>
      </p:sp>
      <p:sp>
        <p:nvSpPr>
          <p:cNvPr id="20" name="Shape 18"/>
          <p:cNvSpPr/>
          <p:nvPr/>
        </p:nvSpPr>
        <p:spPr>
          <a:xfrm>
            <a:off x="5196007" y="4904542"/>
            <a:ext cx="4238387" cy="2257068"/>
          </a:xfrm>
          <a:prstGeom prst="roundRect">
            <a:avLst>
              <a:gd name="adj" fmla="val 4862"/>
            </a:avLst>
          </a:prstGeom>
          <a:solidFill>
            <a:srgbClr val="152025">
              <a:alpha val="95000"/>
            </a:srgbClr>
          </a:solidFill>
          <a:ln w="22860">
            <a:solidFill>
              <a:srgbClr val="6D9121"/>
            </a:solidFill>
            <a:prstDash val="solid"/>
          </a:ln>
        </p:spPr>
      </p:sp>
      <p:sp>
        <p:nvSpPr>
          <p:cNvPr id="21" name="Shape 19"/>
          <p:cNvSpPr/>
          <p:nvPr/>
        </p:nvSpPr>
        <p:spPr>
          <a:xfrm>
            <a:off x="5173147" y="4904542"/>
            <a:ext cx="91440" cy="2257068"/>
          </a:xfrm>
          <a:prstGeom prst="roundRect">
            <a:avLst>
              <a:gd name="adj" fmla="val 88558"/>
            </a:avLst>
          </a:prstGeom>
          <a:solidFill>
            <a:srgbClr val="A9F00F"/>
          </a:solidFill>
          <a:ln/>
        </p:spPr>
      </p:sp>
      <p:sp>
        <p:nvSpPr>
          <p:cNvPr id="22" name="Text 20"/>
          <p:cNvSpPr/>
          <p:nvPr/>
        </p:nvSpPr>
        <p:spPr>
          <a:xfrm>
            <a:off x="5480209" y="5120164"/>
            <a:ext cx="2904173" cy="301228"/>
          </a:xfrm>
          <a:prstGeom prst="rect">
            <a:avLst/>
          </a:prstGeom>
          <a:noFill/>
          <a:ln/>
        </p:spPr>
        <p:txBody>
          <a:bodyPr wrap="none" lIns="0" tIns="0" rIns="0" bIns="0" rtlCol="0" anchor="t"/>
          <a:lstStyle/>
          <a:p>
            <a:pPr marL="0" indent="0" algn="l">
              <a:lnSpc>
                <a:spcPts val="2350"/>
              </a:lnSpc>
              <a:buNone/>
            </a:pPr>
            <a:r>
              <a:rPr lang="en-US" sz="1850" b="1" dirty="0">
                <a:solidFill>
                  <a:srgbClr val="D7E5D8"/>
                </a:solidFill>
                <a:latin typeface="Syne Extra Bold" pitchFamily="34" charset="0"/>
                <a:ea typeface="Syne Extra Bold" pitchFamily="34" charset="-122"/>
                <a:cs typeface="Syne Extra Bold" pitchFamily="34" charset="-120"/>
              </a:rPr>
              <a:t>e) Data Format</a:t>
            </a:r>
            <a:endParaRPr lang="en-US" sz="1850" dirty="0"/>
          </a:p>
        </p:txBody>
      </p:sp>
      <p:sp>
        <p:nvSpPr>
          <p:cNvPr id="23" name="Text 21"/>
          <p:cNvSpPr/>
          <p:nvPr/>
        </p:nvSpPr>
        <p:spPr>
          <a:xfrm>
            <a:off x="5480209" y="5519618"/>
            <a:ext cx="3738563" cy="1426369"/>
          </a:xfrm>
          <a:prstGeom prst="rect">
            <a:avLst/>
          </a:prstGeom>
          <a:noFill/>
          <a:ln/>
        </p:spPr>
        <p:txBody>
          <a:bodyPr wrap="square" lIns="0" tIns="0" rIns="0" bIns="0" rtlCol="0" anchor="t"/>
          <a:lstStyle/>
          <a:p>
            <a:pPr marL="0" indent="0" algn="l">
              <a:lnSpc>
                <a:spcPts val="2200"/>
              </a:lnSpc>
              <a:buNone/>
            </a:pPr>
            <a:r>
              <a:rPr lang="en-US" sz="1500" dirty="0">
                <a:solidFill>
                  <a:srgbClr val="D7E5D8"/>
                </a:solidFill>
                <a:latin typeface="Syne" pitchFamily="34" charset="0"/>
                <a:ea typeface="Syne" pitchFamily="34" charset="-122"/>
                <a:cs typeface="Syne" pitchFamily="34" charset="-120"/>
              </a:rPr>
              <a:t>The dataset is maintained in Excel/CSV format. Each row represents an individual student respondent, and each column represents a variable obtained from the questionnaire.</a:t>
            </a:r>
            <a:endParaRPr lang="en-US" sz="1500" dirty="0"/>
          </a:p>
        </p:txBody>
      </p:sp>
      <p:sp>
        <p:nvSpPr>
          <p:cNvPr id="24" name="Rectangle 23">
            <a:extLst>
              <a:ext uri="{FF2B5EF4-FFF2-40B4-BE49-F238E27FC236}">
                <a16:creationId xmlns:a16="http://schemas.microsoft.com/office/drawing/2014/main" id="{A283F505-CA9D-4F95-99BC-9BFD344CF42A}"/>
              </a:ext>
            </a:extLst>
          </p:cNvPr>
          <p:cNvSpPr/>
          <p:nvPr/>
        </p:nvSpPr>
        <p:spPr>
          <a:xfrm>
            <a:off x="12801600" y="7661710"/>
            <a:ext cx="1742173" cy="548640"/>
          </a:xfrm>
          <a:prstGeom prst="rect">
            <a:avLst/>
          </a:prstGeom>
          <a:solidFill>
            <a:srgbClr val="141E24"/>
          </a:solidFill>
          <a:ln>
            <a:solidFill>
              <a:srgbClr val="141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87837"/>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F0F4F1"/>
                </a:solidFill>
                <a:latin typeface="Syne Extra Bold" pitchFamily="34" charset="0"/>
                <a:ea typeface="Syne Extra Bold" pitchFamily="34" charset="-122"/>
                <a:cs typeface="Syne Extra Bold" pitchFamily="34" charset="-120"/>
              </a:rPr>
              <a:t>Objective 1</a:t>
            </a:r>
            <a:endParaRPr lang="en-US" sz="3550" dirty="0"/>
          </a:p>
        </p:txBody>
      </p:sp>
      <p:sp>
        <p:nvSpPr>
          <p:cNvPr id="3" name="Text 1"/>
          <p:cNvSpPr/>
          <p:nvPr/>
        </p:nvSpPr>
        <p:spPr>
          <a:xfrm>
            <a:off x="793790" y="1645087"/>
            <a:ext cx="13042821" cy="261223"/>
          </a:xfrm>
          <a:prstGeom prst="rect">
            <a:avLst/>
          </a:prstGeom>
          <a:noFill/>
          <a:ln/>
        </p:spPr>
        <p:txBody>
          <a:bodyPr wrap="none" lIns="0" tIns="0" rIns="0" bIns="0" rtlCol="0" anchor="t"/>
          <a:lstStyle/>
          <a:p>
            <a:pPr marL="0" indent="0" algn="l">
              <a:lnSpc>
                <a:spcPts val="2050"/>
              </a:lnSpc>
              <a:buNone/>
            </a:pPr>
            <a:r>
              <a:rPr lang="en-US" b="1" dirty="0">
                <a:solidFill>
                  <a:srgbClr val="D7E5D8"/>
                </a:solidFill>
                <a:latin typeface="Syne" pitchFamily="34" charset="0"/>
                <a:ea typeface="Syne" pitchFamily="34" charset="-122"/>
                <a:cs typeface="Syne" pitchFamily="34" charset="-120"/>
              </a:rPr>
              <a:t>To identify and test the influence of various academic, personal, and environmental factors on students' academic performance.</a:t>
            </a:r>
            <a:endParaRPr lang="en-US" b="1" dirty="0"/>
          </a:p>
        </p:txBody>
      </p:sp>
      <p:sp>
        <p:nvSpPr>
          <p:cNvPr id="4" name="Text 2"/>
          <p:cNvSpPr/>
          <p:nvPr/>
        </p:nvSpPr>
        <p:spPr>
          <a:xfrm>
            <a:off x="793790" y="2123956"/>
            <a:ext cx="8497729" cy="283488"/>
          </a:xfrm>
          <a:prstGeom prst="rect">
            <a:avLst/>
          </a:prstGeom>
          <a:noFill/>
          <a:ln/>
        </p:spPr>
        <p:txBody>
          <a:bodyPr wrap="none" lIns="0" tIns="0" rIns="0" bIns="0" rtlCol="0" anchor="t"/>
          <a:lstStyle/>
          <a:p>
            <a:pPr marL="0" indent="0" algn="l">
              <a:lnSpc>
                <a:spcPts val="2200"/>
              </a:lnSpc>
              <a:buNone/>
            </a:pPr>
            <a:r>
              <a:rPr lang="en-US" sz="1750" b="1" dirty="0">
                <a:solidFill>
                  <a:srgbClr val="F0F4F1"/>
                </a:solidFill>
                <a:latin typeface="Syne Extra Bold" pitchFamily="34" charset="0"/>
                <a:ea typeface="Syne Extra Bold" pitchFamily="34" charset="-122"/>
                <a:cs typeface="Syne Extra Bold" pitchFamily="34" charset="-120"/>
              </a:rPr>
              <a:t>Descriptive Statistical Analysis of Key Variables:</a:t>
            </a:r>
            <a:endParaRPr lang="en-US" sz="1750" dirty="0"/>
          </a:p>
        </p:txBody>
      </p:sp>
      <p:sp>
        <p:nvSpPr>
          <p:cNvPr id="5" name="Shape 3"/>
          <p:cNvSpPr/>
          <p:nvPr/>
        </p:nvSpPr>
        <p:spPr>
          <a:xfrm>
            <a:off x="793790" y="2625090"/>
            <a:ext cx="13042821" cy="4130993"/>
          </a:xfrm>
          <a:prstGeom prst="roundRect">
            <a:avLst>
              <a:gd name="adj" fmla="val 1845"/>
            </a:avLst>
          </a:prstGeom>
          <a:noFill/>
          <a:ln w="7620">
            <a:solidFill>
              <a:srgbClr val="FFFFFF">
                <a:alpha val="24000"/>
              </a:srgbClr>
            </a:solidFill>
            <a:prstDash val="solid"/>
          </a:ln>
        </p:spPr>
      </p:sp>
      <p:sp>
        <p:nvSpPr>
          <p:cNvPr id="6" name="Text 4"/>
          <p:cNvSpPr/>
          <p:nvPr/>
        </p:nvSpPr>
        <p:spPr>
          <a:xfrm>
            <a:off x="983218" y="2727365"/>
            <a:ext cx="2238732" cy="261223"/>
          </a:xfrm>
          <a:prstGeom prst="rect">
            <a:avLst/>
          </a:prstGeom>
          <a:noFill/>
          <a:ln/>
        </p:spPr>
        <p:txBody>
          <a:bodyPr wrap="none" lIns="0" tIns="0" rIns="0" bIns="0" rtlCol="0" anchor="t"/>
          <a:lstStyle/>
          <a:p>
            <a:pPr marL="0" indent="0" algn="l">
              <a:lnSpc>
                <a:spcPts val="2050"/>
              </a:lnSpc>
              <a:buNone/>
            </a:pPr>
            <a:r>
              <a:rPr lang="en-US" sz="1400" b="1" dirty="0">
                <a:solidFill>
                  <a:srgbClr val="D7E5D8"/>
                </a:solidFill>
                <a:latin typeface="Syne" pitchFamily="34" charset="0"/>
                <a:ea typeface="Syne" pitchFamily="34" charset="-122"/>
                <a:cs typeface="Syne" pitchFamily="34" charset="-120"/>
              </a:rPr>
              <a:t>Variable</a:t>
            </a:r>
            <a:endParaRPr lang="en-US" sz="1400" dirty="0"/>
          </a:p>
        </p:txBody>
      </p:sp>
      <p:sp>
        <p:nvSpPr>
          <p:cNvPr id="7" name="Text 5"/>
          <p:cNvSpPr/>
          <p:nvPr/>
        </p:nvSpPr>
        <p:spPr>
          <a:xfrm>
            <a:off x="3592473" y="2727365"/>
            <a:ext cx="2234922" cy="261223"/>
          </a:xfrm>
          <a:prstGeom prst="rect">
            <a:avLst/>
          </a:prstGeom>
          <a:noFill/>
          <a:ln/>
        </p:spPr>
        <p:txBody>
          <a:bodyPr wrap="none" lIns="0" tIns="0" rIns="0" bIns="0" rtlCol="0" anchor="t"/>
          <a:lstStyle/>
          <a:p>
            <a:pPr marL="0" indent="0" algn="l">
              <a:lnSpc>
                <a:spcPts val="2050"/>
              </a:lnSpc>
              <a:buNone/>
            </a:pPr>
            <a:r>
              <a:rPr lang="en-US" sz="1400" b="1" dirty="0">
                <a:solidFill>
                  <a:srgbClr val="D7E5D8"/>
                </a:solidFill>
                <a:latin typeface="Syne" pitchFamily="34" charset="0"/>
                <a:ea typeface="Syne" pitchFamily="34" charset="-122"/>
                <a:cs typeface="Syne" pitchFamily="34" charset="-120"/>
              </a:rPr>
              <a:t>study_hours</a:t>
            </a:r>
            <a:endParaRPr lang="en-US" sz="1400" dirty="0"/>
          </a:p>
        </p:txBody>
      </p:sp>
      <p:sp>
        <p:nvSpPr>
          <p:cNvPr id="8" name="Text 6"/>
          <p:cNvSpPr/>
          <p:nvPr/>
        </p:nvSpPr>
        <p:spPr>
          <a:xfrm>
            <a:off x="6197918" y="2727365"/>
            <a:ext cx="2234922" cy="261223"/>
          </a:xfrm>
          <a:prstGeom prst="rect">
            <a:avLst/>
          </a:prstGeom>
          <a:noFill/>
          <a:ln/>
        </p:spPr>
        <p:txBody>
          <a:bodyPr wrap="none" lIns="0" tIns="0" rIns="0" bIns="0" rtlCol="0" anchor="t"/>
          <a:lstStyle/>
          <a:p>
            <a:pPr marL="0" indent="0" algn="l">
              <a:lnSpc>
                <a:spcPts val="2050"/>
              </a:lnSpc>
              <a:buNone/>
            </a:pPr>
            <a:r>
              <a:rPr lang="en-US" sz="1400" b="1" dirty="0">
                <a:solidFill>
                  <a:srgbClr val="D7E5D8"/>
                </a:solidFill>
                <a:latin typeface="Syne" pitchFamily="34" charset="0"/>
                <a:ea typeface="Syne" pitchFamily="34" charset="-122"/>
                <a:cs typeface="Syne" pitchFamily="34" charset="-120"/>
              </a:rPr>
              <a:t>attendance</a:t>
            </a:r>
            <a:endParaRPr lang="en-US" sz="1400" dirty="0"/>
          </a:p>
        </p:txBody>
      </p:sp>
      <p:sp>
        <p:nvSpPr>
          <p:cNvPr id="9" name="Text 7"/>
          <p:cNvSpPr/>
          <p:nvPr/>
        </p:nvSpPr>
        <p:spPr>
          <a:xfrm>
            <a:off x="8803362" y="2727365"/>
            <a:ext cx="2234922" cy="261223"/>
          </a:xfrm>
          <a:prstGeom prst="rect">
            <a:avLst/>
          </a:prstGeom>
          <a:noFill/>
          <a:ln/>
        </p:spPr>
        <p:txBody>
          <a:bodyPr wrap="none" lIns="0" tIns="0" rIns="0" bIns="0" rtlCol="0" anchor="t"/>
          <a:lstStyle/>
          <a:p>
            <a:pPr marL="0" indent="0" algn="l">
              <a:lnSpc>
                <a:spcPts val="2050"/>
              </a:lnSpc>
              <a:buNone/>
            </a:pPr>
            <a:r>
              <a:rPr lang="en-US" sz="1400" b="1" dirty="0">
                <a:solidFill>
                  <a:srgbClr val="D7E5D8"/>
                </a:solidFill>
                <a:latin typeface="Syne" pitchFamily="34" charset="0"/>
                <a:ea typeface="Syne" pitchFamily="34" charset="-122"/>
                <a:cs typeface="Syne" pitchFamily="34" charset="-120"/>
              </a:rPr>
              <a:t>Stress</a:t>
            </a:r>
            <a:endParaRPr lang="en-US" sz="1400" dirty="0"/>
          </a:p>
        </p:txBody>
      </p:sp>
      <p:sp>
        <p:nvSpPr>
          <p:cNvPr id="10" name="Text 8"/>
          <p:cNvSpPr/>
          <p:nvPr/>
        </p:nvSpPr>
        <p:spPr>
          <a:xfrm>
            <a:off x="11408807" y="2727365"/>
            <a:ext cx="2238732" cy="261223"/>
          </a:xfrm>
          <a:prstGeom prst="rect">
            <a:avLst/>
          </a:prstGeom>
          <a:noFill/>
          <a:ln/>
        </p:spPr>
        <p:txBody>
          <a:bodyPr wrap="none" lIns="0" tIns="0" rIns="0" bIns="0" rtlCol="0" anchor="t"/>
          <a:lstStyle/>
          <a:p>
            <a:pPr marL="0" indent="0" algn="l">
              <a:lnSpc>
                <a:spcPts val="2050"/>
              </a:lnSpc>
              <a:buNone/>
            </a:pPr>
            <a:r>
              <a:rPr lang="en-US" sz="1400" b="1" dirty="0">
                <a:solidFill>
                  <a:srgbClr val="D7E5D8"/>
                </a:solidFill>
                <a:latin typeface="Syne" pitchFamily="34" charset="0"/>
                <a:ea typeface="Syne" pitchFamily="34" charset="-122"/>
                <a:cs typeface="Syne" pitchFamily="34" charset="-120"/>
              </a:rPr>
              <a:t>Sleep_Hours</a:t>
            </a:r>
            <a:endParaRPr lang="en-US" sz="1400" dirty="0"/>
          </a:p>
        </p:txBody>
      </p:sp>
      <p:sp>
        <p:nvSpPr>
          <p:cNvPr id="11" name="Text 9"/>
          <p:cNvSpPr/>
          <p:nvPr/>
        </p:nvSpPr>
        <p:spPr>
          <a:xfrm>
            <a:off x="983218" y="3185517"/>
            <a:ext cx="223873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count</a:t>
            </a:r>
            <a:endParaRPr lang="en-US" sz="1400" dirty="0"/>
          </a:p>
        </p:txBody>
      </p:sp>
      <p:sp>
        <p:nvSpPr>
          <p:cNvPr id="12" name="Text 10"/>
          <p:cNvSpPr/>
          <p:nvPr/>
        </p:nvSpPr>
        <p:spPr>
          <a:xfrm>
            <a:off x="3592473" y="3185517"/>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283</a:t>
            </a:r>
            <a:endParaRPr lang="en-US" sz="1400" dirty="0"/>
          </a:p>
        </p:txBody>
      </p:sp>
      <p:sp>
        <p:nvSpPr>
          <p:cNvPr id="13" name="Text 11"/>
          <p:cNvSpPr/>
          <p:nvPr/>
        </p:nvSpPr>
        <p:spPr>
          <a:xfrm>
            <a:off x="6197918" y="3185517"/>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283</a:t>
            </a:r>
            <a:endParaRPr lang="en-US" sz="1400" dirty="0"/>
          </a:p>
        </p:txBody>
      </p:sp>
      <p:sp>
        <p:nvSpPr>
          <p:cNvPr id="14" name="Text 12"/>
          <p:cNvSpPr/>
          <p:nvPr/>
        </p:nvSpPr>
        <p:spPr>
          <a:xfrm>
            <a:off x="8803362" y="3185517"/>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283</a:t>
            </a:r>
            <a:endParaRPr lang="en-US" sz="1400" dirty="0"/>
          </a:p>
        </p:txBody>
      </p:sp>
      <p:sp>
        <p:nvSpPr>
          <p:cNvPr id="15" name="Text 13"/>
          <p:cNvSpPr/>
          <p:nvPr/>
        </p:nvSpPr>
        <p:spPr>
          <a:xfrm>
            <a:off x="11408807" y="3185517"/>
            <a:ext cx="223873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283</a:t>
            </a:r>
            <a:endParaRPr lang="en-US" sz="1400" dirty="0"/>
          </a:p>
        </p:txBody>
      </p:sp>
      <p:sp>
        <p:nvSpPr>
          <p:cNvPr id="16" name="Text 14"/>
          <p:cNvSpPr/>
          <p:nvPr/>
        </p:nvSpPr>
        <p:spPr>
          <a:xfrm>
            <a:off x="983218" y="3643670"/>
            <a:ext cx="223873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mean</a:t>
            </a:r>
            <a:endParaRPr lang="en-US" sz="1400" dirty="0"/>
          </a:p>
        </p:txBody>
      </p:sp>
      <p:sp>
        <p:nvSpPr>
          <p:cNvPr id="17" name="Text 15"/>
          <p:cNvSpPr/>
          <p:nvPr/>
        </p:nvSpPr>
        <p:spPr>
          <a:xfrm>
            <a:off x="3592473" y="3643670"/>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72.5833</a:t>
            </a:r>
            <a:endParaRPr lang="en-US" sz="1400" dirty="0"/>
          </a:p>
        </p:txBody>
      </p:sp>
      <p:sp>
        <p:nvSpPr>
          <p:cNvPr id="18" name="Text 16"/>
          <p:cNvSpPr/>
          <p:nvPr/>
        </p:nvSpPr>
        <p:spPr>
          <a:xfrm>
            <a:off x="6197918" y="3643670"/>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2.5865</a:t>
            </a:r>
            <a:endParaRPr lang="en-US" sz="1400" dirty="0"/>
          </a:p>
        </p:txBody>
      </p:sp>
      <p:sp>
        <p:nvSpPr>
          <p:cNvPr id="19" name="Text 17"/>
          <p:cNvSpPr/>
          <p:nvPr/>
        </p:nvSpPr>
        <p:spPr>
          <a:xfrm>
            <a:off x="8803362" y="3643670"/>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2.4310</a:t>
            </a:r>
            <a:endParaRPr lang="en-US" sz="1400" dirty="0"/>
          </a:p>
        </p:txBody>
      </p:sp>
      <p:sp>
        <p:nvSpPr>
          <p:cNvPr id="20" name="Text 18"/>
          <p:cNvSpPr/>
          <p:nvPr/>
        </p:nvSpPr>
        <p:spPr>
          <a:xfrm>
            <a:off x="11408807" y="3643670"/>
            <a:ext cx="223873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2.4558</a:t>
            </a:r>
            <a:endParaRPr lang="en-US" sz="1400" dirty="0"/>
          </a:p>
        </p:txBody>
      </p:sp>
      <p:sp>
        <p:nvSpPr>
          <p:cNvPr id="21" name="Text 19"/>
          <p:cNvSpPr/>
          <p:nvPr/>
        </p:nvSpPr>
        <p:spPr>
          <a:xfrm>
            <a:off x="983218" y="4101822"/>
            <a:ext cx="223873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std</a:t>
            </a:r>
            <a:endParaRPr lang="en-US" sz="1400" dirty="0"/>
          </a:p>
        </p:txBody>
      </p:sp>
      <p:sp>
        <p:nvSpPr>
          <p:cNvPr id="22" name="Text 20"/>
          <p:cNvSpPr/>
          <p:nvPr/>
        </p:nvSpPr>
        <p:spPr>
          <a:xfrm>
            <a:off x="3592473" y="4101822"/>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10.4549</a:t>
            </a:r>
            <a:endParaRPr lang="en-US" sz="1400" dirty="0"/>
          </a:p>
        </p:txBody>
      </p:sp>
      <p:sp>
        <p:nvSpPr>
          <p:cNvPr id="23" name="Text 21"/>
          <p:cNvSpPr/>
          <p:nvPr/>
        </p:nvSpPr>
        <p:spPr>
          <a:xfrm>
            <a:off x="6197918" y="4101822"/>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0.8392</a:t>
            </a:r>
            <a:endParaRPr lang="en-US" sz="1400" dirty="0"/>
          </a:p>
        </p:txBody>
      </p:sp>
      <p:sp>
        <p:nvSpPr>
          <p:cNvPr id="24" name="Text 22"/>
          <p:cNvSpPr/>
          <p:nvPr/>
        </p:nvSpPr>
        <p:spPr>
          <a:xfrm>
            <a:off x="8803362" y="4101822"/>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0.7229</a:t>
            </a:r>
            <a:endParaRPr lang="en-US" sz="1400" dirty="0"/>
          </a:p>
        </p:txBody>
      </p:sp>
      <p:sp>
        <p:nvSpPr>
          <p:cNvPr id="25" name="Text 23"/>
          <p:cNvSpPr/>
          <p:nvPr/>
        </p:nvSpPr>
        <p:spPr>
          <a:xfrm>
            <a:off x="11408807" y="4101822"/>
            <a:ext cx="223873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0.8125</a:t>
            </a:r>
            <a:endParaRPr lang="en-US" sz="1400" dirty="0"/>
          </a:p>
        </p:txBody>
      </p:sp>
      <p:sp>
        <p:nvSpPr>
          <p:cNvPr id="26" name="Text 24"/>
          <p:cNvSpPr/>
          <p:nvPr/>
        </p:nvSpPr>
        <p:spPr>
          <a:xfrm>
            <a:off x="983218" y="4559975"/>
            <a:ext cx="223873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min</a:t>
            </a:r>
            <a:endParaRPr lang="en-US" sz="1400" dirty="0"/>
          </a:p>
        </p:txBody>
      </p:sp>
      <p:sp>
        <p:nvSpPr>
          <p:cNvPr id="27" name="Text 25"/>
          <p:cNvSpPr/>
          <p:nvPr/>
        </p:nvSpPr>
        <p:spPr>
          <a:xfrm>
            <a:off x="3592473" y="4559975"/>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35</a:t>
            </a:r>
            <a:endParaRPr lang="en-US" sz="1400" dirty="0"/>
          </a:p>
        </p:txBody>
      </p:sp>
      <p:sp>
        <p:nvSpPr>
          <p:cNvPr id="28" name="Text 26"/>
          <p:cNvSpPr/>
          <p:nvPr/>
        </p:nvSpPr>
        <p:spPr>
          <a:xfrm>
            <a:off x="6197918" y="4559975"/>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1</a:t>
            </a:r>
            <a:endParaRPr lang="en-US" sz="1400" dirty="0"/>
          </a:p>
        </p:txBody>
      </p:sp>
      <p:sp>
        <p:nvSpPr>
          <p:cNvPr id="29" name="Text 27"/>
          <p:cNvSpPr/>
          <p:nvPr/>
        </p:nvSpPr>
        <p:spPr>
          <a:xfrm>
            <a:off x="8803362" y="4559975"/>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1</a:t>
            </a:r>
            <a:endParaRPr lang="en-US" sz="1400" dirty="0"/>
          </a:p>
        </p:txBody>
      </p:sp>
      <p:sp>
        <p:nvSpPr>
          <p:cNvPr id="30" name="Text 28"/>
          <p:cNvSpPr/>
          <p:nvPr/>
        </p:nvSpPr>
        <p:spPr>
          <a:xfrm>
            <a:off x="11408807" y="4559975"/>
            <a:ext cx="223873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1</a:t>
            </a:r>
            <a:endParaRPr lang="en-US" sz="1400" dirty="0"/>
          </a:p>
        </p:txBody>
      </p:sp>
      <p:sp>
        <p:nvSpPr>
          <p:cNvPr id="31" name="Text 29"/>
          <p:cNvSpPr/>
          <p:nvPr/>
        </p:nvSpPr>
        <p:spPr>
          <a:xfrm>
            <a:off x="983218" y="5018127"/>
            <a:ext cx="223873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25%</a:t>
            </a:r>
            <a:endParaRPr lang="en-US" sz="1400" dirty="0"/>
          </a:p>
        </p:txBody>
      </p:sp>
      <p:sp>
        <p:nvSpPr>
          <p:cNvPr id="32" name="Text 30"/>
          <p:cNvSpPr/>
          <p:nvPr/>
        </p:nvSpPr>
        <p:spPr>
          <a:xfrm>
            <a:off x="3592473" y="5018127"/>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65</a:t>
            </a:r>
            <a:endParaRPr lang="en-US" sz="1400" dirty="0"/>
          </a:p>
        </p:txBody>
      </p:sp>
      <p:sp>
        <p:nvSpPr>
          <p:cNvPr id="33" name="Text 31"/>
          <p:cNvSpPr/>
          <p:nvPr/>
        </p:nvSpPr>
        <p:spPr>
          <a:xfrm>
            <a:off x="6197918" y="5018127"/>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2</a:t>
            </a:r>
            <a:endParaRPr lang="en-US" sz="1400" dirty="0"/>
          </a:p>
        </p:txBody>
      </p:sp>
      <p:sp>
        <p:nvSpPr>
          <p:cNvPr id="34" name="Text 32"/>
          <p:cNvSpPr/>
          <p:nvPr/>
        </p:nvSpPr>
        <p:spPr>
          <a:xfrm>
            <a:off x="8803362" y="5018127"/>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2</a:t>
            </a:r>
            <a:endParaRPr lang="en-US" sz="1400" dirty="0"/>
          </a:p>
        </p:txBody>
      </p:sp>
      <p:sp>
        <p:nvSpPr>
          <p:cNvPr id="35" name="Text 33"/>
          <p:cNvSpPr/>
          <p:nvPr/>
        </p:nvSpPr>
        <p:spPr>
          <a:xfrm>
            <a:off x="11408807" y="5018127"/>
            <a:ext cx="223873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2</a:t>
            </a:r>
            <a:endParaRPr lang="en-US" sz="1400" dirty="0"/>
          </a:p>
        </p:txBody>
      </p:sp>
      <p:sp>
        <p:nvSpPr>
          <p:cNvPr id="36" name="Text 34"/>
          <p:cNvSpPr/>
          <p:nvPr/>
        </p:nvSpPr>
        <p:spPr>
          <a:xfrm>
            <a:off x="983218" y="5476280"/>
            <a:ext cx="223873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50%</a:t>
            </a:r>
            <a:endParaRPr lang="en-US" sz="1400" dirty="0"/>
          </a:p>
        </p:txBody>
      </p:sp>
      <p:sp>
        <p:nvSpPr>
          <p:cNvPr id="37" name="Text 35"/>
          <p:cNvSpPr/>
          <p:nvPr/>
        </p:nvSpPr>
        <p:spPr>
          <a:xfrm>
            <a:off x="3592473" y="5476280"/>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74.24</a:t>
            </a:r>
            <a:endParaRPr lang="en-US" sz="1400" dirty="0"/>
          </a:p>
        </p:txBody>
      </p:sp>
      <p:sp>
        <p:nvSpPr>
          <p:cNvPr id="38" name="Text 36"/>
          <p:cNvSpPr/>
          <p:nvPr/>
        </p:nvSpPr>
        <p:spPr>
          <a:xfrm>
            <a:off x="6197918" y="5476280"/>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3</a:t>
            </a:r>
            <a:endParaRPr lang="en-US" sz="1400" dirty="0"/>
          </a:p>
        </p:txBody>
      </p:sp>
      <p:sp>
        <p:nvSpPr>
          <p:cNvPr id="39" name="Text 37"/>
          <p:cNvSpPr/>
          <p:nvPr/>
        </p:nvSpPr>
        <p:spPr>
          <a:xfrm>
            <a:off x="8803362" y="5476280"/>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3</a:t>
            </a:r>
            <a:endParaRPr lang="en-US" sz="1400" dirty="0"/>
          </a:p>
        </p:txBody>
      </p:sp>
      <p:sp>
        <p:nvSpPr>
          <p:cNvPr id="40" name="Text 38"/>
          <p:cNvSpPr/>
          <p:nvPr/>
        </p:nvSpPr>
        <p:spPr>
          <a:xfrm>
            <a:off x="11408807" y="5476280"/>
            <a:ext cx="223873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2</a:t>
            </a:r>
            <a:endParaRPr lang="en-US" sz="1400" dirty="0"/>
          </a:p>
        </p:txBody>
      </p:sp>
      <p:sp>
        <p:nvSpPr>
          <p:cNvPr id="41" name="Text 39"/>
          <p:cNvSpPr/>
          <p:nvPr/>
        </p:nvSpPr>
        <p:spPr>
          <a:xfrm>
            <a:off x="983218" y="5934432"/>
            <a:ext cx="223873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75%</a:t>
            </a:r>
            <a:endParaRPr lang="en-US" sz="1400" dirty="0"/>
          </a:p>
        </p:txBody>
      </p:sp>
      <p:sp>
        <p:nvSpPr>
          <p:cNvPr id="42" name="Text 40"/>
          <p:cNvSpPr/>
          <p:nvPr/>
        </p:nvSpPr>
        <p:spPr>
          <a:xfrm>
            <a:off x="3592473" y="5934432"/>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79</a:t>
            </a:r>
            <a:endParaRPr lang="en-US" sz="1400" dirty="0"/>
          </a:p>
        </p:txBody>
      </p:sp>
      <p:sp>
        <p:nvSpPr>
          <p:cNvPr id="43" name="Text 41"/>
          <p:cNvSpPr/>
          <p:nvPr/>
        </p:nvSpPr>
        <p:spPr>
          <a:xfrm>
            <a:off x="6197918" y="5934432"/>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3</a:t>
            </a:r>
            <a:endParaRPr lang="en-US" sz="1400" dirty="0"/>
          </a:p>
        </p:txBody>
      </p:sp>
      <p:sp>
        <p:nvSpPr>
          <p:cNvPr id="44" name="Text 42"/>
          <p:cNvSpPr/>
          <p:nvPr/>
        </p:nvSpPr>
        <p:spPr>
          <a:xfrm>
            <a:off x="8803362" y="5934432"/>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3</a:t>
            </a:r>
            <a:endParaRPr lang="en-US" sz="1400" dirty="0"/>
          </a:p>
        </p:txBody>
      </p:sp>
      <p:sp>
        <p:nvSpPr>
          <p:cNvPr id="45" name="Text 43"/>
          <p:cNvSpPr/>
          <p:nvPr/>
        </p:nvSpPr>
        <p:spPr>
          <a:xfrm>
            <a:off x="11408807" y="5934432"/>
            <a:ext cx="223873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3</a:t>
            </a:r>
            <a:endParaRPr lang="en-US" sz="1400" dirty="0"/>
          </a:p>
        </p:txBody>
      </p:sp>
      <p:sp>
        <p:nvSpPr>
          <p:cNvPr id="46" name="Text 44"/>
          <p:cNvSpPr/>
          <p:nvPr/>
        </p:nvSpPr>
        <p:spPr>
          <a:xfrm>
            <a:off x="983218" y="6392585"/>
            <a:ext cx="223873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max</a:t>
            </a:r>
            <a:endParaRPr lang="en-US" sz="1400" dirty="0"/>
          </a:p>
        </p:txBody>
      </p:sp>
      <p:sp>
        <p:nvSpPr>
          <p:cNvPr id="47" name="Text 45"/>
          <p:cNvSpPr/>
          <p:nvPr/>
        </p:nvSpPr>
        <p:spPr>
          <a:xfrm>
            <a:off x="3592473" y="6392585"/>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95</a:t>
            </a:r>
            <a:endParaRPr lang="en-US" sz="1400" dirty="0"/>
          </a:p>
        </p:txBody>
      </p:sp>
      <p:sp>
        <p:nvSpPr>
          <p:cNvPr id="48" name="Text 46"/>
          <p:cNvSpPr/>
          <p:nvPr/>
        </p:nvSpPr>
        <p:spPr>
          <a:xfrm>
            <a:off x="6197918" y="6392585"/>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4</a:t>
            </a:r>
            <a:endParaRPr lang="en-US" sz="1400" dirty="0"/>
          </a:p>
        </p:txBody>
      </p:sp>
      <p:sp>
        <p:nvSpPr>
          <p:cNvPr id="49" name="Text 47"/>
          <p:cNvSpPr/>
          <p:nvPr/>
        </p:nvSpPr>
        <p:spPr>
          <a:xfrm>
            <a:off x="8803362" y="6392585"/>
            <a:ext cx="223492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3</a:t>
            </a:r>
            <a:endParaRPr lang="en-US" sz="1400" dirty="0"/>
          </a:p>
        </p:txBody>
      </p:sp>
      <p:sp>
        <p:nvSpPr>
          <p:cNvPr id="50" name="Text 48"/>
          <p:cNvSpPr/>
          <p:nvPr/>
        </p:nvSpPr>
        <p:spPr>
          <a:xfrm>
            <a:off x="11408807" y="6392585"/>
            <a:ext cx="2238732" cy="261223"/>
          </a:xfrm>
          <a:prstGeom prst="rect">
            <a:avLst/>
          </a:prstGeom>
          <a:noFill/>
          <a:ln/>
        </p:spPr>
        <p:txBody>
          <a:bodyPr wrap="none" lIns="0" tIns="0" rIns="0" bIns="0" rtlCol="0" anchor="t"/>
          <a:lstStyle/>
          <a:p>
            <a:pPr marL="0" indent="0" algn="l">
              <a:lnSpc>
                <a:spcPts val="2050"/>
              </a:lnSpc>
              <a:buNone/>
            </a:pPr>
            <a:r>
              <a:rPr lang="en-US" sz="1400" dirty="0">
                <a:solidFill>
                  <a:srgbClr val="D7E5D8"/>
                </a:solidFill>
                <a:latin typeface="Syne" pitchFamily="34" charset="0"/>
                <a:ea typeface="Syne" pitchFamily="34" charset="-122"/>
                <a:cs typeface="Syne" pitchFamily="34" charset="-120"/>
              </a:rPr>
              <a:t>4</a:t>
            </a:r>
            <a:endParaRPr lang="en-US" sz="1400" dirty="0"/>
          </a:p>
        </p:txBody>
      </p:sp>
      <p:sp>
        <p:nvSpPr>
          <p:cNvPr id="51" name="Text 49"/>
          <p:cNvSpPr/>
          <p:nvPr/>
        </p:nvSpPr>
        <p:spPr>
          <a:xfrm>
            <a:off x="793790" y="6919317"/>
            <a:ext cx="13042821" cy="522446"/>
          </a:xfrm>
          <a:prstGeom prst="rect">
            <a:avLst/>
          </a:prstGeom>
          <a:noFill/>
          <a:ln/>
        </p:spPr>
        <p:txBody>
          <a:bodyPr wrap="square" lIns="0" tIns="0" rIns="0" bIns="0" rtlCol="0" anchor="t"/>
          <a:lstStyle/>
          <a:p>
            <a:pPr marL="0" indent="0" algn="l">
              <a:lnSpc>
                <a:spcPts val="2050"/>
              </a:lnSpc>
              <a:buNone/>
            </a:pPr>
            <a:r>
              <a:rPr lang="en-US" b="1" dirty="0">
                <a:solidFill>
                  <a:srgbClr val="D7E5D8"/>
                </a:solidFill>
                <a:latin typeface="Syne" pitchFamily="34" charset="0"/>
                <a:ea typeface="Syne" pitchFamily="34" charset="-122"/>
                <a:cs typeface="Syne" pitchFamily="34" charset="-120"/>
              </a:rPr>
              <a:t>Interpretations:</a:t>
            </a:r>
            <a:r>
              <a:rPr lang="en-US" dirty="0">
                <a:solidFill>
                  <a:srgbClr val="D7E5D8"/>
                </a:solidFill>
                <a:latin typeface="Syne" pitchFamily="34" charset="0"/>
                <a:ea typeface="Syne" pitchFamily="34" charset="-122"/>
                <a:cs typeface="Syne" pitchFamily="34" charset="-120"/>
              </a:rPr>
              <a:t> Students have moderate academic performance with some variation, and factors like study hours, attendance, stress, and sleep are mostly at average levels. This shows performance is not same for all students.</a:t>
            </a:r>
            <a:endParaRPr lang="en-US" dirty="0"/>
          </a:p>
        </p:txBody>
      </p:sp>
      <p:sp>
        <p:nvSpPr>
          <p:cNvPr id="52" name="Rectangle 51">
            <a:extLst>
              <a:ext uri="{FF2B5EF4-FFF2-40B4-BE49-F238E27FC236}">
                <a16:creationId xmlns:a16="http://schemas.microsoft.com/office/drawing/2014/main" id="{B0A54211-6236-4437-9AB3-C580F549C182}"/>
              </a:ext>
            </a:extLst>
          </p:cNvPr>
          <p:cNvSpPr/>
          <p:nvPr/>
        </p:nvSpPr>
        <p:spPr>
          <a:xfrm>
            <a:off x="12801600" y="7661710"/>
            <a:ext cx="1742173" cy="548640"/>
          </a:xfrm>
          <a:prstGeom prst="rect">
            <a:avLst/>
          </a:prstGeom>
          <a:solidFill>
            <a:srgbClr val="141E24"/>
          </a:solidFill>
          <a:ln>
            <a:solidFill>
              <a:srgbClr val="141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96215"/>
            <a:ext cx="8907185" cy="708779"/>
          </a:xfrm>
          <a:prstGeom prst="rect">
            <a:avLst/>
          </a:prstGeom>
          <a:noFill/>
          <a:ln/>
        </p:spPr>
        <p:txBody>
          <a:bodyPr wrap="none" lIns="0" tIns="0" rIns="0" bIns="0" rtlCol="0" anchor="t"/>
          <a:lstStyle/>
          <a:p>
            <a:pPr marL="0" indent="0" algn="l">
              <a:lnSpc>
                <a:spcPts val="5550"/>
              </a:lnSpc>
              <a:buNone/>
            </a:pPr>
            <a:r>
              <a:rPr lang="en-US" sz="4450" b="1" dirty="0">
                <a:solidFill>
                  <a:srgbClr val="F0F4F1"/>
                </a:solidFill>
                <a:latin typeface="Syne Extra Bold" pitchFamily="34" charset="0"/>
                <a:ea typeface="Syne Extra Bold" pitchFamily="34" charset="-122"/>
                <a:cs typeface="Syne Extra Bold" pitchFamily="34" charset="-120"/>
              </a:rPr>
              <a:t>Correlation Analysis</a:t>
            </a:r>
            <a:endParaRPr lang="en-US" sz="4450" dirty="0"/>
          </a:p>
        </p:txBody>
      </p:sp>
      <p:sp>
        <p:nvSpPr>
          <p:cNvPr id="3" name="Text 1"/>
          <p:cNvSpPr/>
          <p:nvPr/>
        </p:nvSpPr>
        <p:spPr>
          <a:xfrm>
            <a:off x="793790" y="923805"/>
            <a:ext cx="13042821" cy="362903"/>
          </a:xfrm>
          <a:prstGeom prst="rect">
            <a:avLst/>
          </a:prstGeom>
          <a:noFill/>
          <a:ln/>
        </p:spPr>
        <p:txBody>
          <a:bodyPr wrap="none" lIns="0" tIns="0" rIns="0" bIns="0" rtlCol="0" anchor="t"/>
          <a:lstStyle/>
          <a:p>
            <a:pPr marL="0" indent="0" algn="l">
              <a:lnSpc>
                <a:spcPts val="2850"/>
              </a:lnSpc>
              <a:buNone/>
            </a:pPr>
            <a:r>
              <a:rPr lang="en-US" dirty="0">
                <a:solidFill>
                  <a:srgbClr val="D7E5D8"/>
                </a:solidFill>
                <a:latin typeface="Syne" pitchFamily="34" charset="0"/>
                <a:ea typeface="Syne" pitchFamily="34" charset="-122"/>
                <a:cs typeface="Syne" pitchFamily="34" charset="-120"/>
              </a:rPr>
              <a:t>Correlation Analysis of Academic Performance and Study Variables</a:t>
            </a:r>
            <a:endParaRPr lang="en-US" dirty="0"/>
          </a:p>
        </p:txBody>
      </p:sp>
      <p:sp>
        <p:nvSpPr>
          <p:cNvPr id="7" name="Text 4"/>
          <p:cNvSpPr/>
          <p:nvPr/>
        </p:nvSpPr>
        <p:spPr>
          <a:xfrm>
            <a:off x="793789" y="6579990"/>
            <a:ext cx="13042821" cy="725805"/>
          </a:xfrm>
          <a:prstGeom prst="rect">
            <a:avLst/>
          </a:prstGeom>
          <a:noFill/>
          <a:ln/>
        </p:spPr>
        <p:txBody>
          <a:bodyPr wrap="square" lIns="0" tIns="0" rIns="0" bIns="0" rtlCol="0" anchor="t"/>
          <a:lstStyle/>
          <a:p>
            <a:pPr marL="0" indent="0" algn="l">
              <a:lnSpc>
                <a:spcPts val="2850"/>
              </a:lnSpc>
              <a:buNone/>
            </a:pPr>
            <a:r>
              <a:rPr lang="en-US" b="1" dirty="0">
                <a:solidFill>
                  <a:srgbClr val="D7E5D8"/>
                </a:solidFill>
                <a:latin typeface="Syne" pitchFamily="34" charset="0"/>
                <a:ea typeface="Syne" pitchFamily="34" charset="-122"/>
                <a:cs typeface="Syne" pitchFamily="34" charset="-120"/>
              </a:rPr>
              <a:t>Interpretations:</a:t>
            </a:r>
            <a:r>
              <a:rPr lang="en-US" dirty="0">
                <a:solidFill>
                  <a:srgbClr val="D7E5D8"/>
                </a:solidFill>
                <a:latin typeface="Syne" pitchFamily="34" charset="0"/>
                <a:ea typeface="Syne" pitchFamily="34" charset="-122"/>
                <a:cs typeface="Syne" pitchFamily="34" charset="-120"/>
              </a:rPr>
              <a:t> Academic performance shows very weak correlation with all factors, indicating that no single variable has a strong influence; it is affected by a combination of multiple factors.</a:t>
            </a:r>
            <a:endParaRPr lang="en-US" dirty="0"/>
          </a:p>
        </p:txBody>
      </p:sp>
      <p:pic>
        <p:nvPicPr>
          <p:cNvPr id="8" name="Picture 7" descr="C:\Users\hp\AppData\Local\Microsoft\Windows\INetCache\Content.MSO\8460A0F2.tmp">
            <a:extLst>
              <a:ext uri="{FF2B5EF4-FFF2-40B4-BE49-F238E27FC236}">
                <a16:creationId xmlns:a16="http://schemas.microsoft.com/office/drawing/2014/main" id="{BD0E2583-EF0A-4658-AF90-61B89E6090A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660898" y="1497331"/>
            <a:ext cx="5774692" cy="4743450"/>
          </a:xfrm>
          <a:prstGeom prst="rect">
            <a:avLst/>
          </a:prstGeom>
          <a:noFill/>
          <a:ln>
            <a:solidFill>
              <a:schemeClr val="tx1"/>
            </a:solidFill>
          </a:ln>
          <a:effectLst>
            <a:outerShdw blurRad="50800" dist="38100" dir="2700000" algn="tl" rotWithShape="0">
              <a:prstClr val="black">
                <a:alpha val="40000"/>
              </a:prstClr>
            </a:outerShdw>
          </a:effectLst>
        </p:spPr>
      </p:pic>
      <p:sp>
        <p:nvSpPr>
          <p:cNvPr id="9" name="Rectangle 8">
            <a:extLst>
              <a:ext uri="{FF2B5EF4-FFF2-40B4-BE49-F238E27FC236}">
                <a16:creationId xmlns:a16="http://schemas.microsoft.com/office/drawing/2014/main" id="{0EE1CB6C-A5DA-45B0-B747-F2A070079431}"/>
              </a:ext>
            </a:extLst>
          </p:cNvPr>
          <p:cNvSpPr/>
          <p:nvPr/>
        </p:nvSpPr>
        <p:spPr>
          <a:xfrm>
            <a:off x="12801600" y="7661710"/>
            <a:ext cx="1742173" cy="548640"/>
          </a:xfrm>
          <a:prstGeom prst="rect">
            <a:avLst/>
          </a:prstGeom>
          <a:solidFill>
            <a:srgbClr val="141E24"/>
          </a:solidFill>
          <a:ln>
            <a:solidFill>
              <a:srgbClr val="141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016854" y="454462"/>
            <a:ext cx="13042821" cy="1417558"/>
          </a:xfrm>
          <a:prstGeom prst="rect">
            <a:avLst/>
          </a:prstGeom>
          <a:noFill/>
          <a:ln/>
        </p:spPr>
        <p:txBody>
          <a:bodyPr wrap="square" lIns="0" tIns="0" rIns="0" bIns="0" rtlCol="0" anchor="t"/>
          <a:lstStyle/>
          <a:p>
            <a:pPr marL="0" indent="0" algn="l">
              <a:lnSpc>
                <a:spcPts val="5550"/>
              </a:lnSpc>
              <a:buNone/>
            </a:pPr>
            <a:r>
              <a:rPr lang="en-US" sz="4450" b="1" dirty="0">
                <a:solidFill>
                  <a:srgbClr val="F0F4F1"/>
                </a:solidFill>
                <a:latin typeface="Syne Extra Bold" pitchFamily="34" charset="0"/>
                <a:ea typeface="Syne Extra Bold" pitchFamily="34" charset="-122"/>
                <a:cs typeface="Syne Extra Bold" pitchFamily="34" charset="-120"/>
              </a:rPr>
              <a:t>Multiple Linear Regression Analysis</a:t>
            </a:r>
            <a:endParaRPr lang="en-US" sz="4450" dirty="0"/>
          </a:p>
        </p:txBody>
      </p:sp>
      <p:sp>
        <p:nvSpPr>
          <p:cNvPr id="3" name="Text 1"/>
          <p:cNvSpPr/>
          <p:nvPr/>
        </p:nvSpPr>
        <p:spPr>
          <a:xfrm>
            <a:off x="1024473" y="1584780"/>
            <a:ext cx="13042821" cy="362903"/>
          </a:xfrm>
          <a:prstGeom prst="rect">
            <a:avLst/>
          </a:prstGeom>
          <a:noFill/>
          <a:ln/>
        </p:spPr>
        <p:txBody>
          <a:bodyPr wrap="none" lIns="0" tIns="0" rIns="0" bIns="0" rtlCol="0" anchor="t"/>
          <a:lstStyle/>
          <a:p>
            <a:pPr marL="0" indent="0" algn="l">
              <a:lnSpc>
                <a:spcPts val="2850"/>
              </a:lnSpc>
              <a:buNone/>
            </a:pPr>
            <a:r>
              <a:rPr lang="en-US" dirty="0">
                <a:solidFill>
                  <a:srgbClr val="D7E5D8"/>
                </a:solidFill>
                <a:latin typeface="Syne" pitchFamily="34" charset="0"/>
                <a:ea typeface="Syne" pitchFamily="34" charset="-122"/>
                <a:cs typeface="Syne" pitchFamily="34" charset="-120"/>
              </a:rPr>
              <a:t>Multiple Linear Regression Analysis of Factors Affecting Academic Performance</a:t>
            </a:r>
            <a:endParaRPr lang="en-US" dirty="0"/>
          </a:p>
        </p:txBody>
      </p:sp>
      <p:sp>
        <p:nvSpPr>
          <p:cNvPr id="4" name="Shape 2"/>
          <p:cNvSpPr/>
          <p:nvPr/>
        </p:nvSpPr>
        <p:spPr>
          <a:xfrm>
            <a:off x="1161633" y="2739991"/>
            <a:ext cx="6244709" cy="3955256"/>
          </a:xfrm>
          <a:prstGeom prst="roundRect">
            <a:avLst>
              <a:gd name="adj" fmla="val 2409"/>
            </a:avLst>
          </a:prstGeom>
          <a:noFill/>
          <a:ln w="7620">
            <a:solidFill>
              <a:srgbClr val="FFFFFF">
                <a:alpha val="24000"/>
              </a:srgbClr>
            </a:solidFill>
            <a:prstDash val="solid"/>
          </a:ln>
        </p:spPr>
      </p:sp>
      <p:sp>
        <p:nvSpPr>
          <p:cNvPr id="5" name="Text 3"/>
          <p:cNvSpPr/>
          <p:nvPr/>
        </p:nvSpPr>
        <p:spPr>
          <a:xfrm>
            <a:off x="1388567" y="3012171"/>
            <a:ext cx="2657237" cy="362903"/>
          </a:xfrm>
          <a:prstGeom prst="rect">
            <a:avLst/>
          </a:prstGeom>
          <a:noFill/>
          <a:ln/>
        </p:spPr>
        <p:txBody>
          <a:bodyPr wrap="none" lIns="0" tIns="0" rIns="0" bIns="0" rtlCol="0" anchor="t"/>
          <a:lstStyle/>
          <a:p>
            <a:pPr marL="0" indent="0" algn="l">
              <a:lnSpc>
                <a:spcPts val="2850"/>
              </a:lnSpc>
              <a:buNone/>
            </a:pPr>
            <a:r>
              <a:rPr lang="en-US" sz="2400" b="1" dirty="0">
                <a:solidFill>
                  <a:srgbClr val="D7E5D8"/>
                </a:solidFill>
                <a:latin typeface="Syne" pitchFamily="34" charset="0"/>
                <a:ea typeface="Syne" pitchFamily="34" charset="-122"/>
                <a:cs typeface="Syne" pitchFamily="34" charset="-120"/>
              </a:rPr>
              <a:t>Statistic</a:t>
            </a:r>
            <a:endParaRPr lang="en-US" sz="2400" dirty="0"/>
          </a:p>
        </p:txBody>
      </p:sp>
      <p:sp>
        <p:nvSpPr>
          <p:cNvPr id="6" name="Text 4"/>
          <p:cNvSpPr/>
          <p:nvPr/>
        </p:nvSpPr>
        <p:spPr>
          <a:xfrm>
            <a:off x="4507052" y="3012171"/>
            <a:ext cx="2657237" cy="362903"/>
          </a:xfrm>
          <a:prstGeom prst="rect">
            <a:avLst/>
          </a:prstGeom>
          <a:noFill/>
          <a:ln/>
        </p:spPr>
        <p:txBody>
          <a:bodyPr wrap="none" lIns="0" tIns="0" rIns="0" bIns="0" rtlCol="0" anchor="t"/>
          <a:lstStyle/>
          <a:p>
            <a:pPr marL="0" indent="0" algn="l">
              <a:lnSpc>
                <a:spcPts val="2850"/>
              </a:lnSpc>
              <a:buNone/>
            </a:pPr>
            <a:r>
              <a:rPr lang="en-US" sz="2400" b="1" dirty="0">
                <a:solidFill>
                  <a:srgbClr val="D7E5D8"/>
                </a:solidFill>
                <a:latin typeface="Syne" pitchFamily="34" charset="0"/>
                <a:ea typeface="Syne" pitchFamily="34" charset="-122"/>
                <a:cs typeface="Syne" pitchFamily="34" charset="-120"/>
              </a:rPr>
              <a:t>Value</a:t>
            </a:r>
            <a:endParaRPr lang="en-US" sz="2400" dirty="0"/>
          </a:p>
        </p:txBody>
      </p:sp>
      <p:sp>
        <p:nvSpPr>
          <p:cNvPr id="7" name="Text 5"/>
          <p:cNvSpPr/>
          <p:nvPr/>
        </p:nvSpPr>
        <p:spPr>
          <a:xfrm>
            <a:off x="1388567" y="3670110"/>
            <a:ext cx="2657237" cy="362903"/>
          </a:xfrm>
          <a:prstGeom prst="rect">
            <a:avLst/>
          </a:prstGeom>
          <a:noFill/>
          <a:ln/>
        </p:spPr>
        <p:txBody>
          <a:bodyPr wrap="none" lIns="0" tIns="0" rIns="0" bIns="0" rtlCol="0" anchor="t"/>
          <a:lstStyle/>
          <a:p>
            <a:pPr marL="0" indent="0" algn="l">
              <a:lnSpc>
                <a:spcPts val="2850"/>
              </a:lnSpc>
              <a:buNone/>
            </a:pPr>
            <a:r>
              <a:rPr lang="en-US" sz="2400" dirty="0">
                <a:solidFill>
                  <a:srgbClr val="D7E5D8"/>
                </a:solidFill>
                <a:latin typeface="Syne" pitchFamily="34" charset="0"/>
                <a:ea typeface="Syne" pitchFamily="34" charset="-122"/>
                <a:cs typeface="Syne" pitchFamily="34" charset="-120"/>
              </a:rPr>
              <a:t>R²</a:t>
            </a:r>
            <a:endParaRPr lang="en-US" sz="2400" dirty="0"/>
          </a:p>
        </p:txBody>
      </p:sp>
      <p:sp>
        <p:nvSpPr>
          <p:cNvPr id="8" name="Text 6"/>
          <p:cNvSpPr/>
          <p:nvPr/>
        </p:nvSpPr>
        <p:spPr>
          <a:xfrm>
            <a:off x="4507052" y="3670110"/>
            <a:ext cx="2657237" cy="362903"/>
          </a:xfrm>
          <a:prstGeom prst="rect">
            <a:avLst/>
          </a:prstGeom>
          <a:noFill/>
          <a:ln/>
        </p:spPr>
        <p:txBody>
          <a:bodyPr wrap="none" lIns="0" tIns="0" rIns="0" bIns="0" rtlCol="0" anchor="t"/>
          <a:lstStyle/>
          <a:p>
            <a:pPr marL="0" indent="0" algn="l">
              <a:lnSpc>
                <a:spcPts val="2850"/>
              </a:lnSpc>
              <a:buNone/>
            </a:pPr>
            <a:r>
              <a:rPr lang="en-US" sz="2400" dirty="0">
                <a:solidFill>
                  <a:srgbClr val="D7E5D8"/>
                </a:solidFill>
                <a:latin typeface="Syne" pitchFamily="34" charset="0"/>
                <a:ea typeface="Syne" pitchFamily="34" charset="-122"/>
                <a:cs typeface="Syne" pitchFamily="34" charset="-120"/>
              </a:rPr>
              <a:t>0.122</a:t>
            </a:r>
            <a:endParaRPr lang="en-US" sz="2400" dirty="0"/>
          </a:p>
        </p:txBody>
      </p:sp>
      <p:sp>
        <p:nvSpPr>
          <p:cNvPr id="9" name="Text 7"/>
          <p:cNvSpPr/>
          <p:nvPr/>
        </p:nvSpPr>
        <p:spPr>
          <a:xfrm>
            <a:off x="1388567" y="4328049"/>
            <a:ext cx="2657237" cy="362903"/>
          </a:xfrm>
          <a:prstGeom prst="rect">
            <a:avLst/>
          </a:prstGeom>
          <a:noFill/>
          <a:ln/>
        </p:spPr>
        <p:txBody>
          <a:bodyPr wrap="none" lIns="0" tIns="0" rIns="0" bIns="0" rtlCol="0" anchor="t"/>
          <a:lstStyle/>
          <a:p>
            <a:pPr marL="0" indent="0" algn="l">
              <a:lnSpc>
                <a:spcPts val="2850"/>
              </a:lnSpc>
              <a:buNone/>
            </a:pPr>
            <a:r>
              <a:rPr lang="en-US" sz="2400" dirty="0">
                <a:solidFill>
                  <a:srgbClr val="D7E5D8"/>
                </a:solidFill>
                <a:latin typeface="Syne" pitchFamily="34" charset="0"/>
                <a:ea typeface="Syne" pitchFamily="34" charset="-122"/>
                <a:cs typeface="Syne" pitchFamily="34" charset="-120"/>
              </a:rPr>
              <a:t>Adjusted R²</a:t>
            </a:r>
            <a:endParaRPr lang="en-US" sz="2400" dirty="0"/>
          </a:p>
        </p:txBody>
      </p:sp>
      <p:sp>
        <p:nvSpPr>
          <p:cNvPr id="10" name="Text 8"/>
          <p:cNvSpPr/>
          <p:nvPr/>
        </p:nvSpPr>
        <p:spPr>
          <a:xfrm>
            <a:off x="4507052" y="4328049"/>
            <a:ext cx="2657237" cy="362903"/>
          </a:xfrm>
          <a:prstGeom prst="rect">
            <a:avLst/>
          </a:prstGeom>
          <a:noFill/>
          <a:ln/>
        </p:spPr>
        <p:txBody>
          <a:bodyPr wrap="none" lIns="0" tIns="0" rIns="0" bIns="0" rtlCol="0" anchor="t"/>
          <a:lstStyle/>
          <a:p>
            <a:pPr marL="0" indent="0" algn="l">
              <a:lnSpc>
                <a:spcPts val="2850"/>
              </a:lnSpc>
              <a:buNone/>
            </a:pPr>
            <a:r>
              <a:rPr lang="en-US" sz="2400" dirty="0">
                <a:solidFill>
                  <a:srgbClr val="D7E5D8"/>
                </a:solidFill>
                <a:latin typeface="Syne" pitchFamily="34" charset="0"/>
                <a:ea typeface="Syne" pitchFamily="34" charset="-122"/>
                <a:cs typeface="Syne" pitchFamily="34" charset="-120"/>
              </a:rPr>
              <a:t>0.083</a:t>
            </a:r>
            <a:endParaRPr lang="en-US" sz="2400" dirty="0"/>
          </a:p>
        </p:txBody>
      </p:sp>
      <p:sp>
        <p:nvSpPr>
          <p:cNvPr id="11" name="Text 9"/>
          <p:cNvSpPr/>
          <p:nvPr/>
        </p:nvSpPr>
        <p:spPr>
          <a:xfrm>
            <a:off x="1388567" y="4985989"/>
            <a:ext cx="2657237" cy="362903"/>
          </a:xfrm>
          <a:prstGeom prst="rect">
            <a:avLst/>
          </a:prstGeom>
          <a:noFill/>
          <a:ln/>
        </p:spPr>
        <p:txBody>
          <a:bodyPr wrap="none" lIns="0" tIns="0" rIns="0" bIns="0" rtlCol="0" anchor="t"/>
          <a:lstStyle/>
          <a:p>
            <a:pPr marL="0" indent="0" algn="l">
              <a:lnSpc>
                <a:spcPts val="2850"/>
              </a:lnSpc>
              <a:buNone/>
            </a:pPr>
            <a:r>
              <a:rPr lang="en-US" sz="2400" dirty="0">
                <a:solidFill>
                  <a:srgbClr val="D7E5D8"/>
                </a:solidFill>
                <a:latin typeface="Syne" pitchFamily="34" charset="0"/>
                <a:ea typeface="Syne" pitchFamily="34" charset="-122"/>
                <a:cs typeface="Syne" pitchFamily="34" charset="-120"/>
              </a:rPr>
              <a:t>F-Statistic</a:t>
            </a:r>
            <a:endParaRPr lang="en-US" sz="2400" dirty="0"/>
          </a:p>
        </p:txBody>
      </p:sp>
      <p:sp>
        <p:nvSpPr>
          <p:cNvPr id="12" name="Text 10"/>
          <p:cNvSpPr/>
          <p:nvPr/>
        </p:nvSpPr>
        <p:spPr>
          <a:xfrm>
            <a:off x="4507052" y="4985989"/>
            <a:ext cx="2657237" cy="362903"/>
          </a:xfrm>
          <a:prstGeom prst="rect">
            <a:avLst/>
          </a:prstGeom>
          <a:noFill/>
          <a:ln/>
        </p:spPr>
        <p:txBody>
          <a:bodyPr wrap="none" lIns="0" tIns="0" rIns="0" bIns="0" rtlCol="0" anchor="t"/>
          <a:lstStyle/>
          <a:p>
            <a:pPr marL="0" indent="0" algn="l">
              <a:lnSpc>
                <a:spcPts val="2850"/>
              </a:lnSpc>
              <a:buNone/>
            </a:pPr>
            <a:r>
              <a:rPr lang="en-US" sz="2400" dirty="0">
                <a:solidFill>
                  <a:srgbClr val="D7E5D8"/>
                </a:solidFill>
                <a:latin typeface="Syne" pitchFamily="34" charset="0"/>
                <a:ea typeface="Syne" pitchFamily="34" charset="-122"/>
                <a:cs typeface="Syne" pitchFamily="34" charset="-120"/>
              </a:rPr>
              <a:t>3.115</a:t>
            </a:r>
            <a:endParaRPr lang="en-US" sz="2400" dirty="0"/>
          </a:p>
        </p:txBody>
      </p:sp>
      <p:sp>
        <p:nvSpPr>
          <p:cNvPr id="13" name="Text 11"/>
          <p:cNvSpPr/>
          <p:nvPr/>
        </p:nvSpPr>
        <p:spPr>
          <a:xfrm>
            <a:off x="1388567" y="5643928"/>
            <a:ext cx="2657237" cy="362903"/>
          </a:xfrm>
          <a:prstGeom prst="rect">
            <a:avLst/>
          </a:prstGeom>
          <a:noFill/>
          <a:ln/>
        </p:spPr>
        <p:txBody>
          <a:bodyPr wrap="none" lIns="0" tIns="0" rIns="0" bIns="0" rtlCol="0" anchor="t"/>
          <a:lstStyle/>
          <a:p>
            <a:pPr marL="0" indent="0" algn="l">
              <a:lnSpc>
                <a:spcPts val="2850"/>
              </a:lnSpc>
              <a:buNone/>
            </a:pPr>
            <a:r>
              <a:rPr lang="en-US" sz="2400" dirty="0">
                <a:solidFill>
                  <a:srgbClr val="D7E5D8"/>
                </a:solidFill>
                <a:latin typeface="Syne" pitchFamily="34" charset="0"/>
                <a:ea typeface="Syne" pitchFamily="34" charset="-122"/>
                <a:cs typeface="Syne" pitchFamily="34" charset="-120"/>
              </a:rPr>
              <a:t>p-value</a:t>
            </a:r>
            <a:endParaRPr lang="en-US" sz="2400" dirty="0"/>
          </a:p>
        </p:txBody>
      </p:sp>
      <p:sp>
        <p:nvSpPr>
          <p:cNvPr id="14" name="Text 12"/>
          <p:cNvSpPr/>
          <p:nvPr/>
        </p:nvSpPr>
        <p:spPr>
          <a:xfrm>
            <a:off x="4507052" y="5643928"/>
            <a:ext cx="2657237" cy="362903"/>
          </a:xfrm>
          <a:prstGeom prst="rect">
            <a:avLst/>
          </a:prstGeom>
          <a:noFill/>
          <a:ln/>
        </p:spPr>
        <p:txBody>
          <a:bodyPr wrap="none" lIns="0" tIns="0" rIns="0" bIns="0" rtlCol="0" anchor="t"/>
          <a:lstStyle/>
          <a:p>
            <a:pPr marL="0" indent="0" algn="l">
              <a:lnSpc>
                <a:spcPts val="2850"/>
              </a:lnSpc>
              <a:buNone/>
            </a:pPr>
            <a:r>
              <a:rPr lang="en-US" sz="2400" dirty="0">
                <a:solidFill>
                  <a:srgbClr val="D7E5D8"/>
                </a:solidFill>
                <a:latin typeface="Syne" pitchFamily="34" charset="0"/>
                <a:ea typeface="Syne" pitchFamily="34" charset="-122"/>
                <a:cs typeface="Syne" pitchFamily="34" charset="-120"/>
              </a:rPr>
              <a:t>0.000369</a:t>
            </a:r>
            <a:endParaRPr lang="en-US" sz="2400" dirty="0"/>
          </a:p>
        </p:txBody>
      </p:sp>
      <p:sp>
        <p:nvSpPr>
          <p:cNvPr id="15" name="Text 13"/>
          <p:cNvSpPr/>
          <p:nvPr/>
        </p:nvSpPr>
        <p:spPr>
          <a:xfrm>
            <a:off x="1388567" y="6301868"/>
            <a:ext cx="2657237" cy="362903"/>
          </a:xfrm>
          <a:prstGeom prst="rect">
            <a:avLst/>
          </a:prstGeom>
          <a:noFill/>
          <a:ln/>
        </p:spPr>
        <p:txBody>
          <a:bodyPr wrap="none" lIns="0" tIns="0" rIns="0" bIns="0" rtlCol="0" anchor="t"/>
          <a:lstStyle/>
          <a:p>
            <a:pPr marL="0" indent="0" algn="l">
              <a:lnSpc>
                <a:spcPts val="2850"/>
              </a:lnSpc>
              <a:buNone/>
            </a:pPr>
            <a:r>
              <a:rPr lang="en-US" sz="2400" dirty="0">
                <a:solidFill>
                  <a:srgbClr val="D7E5D8"/>
                </a:solidFill>
                <a:latin typeface="Syne" pitchFamily="34" charset="0"/>
                <a:ea typeface="Syne" pitchFamily="34" charset="-122"/>
                <a:cs typeface="Syne" pitchFamily="34" charset="-120"/>
              </a:rPr>
              <a:t>Observations</a:t>
            </a:r>
            <a:endParaRPr lang="en-US" sz="2400" dirty="0"/>
          </a:p>
        </p:txBody>
      </p:sp>
      <p:sp>
        <p:nvSpPr>
          <p:cNvPr id="16" name="Text 14"/>
          <p:cNvSpPr/>
          <p:nvPr/>
        </p:nvSpPr>
        <p:spPr>
          <a:xfrm>
            <a:off x="4507052" y="6301868"/>
            <a:ext cx="2657237" cy="362903"/>
          </a:xfrm>
          <a:prstGeom prst="rect">
            <a:avLst/>
          </a:prstGeom>
          <a:noFill/>
          <a:ln/>
        </p:spPr>
        <p:txBody>
          <a:bodyPr wrap="none" lIns="0" tIns="0" rIns="0" bIns="0" rtlCol="0" anchor="t"/>
          <a:lstStyle/>
          <a:p>
            <a:pPr marL="0" indent="0" algn="l">
              <a:lnSpc>
                <a:spcPts val="2850"/>
              </a:lnSpc>
              <a:buNone/>
            </a:pPr>
            <a:r>
              <a:rPr lang="en-US" sz="2400" dirty="0">
                <a:solidFill>
                  <a:srgbClr val="D7E5D8"/>
                </a:solidFill>
                <a:latin typeface="Syne" pitchFamily="34" charset="0"/>
                <a:ea typeface="Syne" pitchFamily="34" charset="-122"/>
                <a:cs typeface="Syne" pitchFamily="34" charset="-120"/>
              </a:rPr>
              <a:t>283</a:t>
            </a:r>
            <a:endParaRPr lang="en-US" sz="2400" dirty="0"/>
          </a:p>
        </p:txBody>
      </p:sp>
      <p:sp>
        <p:nvSpPr>
          <p:cNvPr id="17" name="Text 15"/>
          <p:cNvSpPr/>
          <p:nvPr/>
        </p:nvSpPr>
        <p:spPr>
          <a:xfrm>
            <a:off x="7959745" y="2809764"/>
            <a:ext cx="6244709" cy="3705336"/>
          </a:xfrm>
          <a:prstGeom prst="rect">
            <a:avLst/>
          </a:prstGeom>
          <a:noFill/>
          <a:ln/>
        </p:spPr>
        <p:txBody>
          <a:bodyPr wrap="square" lIns="0" tIns="0" rIns="0" bIns="0" rtlCol="0" anchor="t"/>
          <a:lstStyle/>
          <a:p>
            <a:pPr marL="0" indent="0" algn="just">
              <a:lnSpc>
                <a:spcPts val="2850"/>
              </a:lnSpc>
              <a:buNone/>
            </a:pPr>
            <a:r>
              <a:rPr lang="en-US" sz="2000" b="1" dirty="0">
                <a:solidFill>
                  <a:srgbClr val="D7E5D8"/>
                </a:solidFill>
                <a:latin typeface="Syne" pitchFamily="34" charset="0"/>
                <a:ea typeface="Syne" pitchFamily="34" charset="-122"/>
                <a:cs typeface="Syne" pitchFamily="34" charset="-120"/>
              </a:rPr>
              <a:t>Interpretation:</a:t>
            </a:r>
            <a:r>
              <a:rPr lang="en-US" sz="2000" dirty="0">
                <a:solidFill>
                  <a:srgbClr val="D7E5D8"/>
                </a:solidFill>
                <a:latin typeface="Syne" pitchFamily="34" charset="0"/>
                <a:ea typeface="Syne" pitchFamily="34" charset="-122"/>
                <a:cs typeface="Syne" pitchFamily="34" charset="-120"/>
              </a:rPr>
              <a:t> The regression model was found to be statistically significant, indicating that the selected variables collectively influence academic performance. Among all the variables, internal performance emerged as the most significant predictor, showing a strong positive impact on students' academic achievement. Other factors such as study hours, attendance, stress, sleep, motivation, and family income showed comparatively weaker effects.</a:t>
            </a:r>
            <a:endParaRPr lang="en-US" sz="2000" dirty="0"/>
          </a:p>
        </p:txBody>
      </p:sp>
      <p:sp>
        <p:nvSpPr>
          <p:cNvPr id="18" name="Rectangle 17">
            <a:extLst>
              <a:ext uri="{FF2B5EF4-FFF2-40B4-BE49-F238E27FC236}">
                <a16:creationId xmlns:a16="http://schemas.microsoft.com/office/drawing/2014/main" id="{81259558-883A-43DE-B21B-41033830E56B}"/>
              </a:ext>
            </a:extLst>
          </p:cNvPr>
          <p:cNvSpPr/>
          <p:nvPr/>
        </p:nvSpPr>
        <p:spPr>
          <a:xfrm>
            <a:off x="12801600" y="7661710"/>
            <a:ext cx="1742173" cy="548640"/>
          </a:xfrm>
          <a:prstGeom prst="rect">
            <a:avLst/>
          </a:prstGeom>
          <a:solidFill>
            <a:srgbClr val="141E24"/>
          </a:solidFill>
          <a:ln>
            <a:solidFill>
              <a:srgbClr val="141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81407" y="320159"/>
            <a:ext cx="5582007" cy="697706"/>
          </a:xfrm>
          <a:prstGeom prst="rect">
            <a:avLst/>
          </a:prstGeom>
          <a:noFill/>
          <a:ln/>
        </p:spPr>
        <p:txBody>
          <a:bodyPr wrap="none" lIns="0" tIns="0" rIns="0" bIns="0" rtlCol="0" anchor="t"/>
          <a:lstStyle/>
          <a:p>
            <a:pPr marL="0" indent="0" algn="l">
              <a:lnSpc>
                <a:spcPts val="5450"/>
              </a:lnSpc>
              <a:buNone/>
            </a:pPr>
            <a:r>
              <a:rPr lang="en-US" sz="4350" b="1" dirty="0">
                <a:solidFill>
                  <a:srgbClr val="F0F4F1"/>
                </a:solidFill>
                <a:latin typeface="Syne Extra Bold" pitchFamily="34" charset="0"/>
                <a:ea typeface="Syne Extra Bold" pitchFamily="34" charset="-122"/>
                <a:cs typeface="Syne Extra Bold" pitchFamily="34" charset="-120"/>
              </a:rPr>
              <a:t>Objective 2 -</a:t>
            </a:r>
            <a:endParaRPr lang="en-US" sz="4350" dirty="0"/>
          </a:p>
        </p:txBody>
      </p:sp>
      <p:sp>
        <p:nvSpPr>
          <p:cNvPr id="3" name="Text 1"/>
          <p:cNvSpPr/>
          <p:nvPr/>
        </p:nvSpPr>
        <p:spPr>
          <a:xfrm>
            <a:off x="5014673" y="566497"/>
            <a:ext cx="7485579" cy="466607"/>
          </a:xfrm>
          <a:prstGeom prst="rect">
            <a:avLst/>
          </a:prstGeom>
          <a:noFill/>
          <a:ln/>
        </p:spPr>
        <p:txBody>
          <a:bodyPr wrap="none" lIns="0" tIns="0" rIns="0" bIns="0" rtlCol="0" anchor="t"/>
          <a:lstStyle/>
          <a:p>
            <a:pPr marL="0" indent="0" algn="l">
              <a:lnSpc>
                <a:spcPts val="2750"/>
              </a:lnSpc>
              <a:buNone/>
            </a:pPr>
            <a:r>
              <a:rPr lang="en-US" b="1" dirty="0">
                <a:solidFill>
                  <a:srgbClr val="D7E5D8"/>
                </a:solidFill>
                <a:latin typeface="Syne" pitchFamily="34" charset="0"/>
                <a:ea typeface="Syne" pitchFamily="34" charset="-122"/>
                <a:cs typeface="Syne" pitchFamily="34" charset="-120"/>
              </a:rPr>
              <a:t>To Identify Student Difficulties in Their Studies Using Their Information</a:t>
            </a:r>
            <a:endParaRPr lang="en-US" b="1" dirty="0"/>
          </a:p>
        </p:txBody>
      </p:sp>
      <p:sp>
        <p:nvSpPr>
          <p:cNvPr id="4" name="Text 2"/>
          <p:cNvSpPr/>
          <p:nvPr/>
        </p:nvSpPr>
        <p:spPr>
          <a:xfrm>
            <a:off x="830223" y="1229439"/>
            <a:ext cx="12969954" cy="348853"/>
          </a:xfrm>
          <a:prstGeom prst="rect">
            <a:avLst/>
          </a:prstGeom>
          <a:noFill/>
          <a:ln/>
        </p:spPr>
        <p:txBody>
          <a:bodyPr wrap="none" lIns="0" tIns="0" rIns="0" bIns="0" rtlCol="0" anchor="t"/>
          <a:lstStyle/>
          <a:p>
            <a:pPr marL="0" indent="0" algn="l">
              <a:lnSpc>
                <a:spcPts val="2700"/>
              </a:lnSpc>
              <a:buNone/>
            </a:pPr>
            <a:r>
              <a:rPr lang="en-US" sz="2150" b="1" dirty="0">
                <a:solidFill>
                  <a:srgbClr val="F0F4F1"/>
                </a:solidFill>
                <a:latin typeface="Syne Extra Bold" pitchFamily="34" charset="0"/>
                <a:ea typeface="Syne Extra Bold" pitchFamily="34" charset="-122"/>
                <a:cs typeface="Syne Extra Bold" pitchFamily="34" charset="-120"/>
              </a:rPr>
              <a:t>Frequency and Percentage Analysis of Student Challenges</a:t>
            </a:r>
            <a:endParaRPr lang="en-US" sz="2150" dirty="0"/>
          </a:p>
        </p:txBody>
      </p:sp>
      <p:sp>
        <p:nvSpPr>
          <p:cNvPr id="8" name="Text 5"/>
          <p:cNvSpPr/>
          <p:nvPr/>
        </p:nvSpPr>
        <p:spPr>
          <a:xfrm>
            <a:off x="427077" y="5653630"/>
            <a:ext cx="13067586" cy="354330"/>
          </a:xfrm>
          <a:prstGeom prst="rect">
            <a:avLst/>
          </a:prstGeom>
          <a:noFill/>
          <a:ln/>
        </p:spPr>
        <p:txBody>
          <a:bodyPr wrap="none" lIns="0" tIns="0" rIns="0" bIns="0" rtlCol="0" anchor="t"/>
          <a:lstStyle/>
          <a:p>
            <a:pPr marL="0" indent="0" algn="l">
              <a:lnSpc>
                <a:spcPts val="2750"/>
              </a:lnSpc>
              <a:buNone/>
            </a:pPr>
            <a:r>
              <a:rPr lang="en-US" sz="1750" b="1" dirty="0">
                <a:solidFill>
                  <a:srgbClr val="D7E5D8"/>
                </a:solidFill>
                <a:latin typeface="Syne" pitchFamily="34" charset="0"/>
                <a:ea typeface="Syne" pitchFamily="34" charset="-122"/>
                <a:cs typeface="Syne" pitchFamily="34" charset="-120"/>
              </a:rPr>
              <a:t>Interpretations:</a:t>
            </a:r>
            <a:endParaRPr lang="en-US" sz="1750" dirty="0"/>
          </a:p>
        </p:txBody>
      </p:sp>
      <p:sp>
        <p:nvSpPr>
          <p:cNvPr id="9" name="Text 6"/>
          <p:cNvSpPr/>
          <p:nvPr/>
        </p:nvSpPr>
        <p:spPr>
          <a:xfrm>
            <a:off x="941427" y="6015040"/>
            <a:ext cx="13067586" cy="1648063"/>
          </a:xfrm>
          <a:prstGeom prst="rect">
            <a:avLst/>
          </a:prstGeom>
          <a:noFill/>
          <a:ln/>
        </p:spPr>
        <p:txBody>
          <a:bodyPr wrap="square" lIns="0" tIns="0" rIns="0" bIns="0" rtlCol="0" anchor="t"/>
          <a:lstStyle/>
          <a:p>
            <a:pPr marL="342900" indent="-342900" algn="l">
              <a:lnSpc>
                <a:spcPts val="2750"/>
              </a:lnSpc>
              <a:buSzPct val="100000"/>
              <a:buChar char="•"/>
            </a:pPr>
            <a:r>
              <a:rPr lang="en-US" sz="1750" dirty="0">
                <a:solidFill>
                  <a:srgbClr val="D7E5D8"/>
                </a:solidFill>
                <a:latin typeface="Syne" pitchFamily="34" charset="0"/>
                <a:ea typeface="Syne" pitchFamily="34" charset="-122"/>
                <a:cs typeface="Syne" pitchFamily="34" charset="-120"/>
              </a:rPr>
              <a:t>Frequency and percentage distribution of challenge scores were calculated.</a:t>
            </a:r>
            <a:endParaRPr lang="en-US" sz="1750" dirty="0"/>
          </a:p>
          <a:p>
            <a:pPr marL="342900" indent="-342900" algn="l">
              <a:lnSpc>
                <a:spcPts val="2750"/>
              </a:lnSpc>
              <a:buSzPct val="100000"/>
              <a:buChar char="•"/>
            </a:pPr>
            <a:r>
              <a:rPr lang="en-US" sz="1750" dirty="0">
                <a:solidFill>
                  <a:srgbClr val="D7E5D8"/>
                </a:solidFill>
                <a:latin typeface="Syne" pitchFamily="34" charset="0"/>
                <a:ea typeface="Syne" pitchFamily="34" charset="-122"/>
                <a:cs typeface="Syne" pitchFamily="34" charset="-120"/>
              </a:rPr>
              <a:t>The majority of students fall in the moderate challenge score range.</a:t>
            </a:r>
            <a:endParaRPr lang="en-US" sz="1750" dirty="0"/>
          </a:p>
          <a:p>
            <a:pPr marL="342900" indent="-342900" algn="l">
              <a:lnSpc>
                <a:spcPts val="2750"/>
              </a:lnSpc>
              <a:buSzPct val="100000"/>
              <a:buChar char="•"/>
            </a:pPr>
            <a:r>
              <a:rPr lang="en-US" sz="1750" dirty="0">
                <a:solidFill>
                  <a:srgbClr val="D7E5D8"/>
                </a:solidFill>
                <a:latin typeface="Syne" pitchFamily="34" charset="0"/>
                <a:ea typeface="Syne" pitchFamily="34" charset="-122"/>
                <a:cs typeface="Syne" pitchFamily="34" charset="-120"/>
              </a:rPr>
              <a:t>A smaller number of students experience low levels of challenges.</a:t>
            </a:r>
            <a:endParaRPr lang="en-US" sz="1750" dirty="0"/>
          </a:p>
          <a:p>
            <a:pPr marL="342900" indent="-342900" algn="l">
              <a:lnSpc>
                <a:spcPts val="2750"/>
              </a:lnSpc>
              <a:buSzPct val="100000"/>
              <a:buChar char="•"/>
            </a:pPr>
            <a:r>
              <a:rPr lang="en-US" sz="1750" dirty="0">
                <a:solidFill>
                  <a:srgbClr val="D7E5D8"/>
                </a:solidFill>
                <a:latin typeface="Syne" pitchFamily="34" charset="0"/>
                <a:ea typeface="Syne" pitchFamily="34" charset="-122"/>
                <a:cs typeface="Syne" pitchFamily="34" charset="-120"/>
              </a:rPr>
              <a:t>Very few students face high levels of challenges.</a:t>
            </a:r>
            <a:endParaRPr lang="en-US" sz="1750" dirty="0"/>
          </a:p>
        </p:txBody>
      </p:sp>
      <p:sp>
        <p:nvSpPr>
          <p:cNvPr id="10" name="Text 7"/>
          <p:cNvSpPr/>
          <p:nvPr/>
        </p:nvSpPr>
        <p:spPr>
          <a:xfrm>
            <a:off x="781407" y="7555111"/>
            <a:ext cx="13067586" cy="354330"/>
          </a:xfrm>
          <a:prstGeom prst="rect">
            <a:avLst/>
          </a:prstGeom>
          <a:noFill/>
          <a:ln/>
        </p:spPr>
        <p:txBody>
          <a:bodyPr wrap="none" lIns="0" tIns="0" rIns="0" bIns="0" rtlCol="0" anchor="t"/>
          <a:lstStyle/>
          <a:p>
            <a:pPr marL="0" indent="0" algn="l">
              <a:lnSpc>
                <a:spcPts val="2750"/>
              </a:lnSpc>
              <a:buNone/>
            </a:pPr>
            <a:r>
              <a:rPr lang="en-US" sz="1750" dirty="0">
                <a:solidFill>
                  <a:srgbClr val="D7E5D8"/>
                </a:solidFill>
                <a:latin typeface="Syne" pitchFamily="34" charset="0"/>
                <a:ea typeface="Syne" pitchFamily="34" charset="-122"/>
                <a:cs typeface="Syne" pitchFamily="34" charset="-120"/>
              </a:rPr>
              <a:t>Overall, it indicates that most students experience a moderate level of academic and personal challenges.</a:t>
            </a:r>
            <a:endParaRPr lang="en-US" sz="1750" dirty="0"/>
          </a:p>
        </p:txBody>
      </p:sp>
      <p:pic>
        <p:nvPicPr>
          <p:cNvPr id="11" name="Picture 10" descr="C:\Users\hp\AppData\Local\Microsoft\Windows\INetCache\Content.MSO\9A3E99EA.tmp">
            <a:extLst>
              <a:ext uri="{FF2B5EF4-FFF2-40B4-BE49-F238E27FC236}">
                <a16:creationId xmlns:a16="http://schemas.microsoft.com/office/drawing/2014/main" id="{97ECE28C-29D4-41F4-84AD-A59E21B60F0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014672" y="1806997"/>
            <a:ext cx="5592367" cy="3846633"/>
          </a:xfrm>
          <a:prstGeom prst="rect">
            <a:avLst/>
          </a:prstGeom>
          <a:noFill/>
          <a:ln>
            <a:solidFill>
              <a:schemeClr val="tx1"/>
            </a:solidFill>
          </a:ln>
          <a:effectLst>
            <a:outerShdw blurRad="50800" dist="38100" dir="2700000" algn="tl" rotWithShape="0">
              <a:prstClr val="black">
                <a:alpha val="40000"/>
              </a:prstClr>
            </a:outerShdw>
          </a:effectLst>
        </p:spPr>
      </p:pic>
      <p:sp>
        <p:nvSpPr>
          <p:cNvPr id="12" name="Rectangle 11">
            <a:extLst>
              <a:ext uri="{FF2B5EF4-FFF2-40B4-BE49-F238E27FC236}">
                <a16:creationId xmlns:a16="http://schemas.microsoft.com/office/drawing/2014/main" id="{64122F3E-C104-44CD-A12C-779F7139B655}"/>
              </a:ext>
            </a:extLst>
          </p:cNvPr>
          <p:cNvSpPr/>
          <p:nvPr/>
        </p:nvSpPr>
        <p:spPr>
          <a:xfrm>
            <a:off x="12801600" y="7661710"/>
            <a:ext cx="1742173" cy="548640"/>
          </a:xfrm>
          <a:prstGeom prst="rect">
            <a:avLst/>
          </a:prstGeom>
          <a:solidFill>
            <a:srgbClr val="141E24"/>
          </a:solidFill>
          <a:ln>
            <a:solidFill>
              <a:srgbClr val="141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56642" y="732473"/>
            <a:ext cx="6122432" cy="439102"/>
          </a:xfrm>
          <a:prstGeom prst="rect">
            <a:avLst/>
          </a:prstGeom>
          <a:noFill/>
          <a:ln/>
        </p:spPr>
        <p:txBody>
          <a:bodyPr wrap="none" lIns="0" tIns="0" rIns="0" bIns="0" rtlCol="0" anchor="t"/>
          <a:lstStyle/>
          <a:p>
            <a:pPr marL="0" indent="0" algn="l">
              <a:lnSpc>
                <a:spcPts val="3450"/>
              </a:lnSpc>
              <a:buNone/>
            </a:pPr>
            <a:r>
              <a:rPr lang="en-US" sz="2750" b="1" dirty="0">
                <a:solidFill>
                  <a:srgbClr val="F0F4F1"/>
                </a:solidFill>
                <a:latin typeface="Syne Extra Bold" pitchFamily="34" charset="0"/>
                <a:ea typeface="Syne Extra Bold" pitchFamily="34" charset="-122"/>
                <a:cs typeface="Syne Extra Bold" pitchFamily="34" charset="-120"/>
              </a:rPr>
              <a:t>Comparative Analysis</a:t>
            </a:r>
            <a:endParaRPr lang="en-US" sz="2750" dirty="0"/>
          </a:p>
        </p:txBody>
      </p:sp>
      <p:sp>
        <p:nvSpPr>
          <p:cNvPr id="3" name="Text 1"/>
          <p:cNvSpPr/>
          <p:nvPr/>
        </p:nvSpPr>
        <p:spPr>
          <a:xfrm>
            <a:off x="756642" y="1345644"/>
            <a:ext cx="1311711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Overall, students face a moderate level of challenges, with a mean challenge score of </a:t>
            </a:r>
            <a:r>
              <a:rPr lang="en-US" sz="1400" b="1" dirty="0">
                <a:solidFill>
                  <a:srgbClr val="D7E5D8"/>
                </a:solidFill>
                <a:latin typeface="Syne" pitchFamily="34" charset="0"/>
                <a:ea typeface="Syne" pitchFamily="34" charset="-122"/>
                <a:cs typeface="Syne" pitchFamily="34" charset="-120"/>
              </a:rPr>
              <a:t>7.37</a:t>
            </a:r>
            <a:r>
              <a:rPr lang="en-US" sz="1400" dirty="0">
                <a:solidFill>
                  <a:srgbClr val="D7E5D8"/>
                </a:solidFill>
                <a:latin typeface="Syne" pitchFamily="34" charset="0"/>
                <a:ea typeface="Syne" pitchFamily="34" charset="-122"/>
                <a:cs typeface="Syne" pitchFamily="34" charset="-120"/>
              </a:rPr>
              <a:t>.</a:t>
            </a:r>
            <a:endParaRPr lang="en-US" sz="1400" dirty="0"/>
          </a:p>
        </p:txBody>
      </p:sp>
      <p:sp>
        <p:nvSpPr>
          <p:cNvPr id="4" name="Text 2"/>
          <p:cNvSpPr/>
          <p:nvPr/>
        </p:nvSpPr>
        <p:spPr>
          <a:xfrm>
            <a:off x="756642" y="1712476"/>
            <a:ext cx="3708797" cy="219432"/>
          </a:xfrm>
          <a:prstGeom prst="rect">
            <a:avLst/>
          </a:prstGeom>
          <a:noFill/>
          <a:ln/>
        </p:spPr>
        <p:txBody>
          <a:bodyPr wrap="none" lIns="0" tIns="0" rIns="0" bIns="0" rtlCol="0" anchor="t"/>
          <a:lstStyle/>
          <a:p>
            <a:pPr marL="0" indent="0" algn="l">
              <a:lnSpc>
                <a:spcPts val="1700"/>
              </a:lnSpc>
              <a:buNone/>
            </a:pPr>
            <a:r>
              <a:rPr lang="en-US" sz="1600" b="1" dirty="0">
                <a:solidFill>
                  <a:srgbClr val="F0F4F1"/>
                </a:solidFill>
                <a:latin typeface="Syne Extra Bold" pitchFamily="34" charset="0"/>
                <a:ea typeface="Syne Extra Bold" pitchFamily="34" charset="-122"/>
                <a:cs typeface="Syne Extra Bold" pitchFamily="34" charset="-120"/>
              </a:rPr>
              <a:t>Across Academic Streams</a:t>
            </a:r>
            <a:endParaRPr lang="en-US" sz="1600" dirty="0"/>
          </a:p>
        </p:txBody>
      </p:sp>
      <p:sp>
        <p:nvSpPr>
          <p:cNvPr id="5" name="Shape 3"/>
          <p:cNvSpPr/>
          <p:nvPr/>
        </p:nvSpPr>
        <p:spPr>
          <a:xfrm>
            <a:off x="756642" y="2029778"/>
            <a:ext cx="6387227" cy="1703069"/>
          </a:xfrm>
          <a:prstGeom prst="roundRect">
            <a:avLst>
              <a:gd name="adj" fmla="val 3800"/>
            </a:avLst>
          </a:prstGeom>
          <a:noFill/>
          <a:ln w="7620">
            <a:solidFill>
              <a:srgbClr val="FFFFFF">
                <a:alpha val="24000"/>
              </a:srgbClr>
            </a:solidFill>
            <a:prstDash val="solid"/>
          </a:ln>
        </p:spPr>
      </p:sp>
      <p:sp>
        <p:nvSpPr>
          <p:cNvPr id="6" name="Text 4"/>
          <p:cNvSpPr/>
          <p:nvPr/>
        </p:nvSpPr>
        <p:spPr>
          <a:xfrm>
            <a:off x="904756" y="2097167"/>
            <a:ext cx="2901196" cy="181928"/>
          </a:xfrm>
          <a:prstGeom prst="rect">
            <a:avLst/>
          </a:prstGeom>
          <a:noFill/>
          <a:ln/>
        </p:spPr>
        <p:txBody>
          <a:bodyPr wrap="none" lIns="0" tIns="0" rIns="0" bIns="0" rtlCol="0" anchor="t"/>
          <a:lstStyle/>
          <a:p>
            <a:pPr marL="0" indent="0" algn="l">
              <a:lnSpc>
                <a:spcPts val="1400"/>
              </a:lnSpc>
              <a:buNone/>
            </a:pPr>
            <a:r>
              <a:rPr lang="en-US" sz="1400" b="1" dirty="0">
                <a:solidFill>
                  <a:srgbClr val="D7E5D8"/>
                </a:solidFill>
                <a:latin typeface="Syne" pitchFamily="34" charset="0"/>
                <a:ea typeface="Syne" pitchFamily="34" charset="-122"/>
                <a:cs typeface="Syne" pitchFamily="34" charset="-120"/>
              </a:rPr>
              <a:t>Stream</a:t>
            </a:r>
            <a:endParaRPr lang="en-US" sz="1400" dirty="0"/>
          </a:p>
        </p:txBody>
      </p:sp>
      <p:sp>
        <p:nvSpPr>
          <p:cNvPr id="7" name="Text 5"/>
          <p:cNvSpPr/>
          <p:nvPr/>
        </p:nvSpPr>
        <p:spPr>
          <a:xfrm>
            <a:off x="4094559" y="2097167"/>
            <a:ext cx="2901196" cy="181928"/>
          </a:xfrm>
          <a:prstGeom prst="rect">
            <a:avLst/>
          </a:prstGeom>
          <a:noFill/>
          <a:ln/>
        </p:spPr>
        <p:txBody>
          <a:bodyPr wrap="none" lIns="0" tIns="0" rIns="0" bIns="0" rtlCol="0" anchor="t"/>
          <a:lstStyle/>
          <a:p>
            <a:pPr marL="0" indent="0" algn="l">
              <a:lnSpc>
                <a:spcPts val="1400"/>
              </a:lnSpc>
              <a:buNone/>
            </a:pPr>
            <a:r>
              <a:rPr lang="en-US" sz="1400" b="1" dirty="0">
                <a:solidFill>
                  <a:srgbClr val="D7E5D8"/>
                </a:solidFill>
                <a:latin typeface="Syne" pitchFamily="34" charset="0"/>
                <a:ea typeface="Syne" pitchFamily="34" charset="-122"/>
                <a:cs typeface="Syne" pitchFamily="34" charset="-120"/>
              </a:rPr>
              <a:t>Mean Challenge Score</a:t>
            </a:r>
            <a:endParaRPr lang="en-US" sz="1400" dirty="0"/>
          </a:p>
        </p:txBody>
      </p:sp>
      <p:sp>
        <p:nvSpPr>
          <p:cNvPr id="8" name="Text 6"/>
          <p:cNvSpPr/>
          <p:nvPr/>
        </p:nvSpPr>
        <p:spPr>
          <a:xfrm>
            <a:off x="904756" y="2406253"/>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Arts</a:t>
            </a:r>
            <a:endParaRPr lang="en-US" sz="1400" dirty="0"/>
          </a:p>
        </p:txBody>
      </p:sp>
      <p:sp>
        <p:nvSpPr>
          <p:cNvPr id="9" name="Text 7"/>
          <p:cNvSpPr/>
          <p:nvPr/>
        </p:nvSpPr>
        <p:spPr>
          <a:xfrm>
            <a:off x="4094559" y="2406253"/>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7.62</a:t>
            </a:r>
            <a:endParaRPr lang="en-US" sz="1400" dirty="0"/>
          </a:p>
        </p:txBody>
      </p:sp>
      <p:sp>
        <p:nvSpPr>
          <p:cNvPr id="10" name="Text 8"/>
          <p:cNvSpPr/>
          <p:nvPr/>
        </p:nvSpPr>
        <p:spPr>
          <a:xfrm>
            <a:off x="904756" y="2715339"/>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Commerce</a:t>
            </a:r>
            <a:endParaRPr lang="en-US" sz="1400" dirty="0"/>
          </a:p>
        </p:txBody>
      </p:sp>
      <p:sp>
        <p:nvSpPr>
          <p:cNvPr id="11" name="Text 9"/>
          <p:cNvSpPr/>
          <p:nvPr/>
        </p:nvSpPr>
        <p:spPr>
          <a:xfrm>
            <a:off x="4094559" y="2715339"/>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8.09</a:t>
            </a:r>
            <a:endParaRPr lang="en-US" sz="1400" dirty="0"/>
          </a:p>
        </p:txBody>
      </p:sp>
      <p:sp>
        <p:nvSpPr>
          <p:cNvPr id="12" name="Text 10"/>
          <p:cNvSpPr/>
          <p:nvPr/>
        </p:nvSpPr>
        <p:spPr>
          <a:xfrm>
            <a:off x="904756" y="3024426"/>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Management</a:t>
            </a:r>
            <a:endParaRPr lang="en-US" sz="1400" dirty="0"/>
          </a:p>
        </p:txBody>
      </p:sp>
      <p:sp>
        <p:nvSpPr>
          <p:cNvPr id="13" name="Text 11"/>
          <p:cNvSpPr/>
          <p:nvPr/>
        </p:nvSpPr>
        <p:spPr>
          <a:xfrm>
            <a:off x="4094559" y="3024426"/>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7.71</a:t>
            </a:r>
            <a:endParaRPr lang="en-US" sz="1400" dirty="0"/>
          </a:p>
        </p:txBody>
      </p:sp>
      <p:sp>
        <p:nvSpPr>
          <p:cNvPr id="14" name="Text 12"/>
          <p:cNvSpPr/>
          <p:nvPr/>
        </p:nvSpPr>
        <p:spPr>
          <a:xfrm>
            <a:off x="904756" y="3333512"/>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Science</a:t>
            </a:r>
            <a:endParaRPr lang="en-US" sz="1400" dirty="0"/>
          </a:p>
        </p:txBody>
      </p:sp>
      <p:sp>
        <p:nvSpPr>
          <p:cNvPr id="15" name="Text 13"/>
          <p:cNvSpPr/>
          <p:nvPr/>
        </p:nvSpPr>
        <p:spPr>
          <a:xfrm>
            <a:off x="4094559" y="3333512"/>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6.98</a:t>
            </a:r>
            <a:endParaRPr lang="en-US" sz="1400" dirty="0"/>
          </a:p>
        </p:txBody>
      </p:sp>
      <p:sp>
        <p:nvSpPr>
          <p:cNvPr id="16" name="Text 14"/>
          <p:cNvSpPr/>
          <p:nvPr/>
        </p:nvSpPr>
        <p:spPr>
          <a:xfrm>
            <a:off x="7494151" y="1712476"/>
            <a:ext cx="3894177" cy="219432"/>
          </a:xfrm>
          <a:prstGeom prst="rect">
            <a:avLst/>
          </a:prstGeom>
          <a:noFill/>
          <a:ln/>
        </p:spPr>
        <p:txBody>
          <a:bodyPr wrap="none" lIns="0" tIns="0" rIns="0" bIns="0" rtlCol="0" anchor="t"/>
          <a:lstStyle/>
          <a:p>
            <a:pPr marL="0" indent="0" algn="l">
              <a:lnSpc>
                <a:spcPts val="1700"/>
              </a:lnSpc>
              <a:buNone/>
            </a:pPr>
            <a:r>
              <a:rPr lang="en-US" sz="1600" b="1" dirty="0">
                <a:solidFill>
                  <a:srgbClr val="F0F4F1"/>
                </a:solidFill>
                <a:latin typeface="Syne Extra Bold" pitchFamily="34" charset="0"/>
                <a:ea typeface="Syne Extra Bold" pitchFamily="34" charset="-122"/>
                <a:cs typeface="Syne Extra Bold" pitchFamily="34" charset="-120"/>
              </a:rPr>
              <a:t>Across Area (Urban vs Rural)</a:t>
            </a:r>
            <a:endParaRPr lang="en-US" sz="1600" dirty="0"/>
          </a:p>
        </p:txBody>
      </p:sp>
      <p:sp>
        <p:nvSpPr>
          <p:cNvPr id="17" name="Shape 15"/>
          <p:cNvSpPr/>
          <p:nvPr/>
        </p:nvSpPr>
        <p:spPr>
          <a:xfrm>
            <a:off x="7494151" y="2029778"/>
            <a:ext cx="6387227" cy="934879"/>
          </a:xfrm>
          <a:prstGeom prst="roundRect">
            <a:avLst>
              <a:gd name="adj" fmla="val 6313"/>
            </a:avLst>
          </a:prstGeom>
          <a:noFill/>
          <a:ln w="7620">
            <a:solidFill>
              <a:srgbClr val="FFFFFF">
                <a:alpha val="24000"/>
              </a:srgbClr>
            </a:solidFill>
            <a:prstDash val="solid"/>
          </a:ln>
        </p:spPr>
      </p:sp>
      <p:sp>
        <p:nvSpPr>
          <p:cNvPr id="18" name="Text 16"/>
          <p:cNvSpPr/>
          <p:nvPr/>
        </p:nvSpPr>
        <p:spPr>
          <a:xfrm>
            <a:off x="7642265" y="2097167"/>
            <a:ext cx="2901196" cy="181928"/>
          </a:xfrm>
          <a:prstGeom prst="rect">
            <a:avLst/>
          </a:prstGeom>
          <a:noFill/>
          <a:ln/>
        </p:spPr>
        <p:txBody>
          <a:bodyPr wrap="none" lIns="0" tIns="0" rIns="0" bIns="0" rtlCol="0" anchor="t"/>
          <a:lstStyle/>
          <a:p>
            <a:pPr marL="0" indent="0" algn="l">
              <a:lnSpc>
                <a:spcPts val="1400"/>
              </a:lnSpc>
              <a:buNone/>
            </a:pPr>
            <a:r>
              <a:rPr lang="en-US" sz="1400" b="1" dirty="0">
                <a:solidFill>
                  <a:srgbClr val="D7E5D8"/>
                </a:solidFill>
                <a:latin typeface="Syne" pitchFamily="34" charset="0"/>
                <a:ea typeface="Syne" pitchFamily="34" charset="-122"/>
                <a:cs typeface="Syne" pitchFamily="34" charset="-120"/>
              </a:rPr>
              <a:t>Area</a:t>
            </a:r>
            <a:endParaRPr lang="en-US" sz="1400" dirty="0"/>
          </a:p>
        </p:txBody>
      </p:sp>
      <p:sp>
        <p:nvSpPr>
          <p:cNvPr id="19" name="Text 17"/>
          <p:cNvSpPr/>
          <p:nvPr/>
        </p:nvSpPr>
        <p:spPr>
          <a:xfrm>
            <a:off x="10832068" y="2097167"/>
            <a:ext cx="2901196" cy="181928"/>
          </a:xfrm>
          <a:prstGeom prst="rect">
            <a:avLst/>
          </a:prstGeom>
          <a:noFill/>
          <a:ln/>
        </p:spPr>
        <p:txBody>
          <a:bodyPr wrap="none" lIns="0" tIns="0" rIns="0" bIns="0" rtlCol="0" anchor="t"/>
          <a:lstStyle/>
          <a:p>
            <a:pPr marL="0" indent="0" algn="l">
              <a:lnSpc>
                <a:spcPts val="1400"/>
              </a:lnSpc>
              <a:buNone/>
            </a:pPr>
            <a:r>
              <a:rPr lang="en-US" sz="1400" b="1" dirty="0">
                <a:solidFill>
                  <a:srgbClr val="D7E5D8"/>
                </a:solidFill>
                <a:latin typeface="Syne" pitchFamily="34" charset="0"/>
                <a:ea typeface="Syne" pitchFamily="34" charset="-122"/>
                <a:cs typeface="Syne" pitchFamily="34" charset="-120"/>
              </a:rPr>
              <a:t>Mean Challenge Score</a:t>
            </a:r>
            <a:endParaRPr lang="en-US" sz="1400" dirty="0"/>
          </a:p>
        </p:txBody>
      </p:sp>
      <p:sp>
        <p:nvSpPr>
          <p:cNvPr id="20" name="Text 18"/>
          <p:cNvSpPr/>
          <p:nvPr/>
        </p:nvSpPr>
        <p:spPr>
          <a:xfrm>
            <a:off x="7642265" y="2406253"/>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Rural</a:t>
            </a:r>
            <a:endParaRPr lang="en-US" sz="1400" dirty="0"/>
          </a:p>
        </p:txBody>
      </p:sp>
      <p:sp>
        <p:nvSpPr>
          <p:cNvPr id="21" name="Text 19"/>
          <p:cNvSpPr/>
          <p:nvPr/>
        </p:nvSpPr>
        <p:spPr>
          <a:xfrm>
            <a:off x="10832068" y="2406253"/>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7.72</a:t>
            </a:r>
            <a:endParaRPr lang="en-US" sz="1400" dirty="0"/>
          </a:p>
        </p:txBody>
      </p:sp>
      <p:sp>
        <p:nvSpPr>
          <p:cNvPr id="22" name="Text 20"/>
          <p:cNvSpPr/>
          <p:nvPr/>
        </p:nvSpPr>
        <p:spPr>
          <a:xfrm>
            <a:off x="7642265" y="2715339"/>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Urban</a:t>
            </a:r>
            <a:endParaRPr lang="en-US" sz="1400" dirty="0"/>
          </a:p>
        </p:txBody>
      </p:sp>
      <p:sp>
        <p:nvSpPr>
          <p:cNvPr id="23" name="Text 21"/>
          <p:cNvSpPr/>
          <p:nvPr/>
        </p:nvSpPr>
        <p:spPr>
          <a:xfrm>
            <a:off x="10832068" y="2715339"/>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6.98</a:t>
            </a:r>
            <a:endParaRPr lang="en-US" sz="1400" dirty="0"/>
          </a:p>
        </p:txBody>
      </p:sp>
      <p:sp>
        <p:nvSpPr>
          <p:cNvPr id="24" name="Text 22"/>
          <p:cNvSpPr/>
          <p:nvPr/>
        </p:nvSpPr>
        <p:spPr>
          <a:xfrm>
            <a:off x="7494151" y="3062526"/>
            <a:ext cx="6387227" cy="363855"/>
          </a:xfrm>
          <a:prstGeom prst="rect">
            <a:avLst/>
          </a:prstGeom>
          <a:noFill/>
          <a:ln/>
        </p:spPr>
        <p:txBody>
          <a:bodyPr wrap="squar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         </a:t>
            </a:r>
            <a:endParaRPr lang="en-US" sz="1400" dirty="0"/>
          </a:p>
        </p:txBody>
      </p:sp>
      <p:sp>
        <p:nvSpPr>
          <p:cNvPr id="25" name="Text 23"/>
          <p:cNvSpPr/>
          <p:nvPr/>
        </p:nvSpPr>
        <p:spPr>
          <a:xfrm>
            <a:off x="7494151" y="3513415"/>
            <a:ext cx="2998351" cy="219432"/>
          </a:xfrm>
          <a:prstGeom prst="rect">
            <a:avLst/>
          </a:prstGeom>
          <a:noFill/>
          <a:ln/>
        </p:spPr>
        <p:txBody>
          <a:bodyPr wrap="none" lIns="0" tIns="0" rIns="0" bIns="0" rtlCol="0" anchor="t"/>
          <a:lstStyle/>
          <a:p>
            <a:pPr marL="0" indent="0" algn="l">
              <a:lnSpc>
                <a:spcPts val="1700"/>
              </a:lnSpc>
              <a:buNone/>
            </a:pPr>
            <a:r>
              <a:rPr lang="en-US" sz="1600" b="1" dirty="0">
                <a:solidFill>
                  <a:srgbClr val="F0F4F1"/>
                </a:solidFill>
                <a:latin typeface="Syne Extra Bold" pitchFamily="34" charset="0"/>
                <a:ea typeface="Syne Extra Bold" pitchFamily="34" charset="-122"/>
                <a:cs typeface="Syne Extra Bold" pitchFamily="34" charset="-120"/>
              </a:rPr>
              <a:t>Across Income Group</a:t>
            </a:r>
            <a:endParaRPr lang="en-US" sz="1600" dirty="0"/>
          </a:p>
        </p:txBody>
      </p:sp>
      <p:sp>
        <p:nvSpPr>
          <p:cNvPr id="26" name="Shape 24"/>
          <p:cNvSpPr/>
          <p:nvPr/>
        </p:nvSpPr>
        <p:spPr>
          <a:xfrm>
            <a:off x="7494151" y="3830717"/>
            <a:ext cx="6387227" cy="1553051"/>
          </a:xfrm>
          <a:prstGeom prst="roundRect">
            <a:avLst>
              <a:gd name="adj" fmla="val 3800"/>
            </a:avLst>
          </a:prstGeom>
          <a:noFill/>
          <a:ln w="7620">
            <a:solidFill>
              <a:srgbClr val="FFFFFF">
                <a:alpha val="24000"/>
              </a:srgbClr>
            </a:solidFill>
            <a:prstDash val="solid"/>
          </a:ln>
        </p:spPr>
      </p:sp>
      <p:sp>
        <p:nvSpPr>
          <p:cNvPr id="27" name="Text 25"/>
          <p:cNvSpPr/>
          <p:nvPr/>
        </p:nvSpPr>
        <p:spPr>
          <a:xfrm>
            <a:off x="7642265" y="3898106"/>
            <a:ext cx="2901196" cy="181928"/>
          </a:xfrm>
          <a:prstGeom prst="rect">
            <a:avLst/>
          </a:prstGeom>
          <a:noFill/>
          <a:ln/>
        </p:spPr>
        <p:txBody>
          <a:bodyPr wrap="none" lIns="0" tIns="0" rIns="0" bIns="0" rtlCol="0" anchor="t"/>
          <a:lstStyle/>
          <a:p>
            <a:pPr marL="0" indent="0" algn="l">
              <a:lnSpc>
                <a:spcPts val="1400"/>
              </a:lnSpc>
              <a:buNone/>
            </a:pPr>
            <a:r>
              <a:rPr lang="en-US" sz="1400" b="1" dirty="0">
                <a:solidFill>
                  <a:srgbClr val="D7E5D8"/>
                </a:solidFill>
                <a:latin typeface="Syne" pitchFamily="34" charset="0"/>
                <a:ea typeface="Syne" pitchFamily="34" charset="-122"/>
                <a:cs typeface="Syne" pitchFamily="34" charset="-120"/>
              </a:rPr>
              <a:t>Income Group</a:t>
            </a:r>
            <a:endParaRPr lang="en-US" sz="1400" dirty="0"/>
          </a:p>
        </p:txBody>
      </p:sp>
      <p:sp>
        <p:nvSpPr>
          <p:cNvPr id="28" name="Text 26"/>
          <p:cNvSpPr/>
          <p:nvPr/>
        </p:nvSpPr>
        <p:spPr>
          <a:xfrm>
            <a:off x="10832068" y="3898106"/>
            <a:ext cx="2901196" cy="181928"/>
          </a:xfrm>
          <a:prstGeom prst="rect">
            <a:avLst/>
          </a:prstGeom>
          <a:noFill/>
          <a:ln/>
        </p:spPr>
        <p:txBody>
          <a:bodyPr wrap="none" lIns="0" tIns="0" rIns="0" bIns="0" rtlCol="0" anchor="t"/>
          <a:lstStyle/>
          <a:p>
            <a:pPr marL="0" indent="0" algn="l">
              <a:lnSpc>
                <a:spcPts val="1400"/>
              </a:lnSpc>
              <a:buNone/>
            </a:pPr>
            <a:r>
              <a:rPr lang="en-US" sz="1400" b="1" dirty="0">
                <a:solidFill>
                  <a:srgbClr val="D7E5D8"/>
                </a:solidFill>
                <a:latin typeface="Syne" pitchFamily="34" charset="0"/>
                <a:ea typeface="Syne" pitchFamily="34" charset="-122"/>
                <a:cs typeface="Syne" pitchFamily="34" charset="-120"/>
              </a:rPr>
              <a:t>Mean Challenge Score</a:t>
            </a:r>
            <a:endParaRPr lang="en-US" sz="1400" dirty="0"/>
          </a:p>
        </p:txBody>
      </p:sp>
      <p:sp>
        <p:nvSpPr>
          <p:cNvPr id="29" name="Text 27"/>
          <p:cNvSpPr/>
          <p:nvPr/>
        </p:nvSpPr>
        <p:spPr>
          <a:xfrm>
            <a:off x="7642265" y="4207192"/>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1 (Lowest)</a:t>
            </a:r>
            <a:endParaRPr lang="en-US" sz="1400" dirty="0"/>
          </a:p>
        </p:txBody>
      </p:sp>
      <p:sp>
        <p:nvSpPr>
          <p:cNvPr id="30" name="Text 28"/>
          <p:cNvSpPr/>
          <p:nvPr/>
        </p:nvSpPr>
        <p:spPr>
          <a:xfrm>
            <a:off x="10832068" y="4207192"/>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7.19</a:t>
            </a:r>
            <a:endParaRPr lang="en-US" sz="1400" dirty="0"/>
          </a:p>
        </p:txBody>
      </p:sp>
      <p:sp>
        <p:nvSpPr>
          <p:cNvPr id="31" name="Text 29"/>
          <p:cNvSpPr/>
          <p:nvPr/>
        </p:nvSpPr>
        <p:spPr>
          <a:xfrm>
            <a:off x="7642265" y="4516279"/>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2</a:t>
            </a:r>
            <a:endParaRPr lang="en-US" sz="1400" dirty="0"/>
          </a:p>
        </p:txBody>
      </p:sp>
      <p:sp>
        <p:nvSpPr>
          <p:cNvPr id="32" name="Text 30"/>
          <p:cNvSpPr/>
          <p:nvPr/>
        </p:nvSpPr>
        <p:spPr>
          <a:xfrm>
            <a:off x="10832068" y="4516279"/>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7.51</a:t>
            </a:r>
            <a:endParaRPr lang="en-US" sz="1400" dirty="0"/>
          </a:p>
        </p:txBody>
      </p:sp>
      <p:sp>
        <p:nvSpPr>
          <p:cNvPr id="33" name="Text 31"/>
          <p:cNvSpPr/>
          <p:nvPr/>
        </p:nvSpPr>
        <p:spPr>
          <a:xfrm>
            <a:off x="7642265" y="4825365"/>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3</a:t>
            </a:r>
            <a:endParaRPr lang="en-US" sz="1400" dirty="0"/>
          </a:p>
        </p:txBody>
      </p:sp>
      <p:sp>
        <p:nvSpPr>
          <p:cNvPr id="34" name="Text 32"/>
          <p:cNvSpPr/>
          <p:nvPr/>
        </p:nvSpPr>
        <p:spPr>
          <a:xfrm>
            <a:off x="10832068" y="4825365"/>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7.73</a:t>
            </a:r>
            <a:endParaRPr lang="en-US" sz="1400" dirty="0"/>
          </a:p>
        </p:txBody>
      </p:sp>
      <p:sp>
        <p:nvSpPr>
          <p:cNvPr id="35" name="Text 33"/>
          <p:cNvSpPr/>
          <p:nvPr/>
        </p:nvSpPr>
        <p:spPr>
          <a:xfrm>
            <a:off x="7642265" y="5134451"/>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4 (Highest)</a:t>
            </a:r>
            <a:endParaRPr lang="en-US" sz="1400" dirty="0"/>
          </a:p>
        </p:txBody>
      </p:sp>
      <p:sp>
        <p:nvSpPr>
          <p:cNvPr id="36" name="Text 34"/>
          <p:cNvSpPr/>
          <p:nvPr/>
        </p:nvSpPr>
        <p:spPr>
          <a:xfrm>
            <a:off x="10832068" y="5134451"/>
            <a:ext cx="2901196" cy="181928"/>
          </a:xfrm>
          <a:prstGeom prst="rect">
            <a:avLst/>
          </a:prstGeom>
          <a:noFill/>
          <a:ln/>
        </p:spPr>
        <p:txBody>
          <a:bodyPr wrap="non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9.00</a:t>
            </a:r>
            <a:endParaRPr lang="en-US" sz="1400" dirty="0"/>
          </a:p>
        </p:txBody>
      </p:sp>
      <p:sp>
        <p:nvSpPr>
          <p:cNvPr id="37" name="Text 35"/>
          <p:cNvSpPr/>
          <p:nvPr/>
        </p:nvSpPr>
        <p:spPr>
          <a:xfrm>
            <a:off x="756642" y="5612130"/>
            <a:ext cx="4234815" cy="351353"/>
          </a:xfrm>
          <a:prstGeom prst="rect">
            <a:avLst/>
          </a:prstGeom>
          <a:noFill/>
          <a:ln/>
        </p:spPr>
        <p:txBody>
          <a:bodyPr wrap="none" lIns="0" tIns="0" rIns="0" bIns="0" rtlCol="0" anchor="t"/>
          <a:lstStyle/>
          <a:p>
            <a:pPr marL="0" indent="0" algn="l">
              <a:lnSpc>
                <a:spcPts val="2750"/>
              </a:lnSpc>
              <a:buNone/>
            </a:pPr>
            <a:r>
              <a:rPr lang="en-US" sz="2800" b="1" dirty="0">
                <a:solidFill>
                  <a:srgbClr val="F0F4F1"/>
                </a:solidFill>
                <a:latin typeface="Syne Extra Bold" pitchFamily="34" charset="0"/>
                <a:ea typeface="Syne Extra Bold" pitchFamily="34" charset="-122"/>
                <a:cs typeface="Syne Extra Bold" pitchFamily="34" charset="-120"/>
              </a:rPr>
              <a:t>Key Interpretations</a:t>
            </a:r>
            <a:endParaRPr lang="en-US" sz="2800" dirty="0"/>
          </a:p>
        </p:txBody>
      </p:sp>
      <p:sp>
        <p:nvSpPr>
          <p:cNvPr id="38" name="Shape 36"/>
          <p:cNvSpPr/>
          <p:nvPr/>
        </p:nvSpPr>
        <p:spPr>
          <a:xfrm>
            <a:off x="756642" y="6093976"/>
            <a:ext cx="3213973" cy="1403033"/>
          </a:xfrm>
          <a:prstGeom prst="roundRect">
            <a:avLst>
              <a:gd name="adj" fmla="val 5214"/>
            </a:avLst>
          </a:prstGeom>
          <a:solidFill>
            <a:srgbClr val="152025">
              <a:alpha val="95000"/>
            </a:srgbClr>
          </a:solidFill>
          <a:ln w="15240">
            <a:solidFill>
              <a:srgbClr val="6D9121"/>
            </a:solidFill>
            <a:prstDash val="solid"/>
          </a:ln>
        </p:spPr>
      </p:sp>
      <p:sp>
        <p:nvSpPr>
          <p:cNvPr id="39" name="Shape 37"/>
          <p:cNvSpPr/>
          <p:nvPr/>
        </p:nvSpPr>
        <p:spPr>
          <a:xfrm>
            <a:off x="741402" y="6093976"/>
            <a:ext cx="60960" cy="1403033"/>
          </a:xfrm>
          <a:prstGeom prst="roundRect">
            <a:avLst>
              <a:gd name="adj" fmla="val 96820"/>
            </a:avLst>
          </a:prstGeom>
          <a:solidFill>
            <a:srgbClr val="A9F00F"/>
          </a:solidFill>
          <a:ln/>
        </p:spPr>
      </p:sp>
      <p:sp>
        <p:nvSpPr>
          <p:cNvPr id="40" name="Text 38"/>
          <p:cNvSpPr/>
          <p:nvPr/>
        </p:nvSpPr>
        <p:spPr>
          <a:xfrm>
            <a:off x="958096" y="6249710"/>
            <a:ext cx="2856786" cy="727710"/>
          </a:xfrm>
          <a:prstGeom prst="rect">
            <a:avLst/>
          </a:prstGeom>
          <a:noFill/>
          <a:ln/>
        </p:spPr>
        <p:txBody>
          <a:bodyPr wrap="squar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Commerce students exhibit the highest mean challenge score (8.09), indicating they face more academic and personal difficulties compared to other streams.</a:t>
            </a:r>
            <a:endParaRPr lang="en-US" sz="1400" dirty="0"/>
          </a:p>
        </p:txBody>
      </p:sp>
      <p:sp>
        <p:nvSpPr>
          <p:cNvPr id="41" name="Shape 39"/>
          <p:cNvSpPr/>
          <p:nvPr/>
        </p:nvSpPr>
        <p:spPr>
          <a:xfrm>
            <a:off x="4057650" y="6093976"/>
            <a:ext cx="3213973" cy="1403033"/>
          </a:xfrm>
          <a:prstGeom prst="roundRect">
            <a:avLst>
              <a:gd name="adj" fmla="val 5214"/>
            </a:avLst>
          </a:prstGeom>
          <a:solidFill>
            <a:srgbClr val="152025">
              <a:alpha val="95000"/>
            </a:srgbClr>
          </a:solidFill>
          <a:ln w="15240">
            <a:solidFill>
              <a:srgbClr val="6D9121"/>
            </a:solidFill>
            <a:prstDash val="solid"/>
          </a:ln>
        </p:spPr>
      </p:sp>
      <p:sp>
        <p:nvSpPr>
          <p:cNvPr id="42" name="Shape 40"/>
          <p:cNvSpPr/>
          <p:nvPr/>
        </p:nvSpPr>
        <p:spPr>
          <a:xfrm>
            <a:off x="4042410" y="6093976"/>
            <a:ext cx="60960" cy="1403033"/>
          </a:xfrm>
          <a:prstGeom prst="roundRect">
            <a:avLst>
              <a:gd name="adj" fmla="val 96820"/>
            </a:avLst>
          </a:prstGeom>
          <a:solidFill>
            <a:srgbClr val="A9F00F"/>
          </a:solidFill>
          <a:ln/>
        </p:spPr>
      </p:sp>
      <p:sp>
        <p:nvSpPr>
          <p:cNvPr id="43" name="Text 41"/>
          <p:cNvSpPr/>
          <p:nvPr/>
        </p:nvSpPr>
        <p:spPr>
          <a:xfrm>
            <a:off x="4259104" y="6249710"/>
            <a:ext cx="2856786" cy="545783"/>
          </a:xfrm>
          <a:prstGeom prst="rect">
            <a:avLst/>
          </a:prstGeom>
          <a:noFill/>
          <a:ln/>
        </p:spPr>
        <p:txBody>
          <a:bodyPr wrap="squar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Students from rural areas experience higher challenges (7.72) than their urban counterparts (6.98).</a:t>
            </a:r>
            <a:endParaRPr lang="en-US" sz="1400" dirty="0"/>
          </a:p>
        </p:txBody>
      </p:sp>
      <p:sp>
        <p:nvSpPr>
          <p:cNvPr id="44" name="Shape 42"/>
          <p:cNvSpPr/>
          <p:nvPr/>
        </p:nvSpPr>
        <p:spPr>
          <a:xfrm>
            <a:off x="7358658" y="6093976"/>
            <a:ext cx="3213973" cy="1403033"/>
          </a:xfrm>
          <a:prstGeom prst="roundRect">
            <a:avLst>
              <a:gd name="adj" fmla="val 5214"/>
            </a:avLst>
          </a:prstGeom>
          <a:solidFill>
            <a:srgbClr val="152025">
              <a:alpha val="95000"/>
            </a:srgbClr>
          </a:solidFill>
          <a:ln w="15240">
            <a:solidFill>
              <a:srgbClr val="6D9121"/>
            </a:solidFill>
            <a:prstDash val="solid"/>
          </a:ln>
        </p:spPr>
      </p:sp>
      <p:sp>
        <p:nvSpPr>
          <p:cNvPr id="45" name="Shape 43"/>
          <p:cNvSpPr/>
          <p:nvPr/>
        </p:nvSpPr>
        <p:spPr>
          <a:xfrm>
            <a:off x="7343418" y="6093976"/>
            <a:ext cx="60960" cy="1403033"/>
          </a:xfrm>
          <a:prstGeom prst="roundRect">
            <a:avLst>
              <a:gd name="adj" fmla="val 96820"/>
            </a:avLst>
          </a:prstGeom>
          <a:solidFill>
            <a:srgbClr val="A9F00F"/>
          </a:solidFill>
          <a:ln/>
        </p:spPr>
      </p:sp>
      <p:sp>
        <p:nvSpPr>
          <p:cNvPr id="46" name="Text 44"/>
          <p:cNvSpPr/>
          <p:nvPr/>
        </p:nvSpPr>
        <p:spPr>
          <a:xfrm>
            <a:off x="7560112" y="6249710"/>
            <a:ext cx="2856786" cy="1091565"/>
          </a:xfrm>
          <a:prstGeom prst="rect">
            <a:avLst/>
          </a:prstGeom>
          <a:noFill/>
          <a:ln/>
        </p:spPr>
        <p:txBody>
          <a:bodyPr wrap="squar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A notable trend shows that students in higher income groups (e.g., Group 4 with 9.00) report significantly higher challenge scores, suggesting that challenges are not exclusively tied to lower socioeconomic status but can vary across different income brackets.</a:t>
            </a:r>
            <a:endParaRPr lang="en-US" sz="1400" dirty="0"/>
          </a:p>
        </p:txBody>
      </p:sp>
      <p:sp>
        <p:nvSpPr>
          <p:cNvPr id="47" name="Shape 45"/>
          <p:cNvSpPr/>
          <p:nvPr/>
        </p:nvSpPr>
        <p:spPr>
          <a:xfrm>
            <a:off x="10659666" y="6093976"/>
            <a:ext cx="3214092" cy="1403033"/>
          </a:xfrm>
          <a:prstGeom prst="roundRect">
            <a:avLst>
              <a:gd name="adj" fmla="val 5214"/>
            </a:avLst>
          </a:prstGeom>
          <a:solidFill>
            <a:srgbClr val="152025">
              <a:alpha val="95000"/>
            </a:srgbClr>
          </a:solidFill>
          <a:ln w="15240">
            <a:solidFill>
              <a:srgbClr val="6D9121"/>
            </a:solidFill>
            <a:prstDash val="solid"/>
          </a:ln>
        </p:spPr>
      </p:sp>
      <p:sp>
        <p:nvSpPr>
          <p:cNvPr id="48" name="Shape 46"/>
          <p:cNvSpPr/>
          <p:nvPr/>
        </p:nvSpPr>
        <p:spPr>
          <a:xfrm>
            <a:off x="10644426" y="6093976"/>
            <a:ext cx="60960" cy="1403033"/>
          </a:xfrm>
          <a:prstGeom prst="roundRect">
            <a:avLst>
              <a:gd name="adj" fmla="val 96820"/>
            </a:avLst>
          </a:prstGeom>
          <a:solidFill>
            <a:srgbClr val="A9F00F"/>
          </a:solidFill>
          <a:ln/>
        </p:spPr>
      </p:sp>
      <p:sp>
        <p:nvSpPr>
          <p:cNvPr id="49" name="Text 47"/>
          <p:cNvSpPr/>
          <p:nvPr/>
        </p:nvSpPr>
        <p:spPr>
          <a:xfrm>
            <a:off x="10861119" y="6249710"/>
            <a:ext cx="2856905" cy="909637"/>
          </a:xfrm>
          <a:prstGeom prst="rect">
            <a:avLst/>
          </a:prstGeom>
          <a:noFill/>
          <a:ln/>
        </p:spPr>
        <p:txBody>
          <a:bodyPr wrap="square" lIns="0" tIns="0" rIns="0" bIns="0" rtlCol="0" anchor="t"/>
          <a:lstStyle/>
          <a:p>
            <a:pPr marL="0" indent="0" algn="l">
              <a:lnSpc>
                <a:spcPts val="1400"/>
              </a:lnSpc>
              <a:buNone/>
            </a:pPr>
            <a:r>
              <a:rPr lang="en-US" sz="1400" dirty="0">
                <a:solidFill>
                  <a:srgbClr val="D7E5D8"/>
                </a:solidFill>
                <a:latin typeface="Syne" pitchFamily="34" charset="0"/>
                <a:ea typeface="Syne" pitchFamily="34" charset="-122"/>
                <a:cs typeface="Syne" pitchFamily="34" charset="-120"/>
              </a:rPr>
              <a:t>These findings highlight that student challenges are diverse and vary significantly across different demographic and academic groups, rather than being uniformly distributed.</a:t>
            </a:r>
            <a:endParaRPr lang="en-US" sz="1400" dirty="0"/>
          </a:p>
        </p:txBody>
      </p:sp>
      <p:sp>
        <p:nvSpPr>
          <p:cNvPr id="50" name="Rectangle 49">
            <a:extLst>
              <a:ext uri="{FF2B5EF4-FFF2-40B4-BE49-F238E27FC236}">
                <a16:creationId xmlns:a16="http://schemas.microsoft.com/office/drawing/2014/main" id="{788159B5-68BC-483C-88D8-D235597DFCD9}"/>
              </a:ext>
            </a:extLst>
          </p:cNvPr>
          <p:cNvSpPr/>
          <p:nvPr/>
        </p:nvSpPr>
        <p:spPr>
          <a:xfrm>
            <a:off x="12801600" y="7661710"/>
            <a:ext cx="1742173" cy="548640"/>
          </a:xfrm>
          <a:prstGeom prst="rect">
            <a:avLst/>
          </a:prstGeom>
          <a:solidFill>
            <a:srgbClr val="141E24"/>
          </a:solidFill>
          <a:ln>
            <a:solidFill>
              <a:srgbClr val="141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56642" y="362545"/>
            <a:ext cx="5404842" cy="675680"/>
          </a:xfrm>
          <a:prstGeom prst="rect">
            <a:avLst/>
          </a:prstGeom>
          <a:noFill/>
          <a:ln/>
        </p:spPr>
        <p:txBody>
          <a:bodyPr wrap="none" lIns="0" tIns="0" rIns="0" bIns="0" rtlCol="0" anchor="t"/>
          <a:lstStyle/>
          <a:p>
            <a:pPr marL="0" indent="0" algn="l">
              <a:lnSpc>
                <a:spcPts val="5300"/>
              </a:lnSpc>
              <a:buNone/>
            </a:pPr>
            <a:r>
              <a:rPr lang="en-US" sz="4250" b="1" dirty="0">
                <a:solidFill>
                  <a:srgbClr val="F0F4F1"/>
                </a:solidFill>
                <a:latin typeface="Syne Extra Bold" pitchFamily="34" charset="0"/>
                <a:ea typeface="Syne Extra Bold" pitchFamily="34" charset="-122"/>
                <a:cs typeface="Syne Extra Bold" pitchFamily="34" charset="-120"/>
              </a:rPr>
              <a:t>Objective 3 - </a:t>
            </a:r>
            <a:endParaRPr lang="en-US" sz="4250" dirty="0"/>
          </a:p>
        </p:txBody>
      </p:sp>
      <p:sp>
        <p:nvSpPr>
          <p:cNvPr id="3" name="Text 1"/>
          <p:cNvSpPr/>
          <p:nvPr/>
        </p:nvSpPr>
        <p:spPr>
          <a:xfrm>
            <a:off x="4725593" y="362545"/>
            <a:ext cx="7486650" cy="860822"/>
          </a:xfrm>
          <a:prstGeom prst="rect">
            <a:avLst/>
          </a:prstGeom>
          <a:noFill/>
          <a:ln/>
        </p:spPr>
        <p:txBody>
          <a:bodyPr wrap="none" lIns="0" tIns="0" rIns="0" bIns="0" rtlCol="0" anchor="t"/>
          <a:lstStyle/>
          <a:p>
            <a:pPr marL="0" indent="0" algn="l">
              <a:lnSpc>
                <a:spcPts val="2650"/>
              </a:lnSpc>
              <a:buNone/>
            </a:pPr>
            <a:r>
              <a:rPr lang="en-US" sz="1700" dirty="0">
                <a:solidFill>
                  <a:srgbClr val="D7E5D8"/>
                </a:solidFill>
                <a:latin typeface="Syne" pitchFamily="34" charset="0"/>
                <a:ea typeface="Syne" pitchFamily="34" charset="-122"/>
                <a:cs typeface="Syne" pitchFamily="34" charset="-120"/>
              </a:rPr>
              <a:t>To Examine the Relationship Between Students' Personal Experiences, </a:t>
            </a:r>
          </a:p>
          <a:p>
            <a:pPr marL="0" indent="0" algn="l">
              <a:lnSpc>
                <a:spcPts val="2650"/>
              </a:lnSpc>
              <a:buNone/>
            </a:pPr>
            <a:r>
              <a:rPr lang="en-US" sz="1700" dirty="0">
                <a:solidFill>
                  <a:srgbClr val="D7E5D8"/>
                </a:solidFill>
                <a:latin typeface="Syne" pitchFamily="34" charset="0"/>
                <a:ea typeface="Syne" pitchFamily="34" charset="-122"/>
                <a:cs typeface="Syne" pitchFamily="34" charset="-120"/>
              </a:rPr>
              <a:t>Study Habits, and Academic Achievement</a:t>
            </a:r>
            <a:endParaRPr lang="en-US" sz="1700" dirty="0"/>
          </a:p>
        </p:txBody>
      </p:sp>
      <p:sp>
        <p:nvSpPr>
          <p:cNvPr id="4" name="Text 2"/>
          <p:cNvSpPr/>
          <p:nvPr/>
        </p:nvSpPr>
        <p:spPr>
          <a:xfrm>
            <a:off x="407075" y="1177766"/>
            <a:ext cx="13117116" cy="675561"/>
          </a:xfrm>
          <a:prstGeom prst="rect">
            <a:avLst/>
          </a:prstGeom>
          <a:noFill/>
          <a:ln/>
        </p:spPr>
        <p:txBody>
          <a:bodyPr wrap="square" lIns="0" tIns="0" rIns="0" bIns="0" rtlCol="0" anchor="t"/>
          <a:lstStyle/>
          <a:p>
            <a:pPr marL="0" indent="0" algn="l">
              <a:lnSpc>
                <a:spcPts val="2650"/>
              </a:lnSpc>
              <a:buNone/>
            </a:pPr>
            <a:r>
              <a:rPr lang="en-US" sz="2100" b="1" dirty="0">
                <a:solidFill>
                  <a:srgbClr val="F0F4F1"/>
                </a:solidFill>
                <a:latin typeface="Syne Extra Bold" pitchFamily="34" charset="0"/>
                <a:ea typeface="Syne Extra Bold" pitchFamily="34" charset="-122"/>
                <a:cs typeface="Syne Extra Bold" pitchFamily="34" charset="-120"/>
              </a:rPr>
              <a:t>Correlation Analysis of Factors Affecting Students' Academic Performance</a:t>
            </a:r>
            <a:endParaRPr lang="en-US" sz="2100" dirty="0"/>
          </a:p>
        </p:txBody>
      </p:sp>
      <p:sp>
        <p:nvSpPr>
          <p:cNvPr id="8" name="Text 5"/>
          <p:cNvSpPr/>
          <p:nvPr/>
        </p:nvSpPr>
        <p:spPr>
          <a:xfrm>
            <a:off x="756642" y="4851797"/>
            <a:ext cx="13117116" cy="675561"/>
          </a:xfrm>
          <a:prstGeom prst="rect">
            <a:avLst/>
          </a:prstGeom>
          <a:noFill/>
          <a:ln/>
        </p:spPr>
        <p:txBody>
          <a:bodyPr wrap="square" lIns="0" tIns="0" rIns="0" bIns="0" rtlCol="0" anchor="t"/>
          <a:lstStyle/>
          <a:p>
            <a:pPr>
              <a:lnSpc>
                <a:spcPts val="2650"/>
              </a:lnSpc>
            </a:pPr>
            <a:r>
              <a:rPr lang="en-US" dirty="0">
                <a:solidFill>
                  <a:schemeClr val="bg1">
                    <a:lumMod val="95000"/>
                  </a:schemeClr>
                </a:solidFill>
                <a:latin typeface="Syne" pitchFamily="34" charset="0"/>
                <a:ea typeface="Syne" pitchFamily="34" charset="-122"/>
                <a:cs typeface="Syne" pitchFamily="34" charset="-120"/>
              </a:rPr>
              <a:t>       </a:t>
            </a:r>
            <a:r>
              <a:rPr lang="en-IN" sz="2000" dirty="0">
                <a:solidFill>
                  <a:schemeClr val="bg1">
                    <a:lumMod val="95000"/>
                  </a:schemeClr>
                </a:solidFill>
              </a:rPr>
              <a:t>Overall, Internal Performance positively influences academic achievement, while Backlogs adversely affect student performance. Most other variables exhibit only weak correlations.</a:t>
            </a:r>
            <a:endParaRPr lang="en-US" dirty="0">
              <a:solidFill>
                <a:schemeClr val="bg1">
                  <a:lumMod val="95000"/>
                </a:schemeClr>
              </a:solidFill>
            </a:endParaRPr>
          </a:p>
        </p:txBody>
      </p:sp>
      <p:sp>
        <p:nvSpPr>
          <p:cNvPr id="9" name="Shape 6"/>
          <p:cNvSpPr/>
          <p:nvPr/>
        </p:nvSpPr>
        <p:spPr>
          <a:xfrm>
            <a:off x="787123" y="5759172"/>
            <a:ext cx="6455569" cy="1844278"/>
          </a:xfrm>
          <a:prstGeom prst="roundRect">
            <a:avLst>
              <a:gd name="adj" fmla="val 7933"/>
            </a:avLst>
          </a:prstGeom>
          <a:solidFill>
            <a:srgbClr val="152025">
              <a:alpha val="95000"/>
            </a:srgbClr>
          </a:solidFill>
          <a:ln w="30480">
            <a:solidFill>
              <a:srgbClr val="6D9121"/>
            </a:solidFill>
            <a:prstDash val="solid"/>
          </a:ln>
        </p:spPr>
      </p:sp>
      <p:sp>
        <p:nvSpPr>
          <p:cNvPr id="10" name="Shape 7"/>
          <p:cNvSpPr/>
          <p:nvPr/>
        </p:nvSpPr>
        <p:spPr>
          <a:xfrm>
            <a:off x="726162" y="5759172"/>
            <a:ext cx="121920" cy="1844278"/>
          </a:xfrm>
          <a:prstGeom prst="roundRect">
            <a:avLst>
              <a:gd name="adj" fmla="val 74477"/>
            </a:avLst>
          </a:prstGeom>
          <a:solidFill>
            <a:srgbClr val="A9F00F"/>
          </a:solidFill>
          <a:ln/>
        </p:spPr>
      </p:sp>
      <p:sp>
        <p:nvSpPr>
          <p:cNvPr id="11" name="Text 8"/>
          <p:cNvSpPr/>
          <p:nvPr/>
        </p:nvSpPr>
        <p:spPr>
          <a:xfrm>
            <a:off x="1094661" y="6005751"/>
            <a:ext cx="5870972" cy="1351121"/>
          </a:xfrm>
          <a:prstGeom prst="rect">
            <a:avLst/>
          </a:prstGeom>
          <a:noFill/>
          <a:ln/>
        </p:spPr>
        <p:txBody>
          <a:bodyPr wrap="square" lIns="0" tIns="0" rIns="0" bIns="0" rtlCol="0" anchor="t"/>
          <a:lstStyle/>
          <a:p>
            <a:pPr>
              <a:lnSpc>
                <a:spcPts val="2650"/>
              </a:lnSpc>
            </a:pPr>
            <a:r>
              <a:rPr lang="en-US" sz="1700" dirty="0">
                <a:solidFill>
                  <a:schemeClr val="bg1">
                    <a:lumMod val="95000"/>
                  </a:schemeClr>
                </a:solidFill>
                <a:latin typeface="Syne" pitchFamily="34" charset="0"/>
                <a:ea typeface="Syne" pitchFamily="34" charset="-122"/>
                <a:cs typeface="Syne" pitchFamily="34" charset="-120"/>
              </a:rPr>
              <a:t>           </a:t>
            </a:r>
            <a:r>
              <a:rPr lang="en-US" sz="2400" dirty="0">
                <a:solidFill>
                  <a:schemeClr val="bg1">
                    <a:lumMod val="95000"/>
                  </a:schemeClr>
                </a:solidFill>
              </a:rPr>
              <a:t>Internal Performance, Study Management, and Teacher Help show a positive association with academic performance.</a:t>
            </a:r>
            <a:endParaRPr lang="en-US" sz="1700" dirty="0">
              <a:solidFill>
                <a:schemeClr val="bg1">
                  <a:lumMod val="95000"/>
                </a:schemeClr>
              </a:solidFill>
            </a:endParaRPr>
          </a:p>
        </p:txBody>
      </p:sp>
      <p:sp>
        <p:nvSpPr>
          <p:cNvPr id="12" name="Shape 9"/>
          <p:cNvSpPr/>
          <p:nvPr/>
        </p:nvSpPr>
        <p:spPr>
          <a:xfrm>
            <a:off x="7418189" y="5759172"/>
            <a:ext cx="6455569" cy="1844278"/>
          </a:xfrm>
          <a:prstGeom prst="roundRect">
            <a:avLst>
              <a:gd name="adj" fmla="val 7933"/>
            </a:avLst>
          </a:prstGeom>
          <a:solidFill>
            <a:srgbClr val="152025">
              <a:alpha val="95000"/>
            </a:srgbClr>
          </a:solidFill>
          <a:ln w="30480">
            <a:solidFill>
              <a:srgbClr val="6D9121"/>
            </a:solidFill>
            <a:prstDash val="solid"/>
          </a:ln>
        </p:spPr>
      </p:sp>
      <p:sp>
        <p:nvSpPr>
          <p:cNvPr id="13" name="Shape 10"/>
          <p:cNvSpPr/>
          <p:nvPr/>
        </p:nvSpPr>
        <p:spPr>
          <a:xfrm>
            <a:off x="7387709" y="5759172"/>
            <a:ext cx="121920" cy="1844278"/>
          </a:xfrm>
          <a:prstGeom prst="roundRect">
            <a:avLst>
              <a:gd name="adj" fmla="val 74477"/>
            </a:avLst>
          </a:prstGeom>
          <a:solidFill>
            <a:srgbClr val="A9F00F"/>
          </a:solidFill>
          <a:ln/>
        </p:spPr>
      </p:sp>
      <p:sp>
        <p:nvSpPr>
          <p:cNvPr id="14" name="Text 11"/>
          <p:cNvSpPr/>
          <p:nvPr/>
        </p:nvSpPr>
        <p:spPr>
          <a:xfrm>
            <a:off x="7756208" y="6005751"/>
            <a:ext cx="5870972" cy="1013341"/>
          </a:xfrm>
          <a:prstGeom prst="rect">
            <a:avLst/>
          </a:prstGeom>
          <a:noFill/>
          <a:ln/>
        </p:spPr>
        <p:txBody>
          <a:bodyPr wrap="square" lIns="0" tIns="0" rIns="0" bIns="0" rtlCol="0" anchor="t"/>
          <a:lstStyle/>
          <a:p>
            <a:pPr>
              <a:lnSpc>
                <a:spcPts val="2650"/>
              </a:lnSpc>
            </a:pPr>
            <a:r>
              <a:rPr lang="en-IN" sz="2800" dirty="0">
                <a:solidFill>
                  <a:schemeClr val="bg1">
                    <a:lumMod val="95000"/>
                  </a:schemeClr>
                </a:solidFill>
              </a:rPr>
              <a:t>Backlogs show the strongest negative association with academic performance. </a:t>
            </a:r>
            <a:endParaRPr lang="en-US" sz="2400" dirty="0">
              <a:solidFill>
                <a:schemeClr val="bg1">
                  <a:lumMod val="95000"/>
                </a:schemeClr>
              </a:solidFill>
            </a:endParaRPr>
          </a:p>
        </p:txBody>
      </p:sp>
      <p:pic>
        <p:nvPicPr>
          <p:cNvPr id="15" name="Picture 14" descr="C:\Users\hp\AppData\Local\Microsoft\Windows\INetCache\Content.MSO\A5AC529B.tmp">
            <a:extLst>
              <a:ext uri="{FF2B5EF4-FFF2-40B4-BE49-F238E27FC236}">
                <a16:creationId xmlns:a16="http://schemas.microsoft.com/office/drawing/2014/main" id="{2E433D08-0D87-4F58-81DD-03FF3DA3CDC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054032" y="1724958"/>
            <a:ext cx="7486649" cy="2980690"/>
          </a:xfrm>
          <a:prstGeom prst="rect">
            <a:avLst/>
          </a:prstGeom>
          <a:noFill/>
          <a:ln>
            <a:solidFill>
              <a:schemeClr val="tx1"/>
            </a:solidFill>
          </a:ln>
          <a:effectLst>
            <a:outerShdw blurRad="50800" dist="38100" dir="2700000" algn="tl" rotWithShape="0">
              <a:prstClr val="black">
                <a:alpha val="40000"/>
              </a:prstClr>
            </a:outerShdw>
          </a:effectLst>
        </p:spPr>
      </p:pic>
      <p:sp>
        <p:nvSpPr>
          <p:cNvPr id="17" name="Rectangle 16">
            <a:extLst>
              <a:ext uri="{FF2B5EF4-FFF2-40B4-BE49-F238E27FC236}">
                <a16:creationId xmlns:a16="http://schemas.microsoft.com/office/drawing/2014/main" id="{0DCC7B30-29F3-4E9B-AA96-4220A97E5EA8}"/>
              </a:ext>
            </a:extLst>
          </p:cNvPr>
          <p:cNvSpPr/>
          <p:nvPr/>
        </p:nvSpPr>
        <p:spPr>
          <a:xfrm>
            <a:off x="12778740" y="7680960"/>
            <a:ext cx="1737360" cy="514350"/>
          </a:xfrm>
          <a:prstGeom prst="rect">
            <a:avLst/>
          </a:prstGeom>
          <a:solidFill>
            <a:srgbClr val="141E24"/>
          </a:solidFill>
          <a:ln>
            <a:solidFill>
              <a:srgbClr val="151F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840343"/>
            <a:ext cx="13042821" cy="1417558"/>
          </a:xfrm>
          <a:prstGeom prst="rect">
            <a:avLst/>
          </a:prstGeom>
          <a:noFill/>
          <a:ln/>
        </p:spPr>
        <p:txBody>
          <a:bodyPr wrap="square" lIns="0" tIns="0" rIns="0" bIns="0" rtlCol="0" anchor="t"/>
          <a:lstStyle/>
          <a:p>
            <a:pPr marL="0" indent="0" algn="l">
              <a:lnSpc>
                <a:spcPts val="5550"/>
              </a:lnSpc>
              <a:buNone/>
            </a:pPr>
            <a:r>
              <a:rPr lang="en-US" sz="4450" b="1" dirty="0">
                <a:solidFill>
                  <a:srgbClr val="F0F4F1"/>
                </a:solidFill>
                <a:latin typeface="Syne Extra Bold" pitchFamily="34" charset="0"/>
                <a:ea typeface="Syne Extra Bold" pitchFamily="34" charset="-122"/>
                <a:cs typeface="Syne Extra Bold" pitchFamily="34" charset="-120"/>
              </a:rPr>
              <a:t>Chi-Square Test of Independence</a:t>
            </a:r>
            <a:endParaRPr lang="en-US" sz="4450" dirty="0"/>
          </a:p>
        </p:txBody>
      </p:sp>
      <p:sp>
        <p:nvSpPr>
          <p:cNvPr id="3" name="Text 1"/>
          <p:cNvSpPr/>
          <p:nvPr/>
        </p:nvSpPr>
        <p:spPr>
          <a:xfrm>
            <a:off x="793789" y="2051208"/>
            <a:ext cx="9658350" cy="354330"/>
          </a:xfrm>
          <a:prstGeom prst="rect">
            <a:avLst/>
          </a:prstGeom>
          <a:noFill/>
          <a:ln/>
        </p:spPr>
        <p:txBody>
          <a:bodyPr wrap="none" lIns="0" tIns="0" rIns="0" bIns="0" rtlCol="0" anchor="t"/>
          <a:lstStyle/>
          <a:p>
            <a:pPr marL="0" indent="0" algn="l">
              <a:lnSpc>
                <a:spcPts val="2750"/>
              </a:lnSpc>
              <a:buNone/>
            </a:pPr>
            <a:r>
              <a:rPr lang="en-US" sz="2200" b="1" dirty="0">
                <a:solidFill>
                  <a:srgbClr val="F0F4F1"/>
                </a:solidFill>
                <a:latin typeface="Syne Extra Bold" pitchFamily="34" charset="0"/>
                <a:ea typeface="Syne Extra Bold" pitchFamily="34" charset="-122"/>
                <a:cs typeface="Syne Extra Bold" pitchFamily="34" charset="-120"/>
              </a:rPr>
              <a:t>Association Between Categorical Variables</a:t>
            </a:r>
            <a:endParaRPr lang="en-US" sz="2200" dirty="0"/>
          </a:p>
        </p:txBody>
      </p:sp>
      <p:sp>
        <p:nvSpPr>
          <p:cNvPr id="4" name="Shape 2"/>
          <p:cNvSpPr/>
          <p:nvPr/>
        </p:nvSpPr>
        <p:spPr>
          <a:xfrm>
            <a:off x="793790" y="2860238"/>
            <a:ext cx="13042821" cy="3002280"/>
          </a:xfrm>
          <a:prstGeom prst="roundRect">
            <a:avLst>
              <a:gd name="adj" fmla="val 3173"/>
            </a:avLst>
          </a:prstGeom>
          <a:noFill/>
          <a:ln w="7620">
            <a:solidFill>
              <a:srgbClr val="FFFFFF">
                <a:alpha val="24000"/>
              </a:srgbClr>
            </a:solidFill>
            <a:prstDash val="solid"/>
          </a:ln>
        </p:spPr>
      </p:sp>
      <p:sp>
        <p:nvSpPr>
          <p:cNvPr id="5" name="Text 3"/>
          <p:cNvSpPr/>
          <p:nvPr/>
        </p:nvSpPr>
        <p:spPr>
          <a:xfrm>
            <a:off x="1028462" y="3011567"/>
            <a:ext cx="2799397" cy="362903"/>
          </a:xfrm>
          <a:prstGeom prst="rect">
            <a:avLst/>
          </a:prstGeom>
          <a:noFill/>
          <a:ln/>
        </p:spPr>
        <p:txBody>
          <a:bodyPr wrap="none" lIns="0" tIns="0" rIns="0" bIns="0" rtlCol="0" anchor="t"/>
          <a:lstStyle/>
          <a:p>
            <a:pPr marL="0" indent="0" algn="l">
              <a:lnSpc>
                <a:spcPts val="2850"/>
              </a:lnSpc>
              <a:buNone/>
            </a:pPr>
            <a:r>
              <a:rPr lang="en-US" sz="2000" b="1" dirty="0">
                <a:solidFill>
                  <a:srgbClr val="D7E5D8"/>
                </a:solidFill>
                <a:latin typeface="Syne" pitchFamily="34" charset="0"/>
                <a:ea typeface="Syne" pitchFamily="34" charset="-122"/>
                <a:cs typeface="Syne" pitchFamily="34" charset="-120"/>
              </a:rPr>
              <a:t>Variable Pair</a:t>
            </a:r>
            <a:endParaRPr lang="en-US" sz="2000" dirty="0"/>
          </a:p>
        </p:txBody>
      </p:sp>
      <p:sp>
        <p:nvSpPr>
          <p:cNvPr id="6" name="Text 4"/>
          <p:cNvSpPr/>
          <p:nvPr/>
        </p:nvSpPr>
        <p:spPr>
          <a:xfrm>
            <a:off x="4289108" y="3011567"/>
            <a:ext cx="2795588" cy="362903"/>
          </a:xfrm>
          <a:prstGeom prst="rect">
            <a:avLst/>
          </a:prstGeom>
          <a:noFill/>
          <a:ln/>
        </p:spPr>
        <p:txBody>
          <a:bodyPr wrap="none" lIns="0" tIns="0" rIns="0" bIns="0" rtlCol="0" anchor="t"/>
          <a:lstStyle/>
          <a:p>
            <a:pPr marL="0" indent="0" algn="l">
              <a:lnSpc>
                <a:spcPts val="2850"/>
              </a:lnSpc>
              <a:buNone/>
            </a:pPr>
            <a:r>
              <a:rPr lang="en-US" sz="2000" b="1" dirty="0">
                <a:solidFill>
                  <a:srgbClr val="D7E5D8"/>
                </a:solidFill>
                <a:latin typeface="Syne" pitchFamily="34" charset="0"/>
                <a:ea typeface="Syne" pitchFamily="34" charset="-122"/>
                <a:cs typeface="Syne" pitchFamily="34" charset="-120"/>
              </a:rPr>
              <a:t>Chi-Square</a:t>
            </a:r>
            <a:endParaRPr lang="en-US" sz="2000" dirty="0"/>
          </a:p>
        </p:txBody>
      </p:sp>
      <p:sp>
        <p:nvSpPr>
          <p:cNvPr id="7" name="Text 5"/>
          <p:cNvSpPr/>
          <p:nvPr/>
        </p:nvSpPr>
        <p:spPr>
          <a:xfrm>
            <a:off x="7545943" y="3011567"/>
            <a:ext cx="2795588" cy="362903"/>
          </a:xfrm>
          <a:prstGeom prst="rect">
            <a:avLst/>
          </a:prstGeom>
          <a:noFill/>
          <a:ln/>
        </p:spPr>
        <p:txBody>
          <a:bodyPr wrap="none" lIns="0" tIns="0" rIns="0" bIns="0" rtlCol="0" anchor="t"/>
          <a:lstStyle/>
          <a:p>
            <a:pPr marL="0" indent="0" algn="l">
              <a:lnSpc>
                <a:spcPts val="2850"/>
              </a:lnSpc>
              <a:buNone/>
            </a:pPr>
            <a:r>
              <a:rPr lang="en-US" sz="2000" b="1" dirty="0">
                <a:solidFill>
                  <a:srgbClr val="D7E5D8"/>
                </a:solidFill>
                <a:latin typeface="Syne" pitchFamily="34" charset="0"/>
                <a:ea typeface="Syne" pitchFamily="34" charset="-122"/>
                <a:cs typeface="Syne" pitchFamily="34" charset="-120"/>
              </a:rPr>
              <a:t>P-Value</a:t>
            </a:r>
            <a:endParaRPr lang="en-US" sz="2000" dirty="0"/>
          </a:p>
        </p:txBody>
      </p:sp>
      <p:sp>
        <p:nvSpPr>
          <p:cNvPr id="8" name="Text 6"/>
          <p:cNvSpPr/>
          <p:nvPr/>
        </p:nvSpPr>
        <p:spPr>
          <a:xfrm>
            <a:off x="10802779" y="3011567"/>
            <a:ext cx="2799397" cy="362903"/>
          </a:xfrm>
          <a:prstGeom prst="rect">
            <a:avLst/>
          </a:prstGeom>
          <a:noFill/>
          <a:ln/>
        </p:spPr>
        <p:txBody>
          <a:bodyPr wrap="none" lIns="0" tIns="0" rIns="0" bIns="0" rtlCol="0" anchor="t"/>
          <a:lstStyle/>
          <a:p>
            <a:pPr marL="0" indent="0" algn="l">
              <a:lnSpc>
                <a:spcPts val="2850"/>
              </a:lnSpc>
              <a:buNone/>
            </a:pPr>
            <a:r>
              <a:rPr lang="en-US" sz="2000" b="1" dirty="0">
                <a:solidFill>
                  <a:srgbClr val="D7E5D8"/>
                </a:solidFill>
                <a:latin typeface="Syne" pitchFamily="34" charset="0"/>
                <a:ea typeface="Syne" pitchFamily="34" charset="-122"/>
                <a:cs typeface="Syne" pitchFamily="34" charset="-120"/>
              </a:rPr>
              <a:t>Result</a:t>
            </a:r>
            <a:endParaRPr lang="en-US" sz="2000" dirty="0"/>
          </a:p>
        </p:txBody>
      </p:sp>
      <p:sp>
        <p:nvSpPr>
          <p:cNvPr id="9" name="Text 7"/>
          <p:cNvSpPr/>
          <p:nvPr/>
        </p:nvSpPr>
        <p:spPr>
          <a:xfrm>
            <a:off x="1028462" y="3669506"/>
            <a:ext cx="2799397"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Backlogs vs Internet Access</a:t>
            </a:r>
            <a:endParaRPr lang="en-US" sz="2000" dirty="0"/>
          </a:p>
        </p:txBody>
      </p:sp>
      <p:sp>
        <p:nvSpPr>
          <p:cNvPr id="10" name="Text 8"/>
          <p:cNvSpPr/>
          <p:nvPr/>
        </p:nvSpPr>
        <p:spPr>
          <a:xfrm>
            <a:off x="4289108" y="3669506"/>
            <a:ext cx="2795588"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0.268</a:t>
            </a:r>
            <a:endParaRPr lang="en-US" sz="2000" dirty="0"/>
          </a:p>
        </p:txBody>
      </p:sp>
      <p:sp>
        <p:nvSpPr>
          <p:cNvPr id="11" name="Text 9"/>
          <p:cNvSpPr/>
          <p:nvPr/>
        </p:nvSpPr>
        <p:spPr>
          <a:xfrm>
            <a:off x="7545943" y="3669506"/>
            <a:ext cx="2795588"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0.605</a:t>
            </a:r>
            <a:endParaRPr lang="en-US" sz="2000" dirty="0"/>
          </a:p>
        </p:txBody>
      </p:sp>
      <p:sp>
        <p:nvSpPr>
          <p:cNvPr id="12" name="Text 10"/>
          <p:cNvSpPr/>
          <p:nvPr/>
        </p:nvSpPr>
        <p:spPr>
          <a:xfrm>
            <a:off x="10802779" y="3669506"/>
            <a:ext cx="2799397"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Not Significant</a:t>
            </a:r>
            <a:endParaRPr lang="en-US" sz="2000" dirty="0"/>
          </a:p>
        </p:txBody>
      </p:sp>
      <p:sp>
        <p:nvSpPr>
          <p:cNvPr id="13" name="Text 11"/>
          <p:cNvSpPr/>
          <p:nvPr/>
        </p:nvSpPr>
        <p:spPr>
          <a:xfrm>
            <a:off x="1028462" y="4327446"/>
            <a:ext cx="2799397"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Attendance vs Area</a:t>
            </a:r>
            <a:endParaRPr lang="en-US" sz="2000" dirty="0"/>
          </a:p>
        </p:txBody>
      </p:sp>
      <p:sp>
        <p:nvSpPr>
          <p:cNvPr id="14" name="Text 12"/>
          <p:cNvSpPr/>
          <p:nvPr/>
        </p:nvSpPr>
        <p:spPr>
          <a:xfrm>
            <a:off x="4289108" y="4327446"/>
            <a:ext cx="2795588"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2.932</a:t>
            </a:r>
            <a:endParaRPr lang="en-US" sz="2000" dirty="0"/>
          </a:p>
        </p:txBody>
      </p:sp>
      <p:sp>
        <p:nvSpPr>
          <p:cNvPr id="15" name="Text 13"/>
          <p:cNvSpPr/>
          <p:nvPr/>
        </p:nvSpPr>
        <p:spPr>
          <a:xfrm>
            <a:off x="7545943" y="4327446"/>
            <a:ext cx="2795588"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0.231</a:t>
            </a:r>
            <a:endParaRPr lang="en-US" sz="2000" dirty="0"/>
          </a:p>
        </p:txBody>
      </p:sp>
      <p:sp>
        <p:nvSpPr>
          <p:cNvPr id="16" name="Text 14"/>
          <p:cNvSpPr/>
          <p:nvPr/>
        </p:nvSpPr>
        <p:spPr>
          <a:xfrm>
            <a:off x="10802779" y="4327446"/>
            <a:ext cx="2799397"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Not Significant</a:t>
            </a:r>
            <a:endParaRPr lang="en-US" sz="2000" dirty="0"/>
          </a:p>
        </p:txBody>
      </p:sp>
      <p:sp>
        <p:nvSpPr>
          <p:cNvPr id="17" name="Text 15"/>
          <p:cNvSpPr/>
          <p:nvPr/>
        </p:nvSpPr>
        <p:spPr>
          <a:xfrm>
            <a:off x="1028462" y="4985385"/>
            <a:ext cx="2799397" cy="725805"/>
          </a:xfrm>
          <a:prstGeom prst="rect">
            <a:avLst/>
          </a:prstGeom>
          <a:noFill/>
          <a:ln/>
        </p:spPr>
        <p:txBody>
          <a:bodyPr wrap="squar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Family Income vs Academic Performance</a:t>
            </a:r>
            <a:endParaRPr lang="en-US" sz="2000" dirty="0"/>
          </a:p>
        </p:txBody>
      </p:sp>
      <p:sp>
        <p:nvSpPr>
          <p:cNvPr id="18" name="Text 16"/>
          <p:cNvSpPr/>
          <p:nvPr/>
        </p:nvSpPr>
        <p:spPr>
          <a:xfrm>
            <a:off x="4289108" y="4985385"/>
            <a:ext cx="2795588"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0.241</a:t>
            </a:r>
            <a:endParaRPr lang="en-US" sz="2000" dirty="0"/>
          </a:p>
        </p:txBody>
      </p:sp>
      <p:sp>
        <p:nvSpPr>
          <p:cNvPr id="19" name="Text 17"/>
          <p:cNvSpPr/>
          <p:nvPr/>
        </p:nvSpPr>
        <p:spPr>
          <a:xfrm>
            <a:off x="7545943" y="4985385"/>
            <a:ext cx="2795588"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0.623</a:t>
            </a:r>
            <a:endParaRPr lang="en-US" sz="2000" dirty="0"/>
          </a:p>
        </p:txBody>
      </p:sp>
      <p:sp>
        <p:nvSpPr>
          <p:cNvPr id="20" name="Text 18"/>
          <p:cNvSpPr/>
          <p:nvPr/>
        </p:nvSpPr>
        <p:spPr>
          <a:xfrm>
            <a:off x="10802779" y="4985385"/>
            <a:ext cx="2799397"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Not Significant</a:t>
            </a:r>
            <a:endParaRPr lang="en-US" sz="2000" dirty="0"/>
          </a:p>
        </p:txBody>
      </p:sp>
      <p:sp>
        <p:nvSpPr>
          <p:cNvPr id="21" name="Text 19"/>
          <p:cNvSpPr/>
          <p:nvPr/>
        </p:nvSpPr>
        <p:spPr>
          <a:xfrm>
            <a:off x="793790" y="6300549"/>
            <a:ext cx="13042821" cy="1088708"/>
          </a:xfrm>
          <a:prstGeom prst="rect">
            <a:avLst/>
          </a:prstGeom>
          <a:noFill/>
          <a:ln/>
        </p:spPr>
        <p:txBody>
          <a:bodyPr wrap="square" lIns="0" tIns="0" rIns="0" bIns="0" rtlCol="0" anchor="t"/>
          <a:lstStyle/>
          <a:p>
            <a:pPr marL="0" indent="0" algn="just">
              <a:lnSpc>
                <a:spcPts val="2850"/>
              </a:lnSpc>
              <a:buNone/>
            </a:pPr>
            <a:r>
              <a:rPr lang="en-US" sz="2000" dirty="0">
                <a:solidFill>
                  <a:srgbClr val="D7E5D8"/>
                </a:solidFill>
                <a:latin typeface="Syne" pitchFamily="34" charset="0"/>
                <a:ea typeface="Syne" pitchFamily="34" charset="-122"/>
                <a:cs typeface="Syne" pitchFamily="34" charset="-120"/>
              </a:rPr>
              <a:t>       </a:t>
            </a:r>
            <a:r>
              <a:rPr lang="en-US" sz="2000" b="1" dirty="0">
                <a:solidFill>
                  <a:srgbClr val="D7E5D8"/>
                </a:solidFill>
                <a:latin typeface="Syne" pitchFamily="34" charset="0"/>
                <a:ea typeface="Syne" pitchFamily="34" charset="-122"/>
                <a:cs typeface="Syne" pitchFamily="34" charset="-120"/>
              </a:rPr>
              <a:t>Interpretation:</a:t>
            </a:r>
            <a:r>
              <a:rPr lang="en-US" sz="2000" dirty="0">
                <a:solidFill>
                  <a:srgbClr val="D7E5D8"/>
                </a:solidFill>
                <a:latin typeface="Syne" pitchFamily="34" charset="0"/>
                <a:ea typeface="Syne" pitchFamily="34" charset="-122"/>
                <a:cs typeface="Syne" pitchFamily="34" charset="-120"/>
              </a:rPr>
              <a:t> All three p-values are greater than 0.05, indicating no statistically significant association between the selected categorical variables. Thus, internet access, area, and family income did not show a significant relationship with student academic outcomes in this study.     </a:t>
            </a:r>
            <a:endParaRPr lang="en-US" sz="2000" dirty="0"/>
          </a:p>
        </p:txBody>
      </p:sp>
      <p:sp>
        <p:nvSpPr>
          <p:cNvPr id="22" name="Rectangle 21">
            <a:extLst>
              <a:ext uri="{FF2B5EF4-FFF2-40B4-BE49-F238E27FC236}">
                <a16:creationId xmlns:a16="http://schemas.microsoft.com/office/drawing/2014/main" id="{3629892E-FCF1-4EBF-8878-6C7C6BEE5B62}"/>
              </a:ext>
            </a:extLst>
          </p:cNvPr>
          <p:cNvSpPr/>
          <p:nvPr/>
        </p:nvSpPr>
        <p:spPr>
          <a:xfrm>
            <a:off x="12801600" y="7661710"/>
            <a:ext cx="1742173" cy="548640"/>
          </a:xfrm>
          <a:prstGeom prst="rect">
            <a:avLst/>
          </a:prstGeom>
          <a:solidFill>
            <a:srgbClr val="141E24"/>
          </a:solidFill>
          <a:ln>
            <a:solidFill>
              <a:srgbClr val="141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987862"/>
            <a:ext cx="13042821" cy="1417558"/>
          </a:xfrm>
          <a:prstGeom prst="rect">
            <a:avLst/>
          </a:prstGeom>
          <a:noFill/>
          <a:ln/>
        </p:spPr>
        <p:txBody>
          <a:bodyPr wrap="square" lIns="0" tIns="0" rIns="0" bIns="0" rtlCol="0" anchor="t"/>
          <a:lstStyle/>
          <a:p>
            <a:pPr marL="0" indent="0" algn="l">
              <a:lnSpc>
                <a:spcPts val="5550"/>
              </a:lnSpc>
              <a:buNone/>
            </a:pPr>
            <a:r>
              <a:rPr lang="en-US" sz="4450" b="1" dirty="0">
                <a:solidFill>
                  <a:srgbClr val="F0F4F1"/>
                </a:solidFill>
                <a:latin typeface="Syne Extra Bold" pitchFamily="34" charset="0"/>
                <a:ea typeface="Syne Extra Bold" pitchFamily="34" charset="-122"/>
                <a:cs typeface="Syne Extra Bold" pitchFamily="34" charset="-120"/>
              </a:rPr>
              <a:t>Comparison of Academic Performance</a:t>
            </a:r>
            <a:endParaRPr lang="en-US" sz="4450" dirty="0"/>
          </a:p>
        </p:txBody>
      </p:sp>
      <p:sp>
        <p:nvSpPr>
          <p:cNvPr id="3" name="Text 1"/>
          <p:cNvSpPr/>
          <p:nvPr/>
        </p:nvSpPr>
        <p:spPr>
          <a:xfrm>
            <a:off x="885230" y="2051090"/>
            <a:ext cx="6317218" cy="354330"/>
          </a:xfrm>
          <a:prstGeom prst="rect">
            <a:avLst/>
          </a:prstGeom>
          <a:noFill/>
          <a:ln/>
        </p:spPr>
        <p:txBody>
          <a:bodyPr wrap="none" lIns="0" tIns="0" rIns="0" bIns="0" rtlCol="0" anchor="t"/>
          <a:lstStyle/>
          <a:p>
            <a:pPr marL="0" indent="0" algn="l">
              <a:lnSpc>
                <a:spcPts val="2750"/>
              </a:lnSpc>
              <a:buNone/>
            </a:pPr>
            <a:r>
              <a:rPr lang="en-US" sz="2200" b="1" dirty="0">
                <a:solidFill>
                  <a:srgbClr val="F0F4F1"/>
                </a:solidFill>
                <a:latin typeface="Syne Extra Bold" pitchFamily="34" charset="0"/>
                <a:ea typeface="Syne Extra Bold" pitchFamily="34" charset="-122"/>
                <a:cs typeface="Syne Extra Bold" pitchFamily="34" charset="-120"/>
              </a:rPr>
              <a:t>t-Test and One-Way ANOVA</a:t>
            </a:r>
            <a:endParaRPr lang="en-US" sz="2200" dirty="0"/>
          </a:p>
        </p:txBody>
      </p:sp>
      <p:sp>
        <p:nvSpPr>
          <p:cNvPr id="4" name="Shape 2"/>
          <p:cNvSpPr/>
          <p:nvPr/>
        </p:nvSpPr>
        <p:spPr>
          <a:xfrm>
            <a:off x="793790" y="2882027"/>
            <a:ext cx="13042821" cy="2707243"/>
          </a:xfrm>
          <a:prstGeom prst="roundRect">
            <a:avLst>
              <a:gd name="adj" fmla="val 3519"/>
            </a:avLst>
          </a:prstGeom>
          <a:noFill/>
          <a:ln w="7620">
            <a:solidFill>
              <a:srgbClr val="FFFFFF">
                <a:alpha val="24000"/>
              </a:srgbClr>
            </a:solidFill>
            <a:prstDash val="solid"/>
          </a:ln>
        </p:spPr>
      </p:sp>
      <p:sp>
        <p:nvSpPr>
          <p:cNvPr id="5" name="Text 3"/>
          <p:cNvSpPr/>
          <p:nvPr/>
        </p:nvSpPr>
        <p:spPr>
          <a:xfrm>
            <a:off x="1028462" y="3033355"/>
            <a:ext cx="2799397" cy="362903"/>
          </a:xfrm>
          <a:prstGeom prst="rect">
            <a:avLst/>
          </a:prstGeom>
          <a:noFill/>
          <a:ln/>
        </p:spPr>
        <p:txBody>
          <a:bodyPr wrap="none" lIns="0" tIns="0" rIns="0" bIns="0" rtlCol="0" anchor="t"/>
          <a:lstStyle/>
          <a:p>
            <a:pPr marL="0" indent="0" algn="l">
              <a:lnSpc>
                <a:spcPts val="2850"/>
              </a:lnSpc>
              <a:buNone/>
            </a:pPr>
            <a:r>
              <a:rPr lang="en-US" sz="2000" b="1" dirty="0">
                <a:solidFill>
                  <a:srgbClr val="D7E5D8"/>
                </a:solidFill>
                <a:latin typeface="Syne" pitchFamily="34" charset="0"/>
                <a:ea typeface="Syne" pitchFamily="34" charset="-122"/>
                <a:cs typeface="Syne" pitchFamily="34" charset="-120"/>
              </a:rPr>
              <a:t>Test</a:t>
            </a:r>
            <a:endParaRPr lang="en-US" sz="2000" dirty="0"/>
          </a:p>
        </p:txBody>
      </p:sp>
      <p:sp>
        <p:nvSpPr>
          <p:cNvPr id="6" name="Text 4"/>
          <p:cNvSpPr/>
          <p:nvPr/>
        </p:nvSpPr>
        <p:spPr>
          <a:xfrm>
            <a:off x="4289108" y="3033355"/>
            <a:ext cx="2795588" cy="362903"/>
          </a:xfrm>
          <a:prstGeom prst="rect">
            <a:avLst/>
          </a:prstGeom>
          <a:noFill/>
          <a:ln/>
        </p:spPr>
        <p:txBody>
          <a:bodyPr wrap="none" lIns="0" tIns="0" rIns="0" bIns="0" rtlCol="0" anchor="t"/>
          <a:lstStyle/>
          <a:p>
            <a:pPr marL="0" indent="0" algn="l">
              <a:lnSpc>
                <a:spcPts val="2850"/>
              </a:lnSpc>
              <a:buNone/>
            </a:pPr>
            <a:r>
              <a:rPr lang="en-US" sz="2000" b="1" dirty="0">
                <a:solidFill>
                  <a:srgbClr val="D7E5D8"/>
                </a:solidFill>
                <a:latin typeface="Syne" pitchFamily="34" charset="0"/>
                <a:ea typeface="Syne" pitchFamily="34" charset="-122"/>
                <a:cs typeface="Syne" pitchFamily="34" charset="-120"/>
              </a:rPr>
              <a:t>Statistic</a:t>
            </a:r>
            <a:endParaRPr lang="en-US" sz="2000" dirty="0"/>
          </a:p>
        </p:txBody>
      </p:sp>
      <p:sp>
        <p:nvSpPr>
          <p:cNvPr id="7" name="Text 5"/>
          <p:cNvSpPr/>
          <p:nvPr/>
        </p:nvSpPr>
        <p:spPr>
          <a:xfrm>
            <a:off x="7545943" y="3033355"/>
            <a:ext cx="2795588" cy="362903"/>
          </a:xfrm>
          <a:prstGeom prst="rect">
            <a:avLst/>
          </a:prstGeom>
          <a:noFill/>
          <a:ln/>
        </p:spPr>
        <p:txBody>
          <a:bodyPr wrap="none" lIns="0" tIns="0" rIns="0" bIns="0" rtlCol="0" anchor="t"/>
          <a:lstStyle/>
          <a:p>
            <a:pPr marL="0" indent="0" algn="l">
              <a:lnSpc>
                <a:spcPts val="2850"/>
              </a:lnSpc>
              <a:buNone/>
            </a:pPr>
            <a:r>
              <a:rPr lang="en-US" sz="2000" b="1" dirty="0">
                <a:solidFill>
                  <a:srgbClr val="D7E5D8"/>
                </a:solidFill>
                <a:latin typeface="Syne" pitchFamily="34" charset="0"/>
                <a:ea typeface="Syne" pitchFamily="34" charset="-122"/>
                <a:cs typeface="Syne" pitchFamily="34" charset="-120"/>
              </a:rPr>
              <a:t>P-Value</a:t>
            </a:r>
            <a:endParaRPr lang="en-US" sz="2000" dirty="0"/>
          </a:p>
        </p:txBody>
      </p:sp>
      <p:sp>
        <p:nvSpPr>
          <p:cNvPr id="8" name="Text 6"/>
          <p:cNvSpPr/>
          <p:nvPr/>
        </p:nvSpPr>
        <p:spPr>
          <a:xfrm>
            <a:off x="10802779" y="3033355"/>
            <a:ext cx="2799397" cy="362903"/>
          </a:xfrm>
          <a:prstGeom prst="rect">
            <a:avLst/>
          </a:prstGeom>
          <a:noFill/>
          <a:ln/>
        </p:spPr>
        <p:txBody>
          <a:bodyPr wrap="none" lIns="0" tIns="0" rIns="0" bIns="0" rtlCol="0" anchor="t"/>
          <a:lstStyle/>
          <a:p>
            <a:pPr marL="0" indent="0" algn="l">
              <a:lnSpc>
                <a:spcPts val="2850"/>
              </a:lnSpc>
              <a:buNone/>
            </a:pPr>
            <a:r>
              <a:rPr lang="en-US" sz="2000" b="1" dirty="0">
                <a:solidFill>
                  <a:srgbClr val="D7E5D8"/>
                </a:solidFill>
                <a:latin typeface="Syne" pitchFamily="34" charset="0"/>
                <a:ea typeface="Syne" pitchFamily="34" charset="-122"/>
                <a:cs typeface="Syne" pitchFamily="34" charset="-120"/>
              </a:rPr>
              <a:t>Result</a:t>
            </a:r>
            <a:endParaRPr lang="en-US" sz="2000" dirty="0"/>
          </a:p>
        </p:txBody>
      </p:sp>
      <p:sp>
        <p:nvSpPr>
          <p:cNvPr id="9" name="Text 7"/>
          <p:cNvSpPr/>
          <p:nvPr/>
        </p:nvSpPr>
        <p:spPr>
          <a:xfrm>
            <a:off x="1028462" y="3691295"/>
            <a:ext cx="2799397" cy="725805"/>
          </a:xfrm>
          <a:prstGeom prst="rect">
            <a:avLst/>
          </a:prstGeom>
          <a:noFill/>
          <a:ln/>
        </p:spPr>
        <p:txBody>
          <a:bodyPr wrap="squar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Independent Sample t-Test (Urban vs Rural)</a:t>
            </a:r>
            <a:endParaRPr lang="en-US" sz="2000" dirty="0"/>
          </a:p>
        </p:txBody>
      </p:sp>
      <p:sp>
        <p:nvSpPr>
          <p:cNvPr id="10" name="Text 8"/>
          <p:cNvSpPr/>
          <p:nvPr/>
        </p:nvSpPr>
        <p:spPr>
          <a:xfrm>
            <a:off x="4289108" y="3691295"/>
            <a:ext cx="2795588"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0.904</a:t>
            </a:r>
            <a:endParaRPr lang="en-US" sz="2000" dirty="0"/>
          </a:p>
        </p:txBody>
      </p:sp>
      <p:sp>
        <p:nvSpPr>
          <p:cNvPr id="11" name="Text 9"/>
          <p:cNvSpPr/>
          <p:nvPr/>
        </p:nvSpPr>
        <p:spPr>
          <a:xfrm>
            <a:off x="7545943" y="3691295"/>
            <a:ext cx="2795588"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0.367</a:t>
            </a:r>
            <a:endParaRPr lang="en-US" sz="2000" dirty="0"/>
          </a:p>
        </p:txBody>
      </p:sp>
      <p:sp>
        <p:nvSpPr>
          <p:cNvPr id="12" name="Text 10"/>
          <p:cNvSpPr/>
          <p:nvPr/>
        </p:nvSpPr>
        <p:spPr>
          <a:xfrm>
            <a:off x="10802779" y="3691295"/>
            <a:ext cx="2799397"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Not Significant</a:t>
            </a:r>
            <a:endParaRPr lang="en-US" sz="2000" dirty="0"/>
          </a:p>
        </p:txBody>
      </p:sp>
      <p:sp>
        <p:nvSpPr>
          <p:cNvPr id="13" name="Text 11"/>
          <p:cNvSpPr/>
          <p:nvPr/>
        </p:nvSpPr>
        <p:spPr>
          <a:xfrm>
            <a:off x="1028462" y="4712137"/>
            <a:ext cx="2799397" cy="725805"/>
          </a:xfrm>
          <a:prstGeom prst="rect">
            <a:avLst/>
          </a:prstGeom>
          <a:noFill/>
          <a:ln/>
        </p:spPr>
        <p:txBody>
          <a:bodyPr wrap="squar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One-Way ANOVA (Across Streams)</a:t>
            </a:r>
            <a:endParaRPr lang="en-US" sz="2000" dirty="0"/>
          </a:p>
        </p:txBody>
      </p:sp>
      <p:sp>
        <p:nvSpPr>
          <p:cNvPr id="14" name="Text 12"/>
          <p:cNvSpPr/>
          <p:nvPr/>
        </p:nvSpPr>
        <p:spPr>
          <a:xfrm>
            <a:off x="4289108" y="4712137"/>
            <a:ext cx="2795588"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1.416</a:t>
            </a:r>
            <a:endParaRPr lang="en-US" sz="2000" dirty="0"/>
          </a:p>
        </p:txBody>
      </p:sp>
      <p:sp>
        <p:nvSpPr>
          <p:cNvPr id="15" name="Text 13"/>
          <p:cNvSpPr/>
          <p:nvPr/>
        </p:nvSpPr>
        <p:spPr>
          <a:xfrm>
            <a:off x="7545943" y="4712137"/>
            <a:ext cx="2795588"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0.238</a:t>
            </a:r>
            <a:endParaRPr lang="en-US" sz="2000" dirty="0"/>
          </a:p>
        </p:txBody>
      </p:sp>
      <p:sp>
        <p:nvSpPr>
          <p:cNvPr id="16" name="Text 14"/>
          <p:cNvSpPr/>
          <p:nvPr/>
        </p:nvSpPr>
        <p:spPr>
          <a:xfrm>
            <a:off x="10802779" y="4712137"/>
            <a:ext cx="2799397"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Not Significant</a:t>
            </a:r>
            <a:endParaRPr lang="en-US" sz="2000" dirty="0"/>
          </a:p>
        </p:txBody>
      </p:sp>
      <p:sp>
        <p:nvSpPr>
          <p:cNvPr id="17" name="Text 15"/>
          <p:cNvSpPr/>
          <p:nvPr/>
        </p:nvSpPr>
        <p:spPr>
          <a:xfrm>
            <a:off x="793790" y="6065877"/>
            <a:ext cx="13042821" cy="1088708"/>
          </a:xfrm>
          <a:prstGeom prst="rect">
            <a:avLst/>
          </a:prstGeom>
          <a:noFill/>
          <a:ln/>
        </p:spPr>
        <p:txBody>
          <a:bodyPr wrap="square" lIns="0" tIns="0" rIns="0" bIns="0" rtlCol="0" anchor="t"/>
          <a:lstStyle/>
          <a:p>
            <a:pPr marL="0" indent="0" algn="just">
              <a:lnSpc>
                <a:spcPts val="2850"/>
              </a:lnSpc>
              <a:buNone/>
            </a:pPr>
            <a:r>
              <a:rPr lang="en-US" sz="2000" dirty="0">
                <a:solidFill>
                  <a:srgbClr val="D7E5D8"/>
                </a:solidFill>
                <a:latin typeface="Syne" pitchFamily="34" charset="0"/>
                <a:ea typeface="Syne" pitchFamily="34" charset="-122"/>
                <a:cs typeface="Syne" pitchFamily="34" charset="-120"/>
              </a:rPr>
              <a:t>       </a:t>
            </a:r>
            <a:r>
              <a:rPr lang="en-US" sz="2000" b="1" dirty="0">
                <a:solidFill>
                  <a:srgbClr val="D7E5D8"/>
                </a:solidFill>
                <a:latin typeface="Syne" pitchFamily="34" charset="0"/>
                <a:ea typeface="Syne" pitchFamily="34" charset="-122"/>
                <a:cs typeface="Syne" pitchFamily="34" charset="-120"/>
              </a:rPr>
              <a:t>Interpretation:</a:t>
            </a:r>
            <a:r>
              <a:rPr lang="en-US" sz="2000" dirty="0">
                <a:solidFill>
                  <a:srgbClr val="D7E5D8"/>
                </a:solidFill>
                <a:latin typeface="Syne" pitchFamily="34" charset="0"/>
                <a:ea typeface="Syne" pitchFamily="34" charset="-122"/>
                <a:cs typeface="Syne" pitchFamily="34" charset="-120"/>
              </a:rPr>
              <a:t> The results indicate no significant difference in academic performance between urban and rural students, as well as across different academic streams. This suggests that area of residence and stream of study do not significantly affect students' academic performance.     </a:t>
            </a:r>
            <a:endParaRPr lang="en-US" sz="2000" dirty="0"/>
          </a:p>
        </p:txBody>
      </p:sp>
      <p:sp>
        <p:nvSpPr>
          <p:cNvPr id="18" name="Rectangle 17">
            <a:extLst>
              <a:ext uri="{FF2B5EF4-FFF2-40B4-BE49-F238E27FC236}">
                <a16:creationId xmlns:a16="http://schemas.microsoft.com/office/drawing/2014/main" id="{010C72C9-585A-43B7-8611-A4B455A5A911}"/>
              </a:ext>
            </a:extLst>
          </p:cNvPr>
          <p:cNvSpPr/>
          <p:nvPr/>
        </p:nvSpPr>
        <p:spPr>
          <a:xfrm>
            <a:off x="12801600" y="7661710"/>
            <a:ext cx="1742173" cy="548640"/>
          </a:xfrm>
          <a:prstGeom prst="rect">
            <a:avLst/>
          </a:prstGeom>
          <a:solidFill>
            <a:srgbClr val="141E24"/>
          </a:solidFill>
          <a:ln>
            <a:solidFill>
              <a:srgbClr val="141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02350" y="315515"/>
            <a:ext cx="4252913" cy="531614"/>
          </a:xfrm>
          <a:prstGeom prst="rect">
            <a:avLst/>
          </a:prstGeom>
          <a:noFill/>
          <a:ln/>
        </p:spPr>
        <p:txBody>
          <a:bodyPr wrap="none" lIns="0" tIns="0" rIns="0" bIns="0" rtlCol="0" anchor="t"/>
          <a:lstStyle/>
          <a:p>
            <a:pPr marL="0" indent="0" algn="l">
              <a:lnSpc>
                <a:spcPts val="4150"/>
              </a:lnSpc>
              <a:buNone/>
            </a:pPr>
            <a:r>
              <a:rPr lang="en-US" sz="3300" b="1" dirty="0">
                <a:solidFill>
                  <a:srgbClr val="F0F4F1"/>
                </a:solidFill>
                <a:latin typeface="Syne Extra Bold" pitchFamily="34" charset="0"/>
                <a:ea typeface="Syne Extra Bold" pitchFamily="34" charset="-122"/>
                <a:cs typeface="Syne Extra Bold" pitchFamily="34" charset="-120"/>
              </a:rPr>
              <a:t>Objective 4-</a:t>
            </a:r>
            <a:endParaRPr lang="en-US" sz="3300" dirty="0"/>
          </a:p>
        </p:txBody>
      </p:sp>
      <p:sp>
        <p:nvSpPr>
          <p:cNvPr id="3" name="Text 1"/>
          <p:cNvSpPr/>
          <p:nvPr/>
        </p:nvSpPr>
        <p:spPr>
          <a:xfrm>
            <a:off x="3719871" y="462259"/>
            <a:ext cx="7024330" cy="238125"/>
          </a:xfrm>
          <a:prstGeom prst="rect">
            <a:avLst/>
          </a:prstGeom>
          <a:noFill/>
          <a:ln/>
        </p:spPr>
        <p:txBody>
          <a:bodyPr wrap="none" lIns="0" tIns="0" rIns="0" bIns="0" rtlCol="0" anchor="t"/>
          <a:lstStyle/>
          <a:p>
            <a:pPr marL="0" indent="0" algn="l">
              <a:lnSpc>
                <a:spcPts val="1850"/>
              </a:lnSpc>
              <a:buNone/>
            </a:pPr>
            <a:r>
              <a:rPr lang="en-US" dirty="0">
                <a:solidFill>
                  <a:srgbClr val="D7E5D8"/>
                </a:solidFill>
                <a:latin typeface="Syne" pitchFamily="34" charset="0"/>
                <a:ea typeface="Syne" pitchFamily="34" charset="-122"/>
                <a:cs typeface="Syne" pitchFamily="34" charset="-120"/>
              </a:rPr>
              <a:t>To Identify At-Risk Students, Analyse Their Challenges, and Study Their Support Needs</a:t>
            </a:r>
            <a:endParaRPr lang="en-US" dirty="0"/>
          </a:p>
        </p:txBody>
      </p:sp>
      <p:sp>
        <p:nvSpPr>
          <p:cNvPr id="4" name="Text 2"/>
          <p:cNvSpPr/>
          <p:nvPr/>
        </p:nvSpPr>
        <p:spPr>
          <a:xfrm>
            <a:off x="764621" y="1609724"/>
            <a:ext cx="8563451" cy="265747"/>
          </a:xfrm>
          <a:prstGeom prst="rect">
            <a:avLst/>
          </a:prstGeom>
          <a:noFill/>
          <a:ln/>
        </p:spPr>
        <p:txBody>
          <a:bodyPr wrap="none" lIns="0" tIns="0" rIns="0" bIns="0" rtlCol="0" anchor="t"/>
          <a:lstStyle/>
          <a:p>
            <a:pPr marL="0" indent="0" algn="l">
              <a:lnSpc>
                <a:spcPts val="2050"/>
              </a:lnSpc>
              <a:buNone/>
            </a:pPr>
            <a:r>
              <a:rPr lang="en-US" sz="2000" b="1" dirty="0">
                <a:solidFill>
                  <a:srgbClr val="F0F4F1"/>
                </a:solidFill>
                <a:latin typeface="Syne Extra Bold" pitchFamily="34" charset="0"/>
                <a:ea typeface="Syne Extra Bold" pitchFamily="34" charset="-122"/>
                <a:cs typeface="Syne Extra Bold" pitchFamily="34" charset="-120"/>
              </a:rPr>
              <a:t>Performance Comparison of Classification Models</a:t>
            </a:r>
            <a:endParaRPr lang="en-US" sz="2000" dirty="0"/>
          </a:p>
        </p:txBody>
      </p:sp>
      <p:sp>
        <p:nvSpPr>
          <p:cNvPr id="5" name="Shape 3"/>
          <p:cNvSpPr/>
          <p:nvPr/>
        </p:nvSpPr>
        <p:spPr>
          <a:xfrm>
            <a:off x="793790" y="2628543"/>
            <a:ext cx="13042821" cy="1663065"/>
          </a:xfrm>
          <a:prstGeom prst="roundRect">
            <a:avLst>
              <a:gd name="adj" fmla="val 4296"/>
            </a:avLst>
          </a:prstGeom>
          <a:noFill/>
          <a:ln w="7620">
            <a:solidFill>
              <a:srgbClr val="FFFFFF">
                <a:alpha val="24000"/>
              </a:srgbClr>
            </a:solidFill>
            <a:prstDash val="solid"/>
          </a:ln>
        </p:spPr>
      </p:sp>
      <p:sp>
        <p:nvSpPr>
          <p:cNvPr id="6" name="Text 4"/>
          <p:cNvSpPr/>
          <p:nvPr/>
        </p:nvSpPr>
        <p:spPr>
          <a:xfrm>
            <a:off x="971788" y="2720221"/>
            <a:ext cx="2261592" cy="238125"/>
          </a:xfrm>
          <a:prstGeom prst="rect">
            <a:avLst/>
          </a:prstGeom>
          <a:noFill/>
          <a:ln/>
        </p:spPr>
        <p:txBody>
          <a:bodyPr wrap="none" lIns="0" tIns="0" rIns="0" bIns="0" rtlCol="0" anchor="t"/>
          <a:lstStyle/>
          <a:p>
            <a:pPr marL="0" indent="0" algn="l">
              <a:lnSpc>
                <a:spcPts val="1850"/>
              </a:lnSpc>
              <a:buNone/>
            </a:pPr>
            <a:r>
              <a:rPr lang="en-US" b="1" dirty="0">
                <a:solidFill>
                  <a:srgbClr val="D7E5D8"/>
                </a:solidFill>
                <a:latin typeface="Syne" pitchFamily="34" charset="0"/>
                <a:ea typeface="Syne" pitchFamily="34" charset="-122"/>
                <a:cs typeface="Syne" pitchFamily="34" charset="-120"/>
              </a:rPr>
              <a:t>Model</a:t>
            </a:r>
            <a:endParaRPr lang="en-US" dirty="0"/>
          </a:p>
        </p:txBody>
      </p:sp>
      <p:sp>
        <p:nvSpPr>
          <p:cNvPr id="7" name="Text 5"/>
          <p:cNvSpPr/>
          <p:nvPr/>
        </p:nvSpPr>
        <p:spPr>
          <a:xfrm>
            <a:off x="3581043" y="2720221"/>
            <a:ext cx="2257782" cy="238125"/>
          </a:xfrm>
          <a:prstGeom prst="rect">
            <a:avLst/>
          </a:prstGeom>
          <a:noFill/>
          <a:ln/>
        </p:spPr>
        <p:txBody>
          <a:bodyPr wrap="none" lIns="0" tIns="0" rIns="0" bIns="0" rtlCol="0" anchor="t"/>
          <a:lstStyle/>
          <a:p>
            <a:pPr marL="0" indent="0" algn="l">
              <a:lnSpc>
                <a:spcPts val="1850"/>
              </a:lnSpc>
              <a:buNone/>
            </a:pPr>
            <a:r>
              <a:rPr lang="en-US" b="1" dirty="0">
                <a:solidFill>
                  <a:srgbClr val="D7E5D8"/>
                </a:solidFill>
                <a:latin typeface="Syne" pitchFamily="34" charset="0"/>
                <a:ea typeface="Syne" pitchFamily="34" charset="-122"/>
                <a:cs typeface="Syne" pitchFamily="34" charset="-120"/>
              </a:rPr>
              <a:t>Accuracy</a:t>
            </a:r>
            <a:endParaRPr lang="en-US" dirty="0"/>
          </a:p>
        </p:txBody>
      </p:sp>
      <p:sp>
        <p:nvSpPr>
          <p:cNvPr id="8" name="Text 6"/>
          <p:cNvSpPr/>
          <p:nvPr/>
        </p:nvSpPr>
        <p:spPr>
          <a:xfrm>
            <a:off x="6186488" y="2720221"/>
            <a:ext cx="2257782" cy="238125"/>
          </a:xfrm>
          <a:prstGeom prst="rect">
            <a:avLst/>
          </a:prstGeom>
          <a:noFill/>
          <a:ln/>
        </p:spPr>
        <p:txBody>
          <a:bodyPr wrap="none" lIns="0" tIns="0" rIns="0" bIns="0" rtlCol="0" anchor="t"/>
          <a:lstStyle/>
          <a:p>
            <a:pPr marL="0" indent="0" algn="l">
              <a:lnSpc>
                <a:spcPts val="1850"/>
              </a:lnSpc>
              <a:buNone/>
            </a:pPr>
            <a:r>
              <a:rPr lang="en-US" b="1" dirty="0">
                <a:solidFill>
                  <a:srgbClr val="D7E5D8"/>
                </a:solidFill>
                <a:latin typeface="Syne" pitchFamily="34" charset="0"/>
                <a:ea typeface="Syne" pitchFamily="34" charset="-122"/>
                <a:cs typeface="Syne" pitchFamily="34" charset="-120"/>
              </a:rPr>
              <a:t>Precision</a:t>
            </a:r>
            <a:endParaRPr lang="en-US" dirty="0"/>
          </a:p>
        </p:txBody>
      </p:sp>
      <p:sp>
        <p:nvSpPr>
          <p:cNvPr id="9" name="Text 7"/>
          <p:cNvSpPr/>
          <p:nvPr/>
        </p:nvSpPr>
        <p:spPr>
          <a:xfrm>
            <a:off x="8791932" y="2720221"/>
            <a:ext cx="2257782" cy="238125"/>
          </a:xfrm>
          <a:prstGeom prst="rect">
            <a:avLst/>
          </a:prstGeom>
          <a:noFill/>
          <a:ln/>
        </p:spPr>
        <p:txBody>
          <a:bodyPr wrap="none" lIns="0" tIns="0" rIns="0" bIns="0" rtlCol="0" anchor="t"/>
          <a:lstStyle/>
          <a:p>
            <a:pPr marL="0" indent="0" algn="l">
              <a:lnSpc>
                <a:spcPts val="1850"/>
              </a:lnSpc>
              <a:buNone/>
            </a:pPr>
            <a:r>
              <a:rPr lang="en-US" b="1" dirty="0">
                <a:solidFill>
                  <a:srgbClr val="D7E5D8"/>
                </a:solidFill>
                <a:latin typeface="Syne" pitchFamily="34" charset="0"/>
                <a:ea typeface="Syne" pitchFamily="34" charset="-122"/>
                <a:cs typeface="Syne" pitchFamily="34" charset="-120"/>
              </a:rPr>
              <a:t>Recall</a:t>
            </a:r>
            <a:endParaRPr lang="en-US" dirty="0"/>
          </a:p>
        </p:txBody>
      </p:sp>
      <p:sp>
        <p:nvSpPr>
          <p:cNvPr id="10" name="Text 8"/>
          <p:cNvSpPr/>
          <p:nvPr/>
        </p:nvSpPr>
        <p:spPr>
          <a:xfrm>
            <a:off x="11397377" y="2720221"/>
            <a:ext cx="2261592" cy="238125"/>
          </a:xfrm>
          <a:prstGeom prst="rect">
            <a:avLst/>
          </a:prstGeom>
          <a:noFill/>
          <a:ln/>
        </p:spPr>
        <p:txBody>
          <a:bodyPr wrap="none" lIns="0" tIns="0" rIns="0" bIns="0" rtlCol="0" anchor="t"/>
          <a:lstStyle/>
          <a:p>
            <a:pPr marL="0" indent="0" algn="l">
              <a:lnSpc>
                <a:spcPts val="1850"/>
              </a:lnSpc>
              <a:buNone/>
            </a:pPr>
            <a:r>
              <a:rPr lang="en-US" b="1" dirty="0">
                <a:solidFill>
                  <a:srgbClr val="D7E5D8"/>
                </a:solidFill>
                <a:latin typeface="Syne" pitchFamily="34" charset="0"/>
                <a:ea typeface="Syne" pitchFamily="34" charset="-122"/>
                <a:cs typeface="Syne" pitchFamily="34" charset="-120"/>
              </a:rPr>
              <a:t>F1-Score</a:t>
            </a:r>
            <a:endParaRPr lang="en-US" dirty="0"/>
          </a:p>
        </p:txBody>
      </p:sp>
      <p:sp>
        <p:nvSpPr>
          <p:cNvPr id="11" name="Text 9"/>
          <p:cNvSpPr/>
          <p:nvPr/>
        </p:nvSpPr>
        <p:spPr>
          <a:xfrm>
            <a:off x="971788" y="3134082"/>
            <a:ext cx="2261592" cy="238125"/>
          </a:xfrm>
          <a:prstGeom prst="rect">
            <a:avLst/>
          </a:prstGeom>
          <a:noFill/>
          <a:ln/>
        </p:spPr>
        <p:txBody>
          <a:bodyPr wrap="none" lIns="0" tIns="0" rIns="0" bIns="0" rtlCol="0" anchor="t"/>
          <a:lstStyle/>
          <a:p>
            <a:pPr marL="0" indent="0" algn="l">
              <a:lnSpc>
                <a:spcPts val="1850"/>
              </a:lnSpc>
              <a:buNone/>
            </a:pPr>
            <a:r>
              <a:rPr lang="en-US" dirty="0">
                <a:solidFill>
                  <a:srgbClr val="D7E5D8"/>
                </a:solidFill>
                <a:latin typeface="Syne" pitchFamily="34" charset="0"/>
                <a:ea typeface="Syne" pitchFamily="34" charset="-122"/>
                <a:cs typeface="Syne" pitchFamily="34" charset="-120"/>
              </a:rPr>
              <a:t>Logistic Regression</a:t>
            </a:r>
            <a:endParaRPr lang="en-US" dirty="0"/>
          </a:p>
        </p:txBody>
      </p:sp>
      <p:sp>
        <p:nvSpPr>
          <p:cNvPr id="12" name="Text 10"/>
          <p:cNvSpPr/>
          <p:nvPr/>
        </p:nvSpPr>
        <p:spPr>
          <a:xfrm>
            <a:off x="3581043" y="3134082"/>
            <a:ext cx="2257782" cy="238125"/>
          </a:xfrm>
          <a:prstGeom prst="rect">
            <a:avLst/>
          </a:prstGeom>
          <a:noFill/>
          <a:ln/>
        </p:spPr>
        <p:txBody>
          <a:bodyPr wrap="none" lIns="0" tIns="0" rIns="0" bIns="0" rtlCol="0" anchor="t"/>
          <a:lstStyle/>
          <a:p>
            <a:pPr marL="0" indent="0" algn="l">
              <a:lnSpc>
                <a:spcPts val="1850"/>
              </a:lnSpc>
              <a:buNone/>
            </a:pPr>
            <a:r>
              <a:rPr lang="en-US" dirty="0">
                <a:solidFill>
                  <a:srgbClr val="D7E5D8"/>
                </a:solidFill>
                <a:latin typeface="Syne" pitchFamily="34" charset="0"/>
                <a:ea typeface="Syne" pitchFamily="34" charset="-122"/>
                <a:cs typeface="Syne" pitchFamily="34" charset="-120"/>
              </a:rPr>
              <a:t>89.47%</a:t>
            </a:r>
            <a:endParaRPr lang="en-US" dirty="0"/>
          </a:p>
        </p:txBody>
      </p:sp>
      <p:sp>
        <p:nvSpPr>
          <p:cNvPr id="13" name="Text 11"/>
          <p:cNvSpPr/>
          <p:nvPr/>
        </p:nvSpPr>
        <p:spPr>
          <a:xfrm>
            <a:off x="6186488" y="3134082"/>
            <a:ext cx="2257782" cy="238125"/>
          </a:xfrm>
          <a:prstGeom prst="rect">
            <a:avLst/>
          </a:prstGeom>
          <a:noFill/>
          <a:ln/>
        </p:spPr>
        <p:txBody>
          <a:bodyPr wrap="none" lIns="0" tIns="0" rIns="0" bIns="0" rtlCol="0" anchor="t"/>
          <a:lstStyle/>
          <a:p>
            <a:pPr marL="0" indent="0" algn="l">
              <a:lnSpc>
                <a:spcPts val="1850"/>
              </a:lnSpc>
              <a:buNone/>
            </a:pPr>
            <a:r>
              <a:rPr lang="en-US" dirty="0">
                <a:solidFill>
                  <a:srgbClr val="D7E5D8"/>
                </a:solidFill>
                <a:latin typeface="Syne" pitchFamily="34" charset="0"/>
                <a:ea typeface="Syne" pitchFamily="34" charset="-122"/>
                <a:cs typeface="Syne" pitchFamily="34" charset="-120"/>
              </a:rPr>
              <a:t>0.83</a:t>
            </a:r>
            <a:endParaRPr lang="en-US" dirty="0"/>
          </a:p>
        </p:txBody>
      </p:sp>
      <p:sp>
        <p:nvSpPr>
          <p:cNvPr id="14" name="Text 12"/>
          <p:cNvSpPr/>
          <p:nvPr/>
        </p:nvSpPr>
        <p:spPr>
          <a:xfrm>
            <a:off x="8791932" y="3134082"/>
            <a:ext cx="2257782" cy="238125"/>
          </a:xfrm>
          <a:prstGeom prst="rect">
            <a:avLst/>
          </a:prstGeom>
          <a:noFill/>
          <a:ln/>
        </p:spPr>
        <p:txBody>
          <a:bodyPr wrap="none" lIns="0" tIns="0" rIns="0" bIns="0" rtlCol="0" anchor="t"/>
          <a:lstStyle/>
          <a:p>
            <a:pPr marL="0" indent="0" algn="l">
              <a:lnSpc>
                <a:spcPts val="1850"/>
              </a:lnSpc>
              <a:buNone/>
            </a:pPr>
            <a:r>
              <a:rPr lang="en-US" dirty="0">
                <a:solidFill>
                  <a:srgbClr val="D7E5D8"/>
                </a:solidFill>
                <a:latin typeface="Syne" pitchFamily="34" charset="0"/>
                <a:ea typeface="Syne" pitchFamily="34" charset="-122"/>
                <a:cs typeface="Syne" pitchFamily="34" charset="-120"/>
              </a:rPr>
              <a:t>0.50</a:t>
            </a:r>
            <a:endParaRPr lang="en-US" dirty="0"/>
          </a:p>
        </p:txBody>
      </p:sp>
      <p:sp>
        <p:nvSpPr>
          <p:cNvPr id="15" name="Text 13"/>
          <p:cNvSpPr/>
          <p:nvPr/>
        </p:nvSpPr>
        <p:spPr>
          <a:xfrm>
            <a:off x="11397377" y="3134082"/>
            <a:ext cx="2261592" cy="238125"/>
          </a:xfrm>
          <a:prstGeom prst="rect">
            <a:avLst/>
          </a:prstGeom>
          <a:noFill/>
          <a:ln/>
        </p:spPr>
        <p:txBody>
          <a:bodyPr wrap="none" lIns="0" tIns="0" rIns="0" bIns="0" rtlCol="0" anchor="t"/>
          <a:lstStyle/>
          <a:p>
            <a:pPr marL="0" indent="0" algn="l">
              <a:lnSpc>
                <a:spcPts val="1850"/>
              </a:lnSpc>
              <a:buNone/>
            </a:pPr>
            <a:r>
              <a:rPr lang="en-US" dirty="0">
                <a:solidFill>
                  <a:srgbClr val="D7E5D8"/>
                </a:solidFill>
                <a:latin typeface="Syne" pitchFamily="34" charset="0"/>
                <a:ea typeface="Syne" pitchFamily="34" charset="-122"/>
                <a:cs typeface="Syne" pitchFamily="34" charset="-120"/>
              </a:rPr>
              <a:t>0.62</a:t>
            </a:r>
            <a:endParaRPr lang="en-US" dirty="0"/>
          </a:p>
        </p:txBody>
      </p:sp>
      <p:sp>
        <p:nvSpPr>
          <p:cNvPr id="16" name="Text 14"/>
          <p:cNvSpPr/>
          <p:nvPr/>
        </p:nvSpPr>
        <p:spPr>
          <a:xfrm>
            <a:off x="971788" y="3547943"/>
            <a:ext cx="2261592" cy="238125"/>
          </a:xfrm>
          <a:prstGeom prst="rect">
            <a:avLst/>
          </a:prstGeom>
          <a:noFill/>
          <a:ln/>
        </p:spPr>
        <p:txBody>
          <a:bodyPr wrap="none" lIns="0" tIns="0" rIns="0" bIns="0" rtlCol="0" anchor="t"/>
          <a:lstStyle/>
          <a:p>
            <a:pPr marL="0" indent="0" algn="l">
              <a:lnSpc>
                <a:spcPts val="1850"/>
              </a:lnSpc>
              <a:buNone/>
            </a:pPr>
            <a:r>
              <a:rPr lang="en-US" dirty="0">
                <a:solidFill>
                  <a:srgbClr val="D7E5D8"/>
                </a:solidFill>
                <a:latin typeface="Syne" pitchFamily="34" charset="0"/>
                <a:ea typeface="Syne" pitchFamily="34" charset="-122"/>
                <a:cs typeface="Syne" pitchFamily="34" charset="-120"/>
              </a:rPr>
              <a:t>Random Forest</a:t>
            </a:r>
            <a:endParaRPr lang="en-US" dirty="0"/>
          </a:p>
        </p:txBody>
      </p:sp>
      <p:sp>
        <p:nvSpPr>
          <p:cNvPr id="17" name="Text 15"/>
          <p:cNvSpPr/>
          <p:nvPr/>
        </p:nvSpPr>
        <p:spPr>
          <a:xfrm>
            <a:off x="3581043" y="3547943"/>
            <a:ext cx="2257782" cy="238125"/>
          </a:xfrm>
          <a:prstGeom prst="rect">
            <a:avLst/>
          </a:prstGeom>
          <a:noFill/>
          <a:ln/>
        </p:spPr>
        <p:txBody>
          <a:bodyPr wrap="none" lIns="0" tIns="0" rIns="0" bIns="0" rtlCol="0" anchor="t"/>
          <a:lstStyle/>
          <a:p>
            <a:pPr marL="0" indent="0" algn="l">
              <a:lnSpc>
                <a:spcPts val="1850"/>
              </a:lnSpc>
              <a:buNone/>
            </a:pPr>
            <a:r>
              <a:rPr lang="en-US" dirty="0">
                <a:solidFill>
                  <a:srgbClr val="D7E5D8"/>
                </a:solidFill>
                <a:latin typeface="Syne" pitchFamily="34" charset="0"/>
                <a:ea typeface="Syne" pitchFamily="34" charset="-122"/>
                <a:cs typeface="Syne" pitchFamily="34" charset="-120"/>
              </a:rPr>
              <a:t>87.72%</a:t>
            </a:r>
            <a:endParaRPr lang="en-US" dirty="0"/>
          </a:p>
        </p:txBody>
      </p:sp>
      <p:sp>
        <p:nvSpPr>
          <p:cNvPr id="18" name="Text 16"/>
          <p:cNvSpPr/>
          <p:nvPr/>
        </p:nvSpPr>
        <p:spPr>
          <a:xfrm>
            <a:off x="6186488" y="3547943"/>
            <a:ext cx="2257782" cy="238125"/>
          </a:xfrm>
          <a:prstGeom prst="rect">
            <a:avLst/>
          </a:prstGeom>
          <a:noFill/>
          <a:ln/>
        </p:spPr>
        <p:txBody>
          <a:bodyPr wrap="none" lIns="0" tIns="0" rIns="0" bIns="0" rtlCol="0" anchor="t"/>
          <a:lstStyle/>
          <a:p>
            <a:pPr marL="0" indent="0" algn="l">
              <a:lnSpc>
                <a:spcPts val="1850"/>
              </a:lnSpc>
              <a:buNone/>
            </a:pPr>
            <a:r>
              <a:rPr lang="en-US" dirty="0">
                <a:solidFill>
                  <a:srgbClr val="D7E5D8"/>
                </a:solidFill>
                <a:latin typeface="Syne" pitchFamily="34" charset="0"/>
                <a:ea typeface="Syne" pitchFamily="34" charset="-122"/>
                <a:cs typeface="Syne" pitchFamily="34" charset="-120"/>
              </a:rPr>
              <a:t>0.80</a:t>
            </a:r>
            <a:endParaRPr lang="en-US" dirty="0"/>
          </a:p>
        </p:txBody>
      </p:sp>
      <p:sp>
        <p:nvSpPr>
          <p:cNvPr id="19" name="Text 17"/>
          <p:cNvSpPr/>
          <p:nvPr/>
        </p:nvSpPr>
        <p:spPr>
          <a:xfrm>
            <a:off x="8791932" y="3547943"/>
            <a:ext cx="2257782" cy="238125"/>
          </a:xfrm>
          <a:prstGeom prst="rect">
            <a:avLst/>
          </a:prstGeom>
          <a:noFill/>
          <a:ln/>
        </p:spPr>
        <p:txBody>
          <a:bodyPr wrap="none" lIns="0" tIns="0" rIns="0" bIns="0" rtlCol="0" anchor="t"/>
          <a:lstStyle/>
          <a:p>
            <a:pPr marL="0" indent="0" algn="l">
              <a:lnSpc>
                <a:spcPts val="1850"/>
              </a:lnSpc>
              <a:buNone/>
            </a:pPr>
            <a:r>
              <a:rPr lang="en-US" dirty="0">
                <a:solidFill>
                  <a:srgbClr val="D7E5D8"/>
                </a:solidFill>
                <a:latin typeface="Syne" pitchFamily="34" charset="0"/>
                <a:ea typeface="Syne" pitchFamily="34" charset="-122"/>
                <a:cs typeface="Syne" pitchFamily="34" charset="-120"/>
              </a:rPr>
              <a:t>0.40</a:t>
            </a:r>
            <a:endParaRPr lang="en-US" dirty="0"/>
          </a:p>
        </p:txBody>
      </p:sp>
      <p:sp>
        <p:nvSpPr>
          <p:cNvPr id="20" name="Text 18"/>
          <p:cNvSpPr/>
          <p:nvPr/>
        </p:nvSpPr>
        <p:spPr>
          <a:xfrm>
            <a:off x="11397377" y="3547943"/>
            <a:ext cx="2261592" cy="238125"/>
          </a:xfrm>
          <a:prstGeom prst="rect">
            <a:avLst/>
          </a:prstGeom>
          <a:noFill/>
          <a:ln/>
        </p:spPr>
        <p:txBody>
          <a:bodyPr wrap="none" lIns="0" tIns="0" rIns="0" bIns="0" rtlCol="0" anchor="t"/>
          <a:lstStyle/>
          <a:p>
            <a:pPr marL="0" indent="0" algn="l">
              <a:lnSpc>
                <a:spcPts val="1850"/>
              </a:lnSpc>
              <a:buNone/>
            </a:pPr>
            <a:r>
              <a:rPr lang="en-US" dirty="0">
                <a:solidFill>
                  <a:srgbClr val="D7E5D8"/>
                </a:solidFill>
                <a:latin typeface="Syne" pitchFamily="34" charset="0"/>
                <a:ea typeface="Syne" pitchFamily="34" charset="-122"/>
                <a:cs typeface="Syne" pitchFamily="34" charset="-120"/>
              </a:rPr>
              <a:t>0.53</a:t>
            </a:r>
            <a:endParaRPr lang="en-US" dirty="0"/>
          </a:p>
        </p:txBody>
      </p:sp>
      <p:sp>
        <p:nvSpPr>
          <p:cNvPr id="21" name="Text 19"/>
          <p:cNvSpPr/>
          <p:nvPr/>
        </p:nvSpPr>
        <p:spPr>
          <a:xfrm>
            <a:off x="971788" y="3961805"/>
            <a:ext cx="2261592" cy="238125"/>
          </a:xfrm>
          <a:prstGeom prst="rect">
            <a:avLst/>
          </a:prstGeom>
          <a:noFill/>
          <a:ln/>
        </p:spPr>
        <p:txBody>
          <a:bodyPr wrap="none" lIns="0" tIns="0" rIns="0" bIns="0" rtlCol="0" anchor="t"/>
          <a:lstStyle/>
          <a:p>
            <a:pPr marL="0" indent="0" algn="l">
              <a:lnSpc>
                <a:spcPts val="1850"/>
              </a:lnSpc>
              <a:buNone/>
            </a:pPr>
            <a:r>
              <a:rPr lang="en-US" dirty="0">
                <a:solidFill>
                  <a:srgbClr val="D7E5D8"/>
                </a:solidFill>
                <a:latin typeface="Syne" pitchFamily="34" charset="0"/>
                <a:ea typeface="Syne" pitchFamily="34" charset="-122"/>
                <a:cs typeface="Syne" pitchFamily="34" charset="-120"/>
              </a:rPr>
              <a:t>XGBoost</a:t>
            </a:r>
            <a:endParaRPr lang="en-US" dirty="0"/>
          </a:p>
        </p:txBody>
      </p:sp>
      <p:sp>
        <p:nvSpPr>
          <p:cNvPr id="22" name="Text 20"/>
          <p:cNvSpPr/>
          <p:nvPr/>
        </p:nvSpPr>
        <p:spPr>
          <a:xfrm>
            <a:off x="3581043" y="3961805"/>
            <a:ext cx="2257782" cy="238125"/>
          </a:xfrm>
          <a:prstGeom prst="rect">
            <a:avLst/>
          </a:prstGeom>
          <a:noFill/>
          <a:ln/>
        </p:spPr>
        <p:txBody>
          <a:bodyPr wrap="none" lIns="0" tIns="0" rIns="0" bIns="0" rtlCol="0" anchor="t"/>
          <a:lstStyle/>
          <a:p>
            <a:pPr marL="0" indent="0" algn="l">
              <a:lnSpc>
                <a:spcPts val="1850"/>
              </a:lnSpc>
              <a:buNone/>
            </a:pPr>
            <a:r>
              <a:rPr lang="en-US" dirty="0">
                <a:solidFill>
                  <a:srgbClr val="D7E5D8"/>
                </a:solidFill>
                <a:latin typeface="Syne" pitchFamily="34" charset="0"/>
                <a:ea typeface="Syne" pitchFamily="34" charset="-122"/>
                <a:cs typeface="Syne" pitchFamily="34" charset="-120"/>
              </a:rPr>
              <a:t>85.96%</a:t>
            </a:r>
            <a:endParaRPr lang="en-US" dirty="0"/>
          </a:p>
        </p:txBody>
      </p:sp>
      <p:sp>
        <p:nvSpPr>
          <p:cNvPr id="23" name="Text 21"/>
          <p:cNvSpPr/>
          <p:nvPr/>
        </p:nvSpPr>
        <p:spPr>
          <a:xfrm>
            <a:off x="6186488" y="3961805"/>
            <a:ext cx="2257782" cy="238125"/>
          </a:xfrm>
          <a:prstGeom prst="rect">
            <a:avLst/>
          </a:prstGeom>
          <a:noFill/>
          <a:ln/>
        </p:spPr>
        <p:txBody>
          <a:bodyPr wrap="none" lIns="0" tIns="0" rIns="0" bIns="0" rtlCol="0" anchor="t"/>
          <a:lstStyle/>
          <a:p>
            <a:pPr marL="0" indent="0" algn="l">
              <a:lnSpc>
                <a:spcPts val="1850"/>
              </a:lnSpc>
              <a:buNone/>
            </a:pPr>
            <a:r>
              <a:rPr lang="en-US" dirty="0">
                <a:solidFill>
                  <a:srgbClr val="D7E5D8"/>
                </a:solidFill>
                <a:latin typeface="Syne" pitchFamily="34" charset="0"/>
                <a:ea typeface="Syne" pitchFamily="34" charset="-122"/>
                <a:cs typeface="Syne" pitchFamily="34" charset="-120"/>
              </a:rPr>
              <a:t>0.67</a:t>
            </a:r>
            <a:endParaRPr lang="en-US" dirty="0"/>
          </a:p>
        </p:txBody>
      </p:sp>
      <p:sp>
        <p:nvSpPr>
          <p:cNvPr id="24" name="Text 22"/>
          <p:cNvSpPr/>
          <p:nvPr/>
        </p:nvSpPr>
        <p:spPr>
          <a:xfrm>
            <a:off x="8791932" y="3961805"/>
            <a:ext cx="2257782" cy="238125"/>
          </a:xfrm>
          <a:prstGeom prst="rect">
            <a:avLst/>
          </a:prstGeom>
          <a:noFill/>
          <a:ln/>
        </p:spPr>
        <p:txBody>
          <a:bodyPr wrap="none" lIns="0" tIns="0" rIns="0" bIns="0" rtlCol="0" anchor="t"/>
          <a:lstStyle/>
          <a:p>
            <a:pPr marL="0" indent="0" algn="l">
              <a:lnSpc>
                <a:spcPts val="1850"/>
              </a:lnSpc>
              <a:buNone/>
            </a:pPr>
            <a:r>
              <a:rPr lang="en-US" dirty="0">
                <a:solidFill>
                  <a:srgbClr val="D7E5D8"/>
                </a:solidFill>
                <a:latin typeface="Syne" pitchFamily="34" charset="0"/>
                <a:ea typeface="Syne" pitchFamily="34" charset="-122"/>
                <a:cs typeface="Syne" pitchFamily="34" charset="-120"/>
              </a:rPr>
              <a:t>0.40</a:t>
            </a:r>
            <a:endParaRPr lang="en-US" dirty="0"/>
          </a:p>
        </p:txBody>
      </p:sp>
      <p:sp>
        <p:nvSpPr>
          <p:cNvPr id="25" name="Text 23"/>
          <p:cNvSpPr/>
          <p:nvPr/>
        </p:nvSpPr>
        <p:spPr>
          <a:xfrm>
            <a:off x="11397377" y="3961805"/>
            <a:ext cx="2261592" cy="238125"/>
          </a:xfrm>
          <a:prstGeom prst="rect">
            <a:avLst/>
          </a:prstGeom>
          <a:noFill/>
          <a:ln/>
        </p:spPr>
        <p:txBody>
          <a:bodyPr wrap="none" lIns="0" tIns="0" rIns="0" bIns="0" rtlCol="0" anchor="t"/>
          <a:lstStyle/>
          <a:p>
            <a:pPr marL="0" indent="0" algn="l">
              <a:lnSpc>
                <a:spcPts val="1850"/>
              </a:lnSpc>
              <a:buNone/>
            </a:pPr>
            <a:r>
              <a:rPr lang="en-US" dirty="0">
                <a:solidFill>
                  <a:srgbClr val="D7E5D8"/>
                </a:solidFill>
                <a:latin typeface="Syne" pitchFamily="34" charset="0"/>
                <a:ea typeface="Syne" pitchFamily="34" charset="-122"/>
                <a:cs typeface="Syne" pitchFamily="34" charset="-120"/>
              </a:rPr>
              <a:t>0.50</a:t>
            </a:r>
            <a:endParaRPr lang="en-US" dirty="0"/>
          </a:p>
        </p:txBody>
      </p:sp>
      <p:sp>
        <p:nvSpPr>
          <p:cNvPr id="29" name="Text 26"/>
          <p:cNvSpPr/>
          <p:nvPr/>
        </p:nvSpPr>
        <p:spPr>
          <a:xfrm>
            <a:off x="793790" y="4691717"/>
            <a:ext cx="13042821" cy="238125"/>
          </a:xfrm>
          <a:prstGeom prst="rect">
            <a:avLst/>
          </a:prstGeom>
          <a:noFill/>
          <a:ln/>
        </p:spPr>
        <p:txBody>
          <a:bodyPr wrap="none" lIns="0" tIns="0" rIns="0" bIns="0" rtlCol="0" anchor="t"/>
          <a:lstStyle/>
          <a:p>
            <a:pPr marL="0" indent="0" algn="l">
              <a:lnSpc>
                <a:spcPts val="1850"/>
              </a:lnSpc>
              <a:buNone/>
            </a:pPr>
            <a:r>
              <a:rPr lang="en-US" sz="2000" b="1" dirty="0">
                <a:solidFill>
                  <a:srgbClr val="D7E5D8"/>
                </a:solidFill>
                <a:latin typeface="Syne" pitchFamily="34" charset="0"/>
                <a:ea typeface="Syne" pitchFamily="34" charset="-122"/>
                <a:cs typeface="Syne" pitchFamily="34" charset="-120"/>
              </a:rPr>
              <a:t>Interpretation:</a:t>
            </a:r>
            <a:endParaRPr lang="en-US" sz="2000" dirty="0"/>
          </a:p>
        </p:txBody>
      </p:sp>
      <p:sp>
        <p:nvSpPr>
          <p:cNvPr id="30" name="Text 27"/>
          <p:cNvSpPr/>
          <p:nvPr/>
        </p:nvSpPr>
        <p:spPr>
          <a:xfrm>
            <a:off x="793790" y="5133322"/>
            <a:ext cx="13042821" cy="1086445"/>
          </a:xfrm>
          <a:prstGeom prst="rect">
            <a:avLst/>
          </a:prstGeom>
          <a:noFill/>
          <a:ln/>
        </p:spPr>
        <p:txBody>
          <a:bodyPr wrap="square" lIns="0" tIns="0" rIns="0" bIns="0" rtlCol="0" anchor="t"/>
          <a:lstStyle/>
          <a:p>
            <a:pPr marL="342900" indent="-342900" algn="l">
              <a:lnSpc>
                <a:spcPts val="1850"/>
              </a:lnSpc>
              <a:buSzPct val="100000"/>
              <a:buChar char="•"/>
            </a:pPr>
            <a:r>
              <a:rPr lang="en-US" sz="2000" dirty="0">
                <a:solidFill>
                  <a:srgbClr val="D7E5D8"/>
                </a:solidFill>
                <a:latin typeface="Syne" pitchFamily="34" charset="0"/>
                <a:ea typeface="Syne" pitchFamily="34" charset="-122"/>
                <a:cs typeface="Syne" pitchFamily="34" charset="-120"/>
              </a:rPr>
              <a:t>Logistic Regression shows the best overall performance with the highest accuracy (89.47%).</a:t>
            </a:r>
            <a:endParaRPr lang="en-US" sz="2000" dirty="0"/>
          </a:p>
          <a:p>
            <a:pPr marL="342900" indent="-342900" algn="l">
              <a:lnSpc>
                <a:spcPts val="1850"/>
              </a:lnSpc>
              <a:buSzPct val="100000"/>
              <a:buChar char="•"/>
            </a:pPr>
            <a:r>
              <a:rPr lang="en-US" sz="2000" dirty="0">
                <a:solidFill>
                  <a:srgbClr val="D7E5D8"/>
                </a:solidFill>
                <a:latin typeface="Syne" pitchFamily="34" charset="0"/>
                <a:ea typeface="Syne" pitchFamily="34" charset="-122"/>
                <a:cs typeface="Syne" pitchFamily="34" charset="-120"/>
              </a:rPr>
              <a:t>Random Forest also performs well with good accuracy (87.72%) and strong precision.</a:t>
            </a:r>
            <a:endParaRPr lang="en-US" sz="2000" dirty="0"/>
          </a:p>
          <a:p>
            <a:pPr marL="342900" indent="-342900" algn="l">
              <a:lnSpc>
                <a:spcPts val="1850"/>
              </a:lnSpc>
              <a:buSzPct val="100000"/>
              <a:buChar char="•"/>
            </a:pPr>
            <a:r>
              <a:rPr lang="en-US" sz="2000" dirty="0">
                <a:solidFill>
                  <a:srgbClr val="D7E5D8"/>
                </a:solidFill>
                <a:latin typeface="Syne" pitchFamily="34" charset="0"/>
                <a:ea typeface="Syne" pitchFamily="34" charset="-122"/>
                <a:cs typeface="Syne" pitchFamily="34" charset="-120"/>
              </a:rPr>
              <a:t>XGBoost gives slightly lower accuracy (85.96%) but has competitive precision and recall.</a:t>
            </a:r>
            <a:endParaRPr lang="en-US" sz="2000" dirty="0"/>
          </a:p>
          <a:p>
            <a:pPr marL="342900" indent="-342900" algn="l">
              <a:lnSpc>
                <a:spcPts val="1850"/>
              </a:lnSpc>
              <a:buSzPct val="100000"/>
              <a:buChar char="•"/>
            </a:pPr>
            <a:r>
              <a:rPr lang="en-US" sz="2000" dirty="0">
                <a:solidFill>
                  <a:srgbClr val="D7E5D8"/>
                </a:solidFill>
                <a:latin typeface="Syne" pitchFamily="34" charset="0"/>
                <a:ea typeface="Syne" pitchFamily="34" charset="-122"/>
                <a:cs typeface="Syne" pitchFamily="34" charset="-120"/>
              </a:rPr>
              <a:t>All models show moderate ability in identifying at-risk students.</a:t>
            </a:r>
            <a:endParaRPr lang="en-US" sz="2000" dirty="0"/>
          </a:p>
        </p:txBody>
      </p:sp>
      <p:sp>
        <p:nvSpPr>
          <p:cNvPr id="31" name="Text 28"/>
          <p:cNvSpPr/>
          <p:nvPr/>
        </p:nvSpPr>
        <p:spPr>
          <a:xfrm>
            <a:off x="793790" y="6493579"/>
            <a:ext cx="13042821" cy="476250"/>
          </a:xfrm>
          <a:prstGeom prst="rect">
            <a:avLst/>
          </a:prstGeom>
          <a:noFill/>
          <a:ln/>
        </p:spPr>
        <p:txBody>
          <a:bodyPr wrap="square" lIns="0" tIns="0" rIns="0" bIns="0" rtlCol="0" anchor="t"/>
          <a:lstStyle/>
          <a:p>
            <a:pPr marL="0" indent="0" algn="l">
              <a:lnSpc>
                <a:spcPts val="1850"/>
              </a:lnSpc>
              <a:buNone/>
            </a:pPr>
            <a:r>
              <a:rPr lang="en-US" sz="2000" dirty="0">
                <a:solidFill>
                  <a:srgbClr val="D7E5D8"/>
                </a:solidFill>
                <a:latin typeface="Syne" pitchFamily="34" charset="0"/>
                <a:ea typeface="Syne" pitchFamily="34" charset="-122"/>
                <a:cs typeface="Syne" pitchFamily="34" charset="-120"/>
              </a:rPr>
              <a:t>       Overall, Logistic Regression is identified as the best model for this classification task,       while Random Forest and XGBoost also provide reliable results for identifying at-risk students.     </a:t>
            </a:r>
            <a:endParaRPr lang="en-US" sz="2000" dirty="0"/>
          </a:p>
        </p:txBody>
      </p:sp>
      <p:sp>
        <p:nvSpPr>
          <p:cNvPr id="32" name="Rectangle 31">
            <a:extLst>
              <a:ext uri="{FF2B5EF4-FFF2-40B4-BE49-F238E27FC236}">
                <a16:creationId xmlns:a16="http://schemas.microsoft.com/office/drawing/2014/main" id="{AD9EC82F-A4FD-4CB5-9BF7-42B71BB4C158}"/>
              </a:ext>
            </a:extLst>
          </p:cNvPr>
          <p:cNvSpPr/>
          <p:nvPr/>
        </p:nvSpPr>
        <p:spPr>
          <a:xfrm>
            <a:off x="12801600" y="7661710"/>
            <a:ext cx="1742173" cy="548640"/>
          </a:xfrm>
          <a:prstGeom prst="rect">
            <a:avLst/>
          </a:prstGeom>
          <a:solidFill>
            <a:srgbClr val="141E24"/>
          </a:solidFill>
          <a:ln>
            <a:solidFill>
              <a:srgbClr val="141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704374"/>
            <a:ext cx="10397490" cy="496133"/>
          </a:xfrm>
          <a:prstGeom prst="rect">
            <a:avLst/>
          </a:prstGeom>
          <a:noFill/>
          <a:ln/>
        </p:spPr>
        <p:txBody>
          <a:bodyPr wrap="none" lIns="0" tIns="0" rIns="0" bIns="0" rtlCol="0" anchor="t"/>
          <a:lstStyle/>
          <a:p>
            <a:pPr marL="0" indent="0" algn="l">
              <a:lnSpc>
                <a:spcPts val="3900"/>
              </a:lnSpc>
              <a:buNone/>
            </a:pPr>
            <a:r>
              <a:rPr lang="en-US" sz="3100" b="1" dirty="0">
                <a:solidFill>
                  <a:srgbClr val="F0F4F1"/>
                </a:solidFill>
                <a:latin typeface="Syne Extra Bold" pitchFamily="34" charset="0"/>
                <a:ea typeface="Syne Extra Bold" pitchFamily="34" charset="-122"/>
                <a:cs typeface="Syne Extra Bold" pitchFamily="34" charset="-120"/>
              </a:rPr>
              <a:t>Exploratory Factor Analysis (EFA)</a:t>
            </a:r>
            <a:endParaRPr lang="en-US" sz="3100" dirty="0"/>
          </a:p>
        </p:txBody>
      </p:sp>
      <p:sp>
        <p:nvSpPr>
          <p:cNvPr id="3" name="Text 1"/>
          <p:cNvSpPr/>
          <p:nvPr/>
        </p:nvSpPr>
        <p:spPr>
          <a:xfrm>
            <a:off x="793790" y="1422797"/>
            <a:ext cx="13042821" cy="215979"/>
          </a:xfrm>
          <a:prstGeom prst="rect">
            <a:avLst/>
          </a:prstGeom>
          <a:noFill/>
          <a:ln/>
        </p:spPr>
        <p:txBody>
          <a:bodyPr wrap="none" lIns="0" tIns="0" rIns="0" bIns="0" rtlCol="0" anchor="t"/>
          <a:lstStyle/>
          <a:p>
            <a:pPr marL="0" indent="0" algn="l">
              <a:lnSpc>
                <a:spcPts val="1700"/>
              </a:lnSpc>
              <a:buNone/>
            </a:pPr>
            <a:r>
              <a:rPr lang="en-US" dirty="0">
                <a:solidFill>
                  <a:srgbClr val="D7E5D8"/>
                </a:solidFill>
                <a:latin typeface="Syne" pitchFamily="34" charset="0"/>
                <a:ea typeface="Syne" pitchFamily="34" charset="-122"/>
                <a:cs typeface="Syne" pitchFamily="34" charset="-120"/>
              </a:rPr>
              <a:t>Identification of Major Student Challenge Dimensions</a:t>
            </a:r>
            <a:endParaRPr lang="en-US" dirty="0"/>
          </a:p>
        </p:txBody>
      </p:sp>
      <p:sp>
        <p:nvSpPr>
          <p:cNvPr id="4" name="Text 2"/>
          <p:cNvSpPr/>
          <p:nvPr/>
        </p:nvSpPr>
        <p:spPr>
          <a:xfrm>
            <a:off x="793790" y="1805464"/>
            <a:ext cx="3203972" cy="248007"/>
          </a:xfrm>
          <a:prstGeom prst="rect">
            <a:avLst/>
          </a:prstGeom>
          <a:noFill/>
          <a:ln/>
        </p:spPr>
        <p:txBody>
          <a:bodyPr wrap="none" lIns="0" tIns="0" rIns="0" bIns="0" rtlCol="0" anchor="t"/>
          <a:lstStyle/>
          <a:p>
            <a:pPr marL="0" indent="0" algn="l">
              <a:lnSpc>
                <a:spcPts val="1950"/>
              </a:lnSpc>
              <a:buNone/>
            </a:pPr>
            <a:r>
              <a:rPr lang="en-US" b="1" dirty="0">
                <a:solidFill>
                  <a:srgbClr val="F0F4F1"/>
                </a:solidFill>
                <a:latin typeface="Syne Extra Bold" pitchFamily="34" charset="0"/>
                <a:ea typeface="Syne Extra Bold" pitchFamily="34" charset="-122"/>
                <a:cs typeface="Syne Extra Bold" pitchFamily="34" charset="-120"/>
              </a:rPr>
              <a:t>Sampling Adequacy</a:t>
            </a:r>
            <a:endParaRPr lang="en-US" dirty="0"/>
          </a:p>
        </p:txBody>
      </p:sp>
      <p:sp>
        <p:nvSpPr>
          <p:cNvPr id="5" name="Shape 3"/>
          <p:cNvSpPr/>
          <p:nvPr/>
        </p:nvSpPr>
        <p:spPr>
          <a:xfrm>
            <a:off x="793790" y="2220158"/>
            <a:ext cx="13042821" cy="1124188"/>
          </a:xfrm>
          <a:prstGeom prst="roundRect">
            <a:avLst>
              <a:gd name="adj" fmla="val 5932"/>
            </a:avLst>
          </a:prstGeom>
          <a:noFill/>
          <a:ln w="7620">
            <a:solidFill>
              <a:srgbClr val="FFFFFF">
                <a:alpha val="24000"/>
              </a:srgbClr>
            </a:solidFill>
            <a:prstDash val="solid"/>
          </a:ln>
        </p:spPr>
      </p:sp>
      <p:sp>
        <p:nvSpPr>
          <p:cNvPr id="6" name="Text 4"/>
          <p:cNvSpPr/>
          <p:nvPr/>
        </p:nvSpPr>
        <p:spPr>
          <a:xfrm>
            <a:off x="960120" y="2302073"/>
            <a:ext cx="6192560" cy="215979"/>
          </a:xfrm>
          <a:prstGeom prst="rect">
            <a:avLst/>
          </a:prstGeom>
          <a:noFill/>
          <a:ln/>
        </p:spPr>
        <p:txBody>
          <a:bodyPr wrap="none" lIns="0" tIns="0" rIns="0" bIns="0" rtlCol="0" anchor="t"/>
          <a:lstStyle/>
          <a:p>
            <a:pPr marL="0" indent="0" algn="l">
              <a:lnSpc>
                <a:spcPts val="1700"/>
              </a:lnSpc>
              <a:buNone/>
            </a:pPr>
            <a:r>
              <a:rPr lang="en-US" sz="1600" b="1" dirty="0">
                <a:solidFill>
                  <a:srgbClr val="D7E5D8"/>
                </a:solidFill>
                <a:latin typeface="Syne" pitchFamily="34" charset="0"/>
                <a:ea typeface="Syne" pitchFamily="34" charset="-122"/>
                <a:cs typeface="Syne" pitchFamily="34" charset="-120"/>
              </a:rPr>
              <a:t>Test</a:t>
            </a:r>
            <a:endParaRPr lang="en-US" sz="1600" dirty="0"/>
          </a:p>
        </p:txBody>
      </p:sp>
      <p:sp>
        <p:nvSpPr>
          <p:cNvPr id="7" name="Text 5"/>
          <p:cNvSpPr/>
          <p:nvPr/>
        </p:nvSpPr>
        <p:spPr>
          <a:xfrm>
            <a:off x="7477720" y="2302073"/>
            <a:ext cx="6192560" cy="215979"/>
          </a:xfrm>
          <a:prstGeom prst="rect">
            <a:avLst/>
          </a:prstGeom>
          <a:noFill/>
          <a:ln/>
        </p:spPr>
        <p:txBody>
          <a:bodyPr wrap="none" lIns="0" tIns="0" rIns="0" bIns="0" rtlCol="0" anchor="t"/>
          <a:lstStyle/>
          <a:p>
            <a:pPr marL="0" indent="0" algn="l">
              <a:lnSpc>
                <a:spcPts val="1700"/>
              </a:lnSpc>
              <a:buNone/>
            </a:pPr>
            <a:r>
              <a:rPr lang="en-US" sz="1600" b="1" dirty="0">
                <a:solidFill>
                  <a:srgbClr val="D7E5D8"/>
                </a:solidFill>
                <a:latin typeface="Syne" pitchFamily="34" charset="0"/>
                <a:ea typeface="Syne" pitchFamily="34" charset="-122"/>
                <a:cs typeface="Syne" pitchFamily="34" charset="-120"/>
              </a:rPr>
              <a:t>Value</a:t>
            </a:r>
            <a:endParaRPr lang="en-US" sz="1600" dirty="0"/>
          </a:p>
        </p:txBody>
      </p:sp>
      <p:sp>
        <p:nvSpPr>
          <p:cNvPr id="8" name="Text 6"/>
          <p:cNvSpPr/>
          <p:nvPr/>
        </p:nvSpPr>
        <p:spPr>
          <a:xfrm>
            <a:off x="960120" y="2674263"/>
            <a:ext cx="6192560" cy="215979"/>
          </a:xfrm>
          <a:prstGeom prst="rect">
            <a:avLst/>
          </a:prstGeom>
          <a:noFill/>
          <a:ln/>
        </p:spPr>
        <p:txBody>
          <a:bodyPr wrap="none" lIns="0" tIns="0" rIns="0" bIns="0" rtlCol="0" anchor="t"/>
          <a:lstStyle/>
          <a:p>
            <a:pPr>
              <a:lnSpc>
                <a:spcPts val="1700"/>
              </a:lnSpc>
            </a:pPr>
            <a:r>
              <a:rPr lang="en-US" sz="1600" dirty="0">
                <a:solidFill>
                  <a:schemeClr val="bg1"/>
                </a:solidFill>
                <a:latin typeface="Syne" pitchFamily="34" charset="0"/>
                <a:ea typeface="Syne" pitchFamily="34" charset="-122"/>
                <a:cs typeface="Syne" pitchFamily="34" charset="-120"/>
              </a:rPr>
              <a:t>KMO </a:t>
            </a:r>
            <a:r>
              <a:rPr lang="en-IN" dirty="0">
                <a:solidFill>
                  <a:schemeClr val="bg1"/>
                </a:solidFill>
              </a:rPr>
              <a:t>(Kaiser-Meyer-Olkin)</a:t>
            </a:r>
            <a:endParaRPr lang="en-US" sz="1600" dirty="0">
              <a:solidFill>
                <a:schemeClr val="bg1"/>
              </a:solidFill>
            </a:endParaRPr>
          </a:p>
        </p:txBody>
      </p:sp>
      <p:sp>
        <p:nvSpPr>
          <p:cNvPr id="9" name="Text 7"/>
          <p:cNvSpPr/>
          <p:nvPr/>
        </p:nvSpPr>
        <p:spPr>
          <a:xfrm>
            <a:off x="7477720" y="2674263"/>
            <a:ext cx="6192560" cy="215979"/>
          </a:xfrm>
          <a:prstGeom prst="rect">
            <a:avLst/>
          </a:prstGeom>
          <a:noFill/>
          <a:ln/>
        </p:spPr>
        <p:txBody>
          <a:bodyPr wrap="none" lIns="0" tIns="0" rIns="0" bIns="0" rtlCol="0" anchor="t"/>
          <a:lstStyle/>
          <a:p>
            <a:pPr marL="0" indent="0" algn="l">
              <a:lnSpc>
                <a:spcPts val="1700"/>
              </a:lnSpc>
              <a:buNone/>
            </a:pPr>
            <a:r>
              <a:rPr lang="en-US" sz="1600" dirty="0">
                <a:solidFill>
                  <a:srgbClr val="D7E5D8"/>
                </a:solidFill>
                <a:latin typeface="Syne" pitchFamily="34" charset="0"/>
                <a:ea typeface="Syne" pitchFamily="34" charset="-122"/>
                <a:cs typeface="Syne" pitchFamily="34" charset="-120"/>
              </a:rPr>
              <a:t>0.555</a:t>
            </a:r>
            <a:endParaRPr lang="en-US" sz="1600" dirty="0"/>
          </a:p>
        </p:txBody>
      </p:sp>
      <p:sp>
        <p:nvSpPr>
          <p:cNvPr id="10" name="Text 8"/>
          <p:cNvSpPr/>
          <p:nvPr/>
        </p:nvSpPr>
        <p:spPr>
          <a:xfrm>
            <a:off x="960120" y="3046452"/>
            <a:ext cx="6192560" cy="215979"/>
          </a:xfrm>
          <a:prstGeom prst="rect">
            <a:avLst/>
          </a:prstGeom>
          <a:noFill/>
          <a:ln/>
        </p:spPr>
        <p:txBody>
          <a:bodyPr wrap="none" lIns="0" tIns="0" rIns="0" bIns="0" rtlCol="0" anchor="t"/>
          <a:lstStyle/>
          <a:p>
            <a:pPr marL="0" indent="0" algn="l">
              <a:lnSpc>
                <a:spcPts val="1700"/>
              </a:lnSpc>
              <a:buNone/>
            </a:pPr>
            <a:r>
              <a:rPr lang="en-US" sz="1600" dirty="0">
                <a:solidFill>
                  <a:srgbClr val="D7E5D8"/>
                </a:solidFill>
                <a:latin typeface="Syne" pitchFamily="34" charset="0"/>
                <a:ea typeface="Syne" pitchFamily="34" charset="-122"/>
                <a:cs typeface="Syne" pitchFamily="34" charset="-120"/>
              </a:rPr>
              <a:t>Bartlett's Test</a:t>
            </a:r>
            <a:endParaRPr lang="en-US" sz="1600" dirty="0"/>
          </a:p>
        </p:txBody>
      </p:sp>
      <p:sp>
        <p:nvSpPr>
          <p:cNvPr id="11" name="Text 9"/>
          <p:cNvSpPr/>
          <p:nvPr/>
        </p:nvSpPr>
        <p:spPr>
          <a:xfrm>
            <a:off x="7477720" y="3046452"/>
            <a:ext cx="6192560" cy="215979"/>
          </a:xfrm>
          <a:prstGeom prst="rect">
            <a:avLst/>
          </a:prstGeom>
          <a:noFill/>
          <a:ln/>
        </p:spPr>
        <p:txBody>
          <a:bodyPr wrap="none" lIns="0" tIns="0" rIns="0" bIns="0" rtlCol="0" anchor="t"/>
          <a:lstStyle/>
          <a:p>
            <a:pPr marL="0" indent="0" algn="l">
              <a:lnSpc>
                <a:spcPts val="1700"/>
              </a:lnSpc>
              <a:buNone/>
            </a:pPr>
            <a:r>
              <a:rPr lang="en-US" sz="1600" dirty="0">
                <a:solidFill>
                  <a:srgbClr val="D7E5D8"/>
                </a:solidFill>
                <a:latin typeface="Syne" pitchFamily="34" charset="0"/>
                <a:ea typeface="Syne" pitchFamily="34" charset="-122"/>
                <a:cs typeface="Syne" pitchFamily="34" charset="-120"/>
              </a:rPr>
              <a:t>p &lt; 0.001</a:t>
            </a:r>
            <a:endParaRPr lang="en-US" sz="1600" dirty="0"/>
          </a:p>
        </p:txBody>
      </p:sp>
      <p:pic>
        <p:nvPicPr>
          <p:cNvPr id="1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3469362"/>
            <a:ext cx="396835" cy="396835"/>
          </a:xfrm>
          <a:prstGeom prst="rect">
            <a:avLst/>
          </a:prstGeom>
        </p:spPr>
      </p:pic>
      <p:sp>
        <p:nvSpPr>
          <p:cNvPr id="13" name="Text 10"/>
          <p:cNvSpPr/>
          <p:nvPr/>
        </p:nvSpPr>
        <p:spPr>
          <a:xfrm>
            <a:off x="793790" y="4005024"/>
            <a:ext cx="4255056" cy="496014"/>
          </a:xfrm>
          <a:prstGeom prst="rect">
            <a:avLst/>
          </a:prstGeom>
          <a:noFill/>
          <a:ln/>
        </p:spPr>
        <p:txBody>
          <a:bodyPr wrap="square" lIns="0" tIns="0" rIns="0" bIns="0" rtlCol="0" anchor="t"/>
          <a:lstStyle/>
          <a:p>
            <a:pPr marL="0" indent="0" algn="l">
              <a:lnSpc>
                <a:spcPts val="1950"/>
              </a:lnSpc>
              <a:buNone/>
            </a:pPr>
            <a:r>
              <a:rPr lang="en-US" b="1" dirty="0">
                <a:solidFill>
                  <a:srgbClr val="D7E5D8"/>
                </a:solidFill>
                <a:latin typeface="Syne Extra Bold" pitchFamily="34" charset="0"/>
                <a:ea typeface="Syne Extra Bold" pitchFamily="34" charset="-122"/>
                <a:cs typeface="Syne Extra Bold" pitchFamily="34" charset="-120"/>
              </a:rPr>
              <a:t>Academic Support and Group Study</a:t>
            </a:r>
            <a:endParaRPr lang="en-US" dirty="0"/>
          </a:p>
        </p:txBody>
      </p:sp>
      <p:sp>
        <p:nvSpPr>
          <p:cNvPr id="14" name="Text 11"/>
          <p:cNvSpPr/>
          <p:nvPr/>
        </p:nvSpPr>
        <p:spPr>
          <a:xfrm>
            <a:off x="793790" y="4567714"/>
            <a:ext cx="4255056" cy="431959"/>
          </a:xfrm>
          <a:prstGeom prst="rect">
            <a:avLst/>
          </a:prstGeom>
          <a:noFill/>
          <a:ln/>
        </p:spPr>
        <p:txBody>
          <a:bodyPr wrap="square" lIns="0" tIns="0" rIns="0" bIns="0" rtlCol="0" anchor="t"/>
          <a:lstStyle/>
          <a:p>
            <a:pPr marL="0" indent="0" algn="l">
              <a:lnSpc>
                <a:spcPts val="1700"/>
              </a:lnSpc>
              <a:buNone/>
            </a:pPr>
            <a:r>
              <a:rPr lang="en-US" sz="1600" dirty="0">
                <a:solidFill>
                  <a:srgbClr val="D7E5D8"/>
                </a:solidFill>
                <a:latin typeface="Syne" pitchFamily="34" charset="0"/>
                <a:ea typeface="Syne" pitchFamily="34" charset="-122"/>
                <a:cs typeface="Syne" pitchFamily="34" charset="-120"/>
              </a:rPr>
              <a:t>Challenges related to seeking help, understanding course material, and collaborating with peers.</a:t>
            </a:r>
            <a:endParaRPr lang="en-US" sz="1600" dirty="0"/>
          </a:p>
        </p:txBody>
      </p:sp>
      <p:pic>
        <p:nvPicPr>
          <p:cNvPr id="15"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5187672" y="3469362"/>
            <a:ext cx="396835" cy="396835"/>
          </a:xfrm>
          <a:prstGeom prst="rect">
            <a:avLst/>
          </a:prstGeom>
        </p:spPr>
      </p:pic>
      <p:sp>
        <p:nvSpPr>
          <p:cNvPr id="16" name="Text 12"/>
          <p:cNvSpPr/>
          <p:nvPr/>
        </p:nvSpPr>
        <p:spPr>
          <a:xfrm>
            <a:off x="5187672" y="4005024"/>
            <a:ext cx="2426375" cy="248007"/>
          </a:xfrm>
          <a:prstGeom prst="rect">
            <a:avLst/>
          </a:prstGeom>
          <a:noFill/>
          <a:ln/>
        </p:spPr>
        <p:txBody>
          <a:bodyPr wrap="none" lIns="0" tIns="0" rIns="0" bIns="0" rtlCol="0" anchor="t"/>
          <a:lstStyle/>
          <a:p>
            <a:pPr marL="0" indent="0" algn="l">
              <a:lnSpc>
                <a:spcPts val="1950"/>
              </a:lnSpc>
              <a:buNone/>
            </a:pPr>
            <a:r>
              <a:rPr lang="en-US" b="1" dirty="0">
                <a:solidFill>
                  <a:srgbClr val="D7E5D8"/>
                </a:solidFill>
                <a:latin typeface="Syne Extra Bold" pitchFamily="34" charset="0"/>
                <a:ea typeface="Syne Extra Bold" pitchFamily="34" charset="-122"/>
                <a:cs typeface="Syne Extra Bold" pitchFamily="34" charset="-120"/>
              </a:rPr>
              <a:t>Digital Learning</a:t>
            </a:r>
            <a:endParaRPr lang="en-US" dirty="0"/>
          </a:p>
        </p:txBody>
      </p:sp>
      <p:sp>
        <p:nvSpPr>
          <p:cNvPr id="17" name="Text 13"/>
          <p:cNvSpPr/>
          <p:nvPr/>
        </p:nvSpPr>
        <p:spPr>
          <a:xfrm>
            <a:off x="5187672" y="4319707"/>
            <a:ext cx="4255056" cy="431959"/>
          </a:xfrm>
          <a:prstGeom prst="rect">
            <a:avLst/>
          </a:prstGeom>
          <a:noFill/>
          <a:ln/>
        </p:spPr>
        <p:txBody>
          <a:bodyPr wrap="square" lIns="0" tIns="0" rIns="0" bIns="0" rtlCol="0" anchor="t"/>
          <a:lstStyle/>
          <a:p>
            <a:pPr marL="0" indent="0" algn="l">
              <a:lnSpc>
                <a:spcPts val="1700"/>
              </a:lnSpc>
              <a:buNone/>
            </a:pPr>
            <a:r>
              <a:rPr lang="en-US" sz="1600" dirty="0">
                <a:solidFill>
                  <a:srgbClr val="D7E5D8"/>
                </a:solidFill>
                <a:latin typeface="Syne" pitchFamily="34" charset="0"/>
                <a:ea typeface="Syne" pitchFamily="34" charset="-122"/>
                <a:cs typeface="Syne" pitchFamily="34" charset="-120"/>
              </a:rPr>
              <a:t>Difficulties associated with online resources, virtual platforms, and technology integration in studies.</a:t>
            </a:r>
            <a:endParaRPr lang="en-US" sz="1600" dirty="0"/>
          </a:p>
        </p:txBody>
      </p:sp>
      <p:pic>
        <p:nvPicPr>
          <p:cNvPr id="18" name="Image 2"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9581555" y="3469362"/>
            <a:ext cx="396835" cy="396835"/>
          </a:xfrm>
          <a:prstGeom prst="rect">
            <a:avLst/>
          </a:prstGeom>
        </p:spPr>
      </p:pic>
      <p:sp>
        <p:nvSpPr>
          <p:cNvPr id="19" name="Text 14"/>
          <p:cNvSpPr/>
          <p:nvPr/>
        </p:nvSpPr>
        <p:spPr>
          <a:xfrm>
            <a:off x="9581555" y="4005024"/>
            <a:ext cx="4233624" cy="248007"/>
          </a:xfrm>
          <a:prstGeom prst="rect">
            <a:avLst/>
          </a:prstGeom>
          <a:noFill/>
          <a:ln/>
        </p:spPr>
        <p:txBody>
          <a:bodyPr wrap="none" lIns="0" tIns="0" rIns="0" bIns="0" rtlCol="0" anchor="t"/>
          <a:lstStyle/>
          <a:p>
            <a:pPr marL="0" indent="0" algn="l">
              <a:lnSpc>
                <a:spcPts val="1950"/>
              </a:lnSpc>
              <a:buNone/>
            </a:pPr>
            <a:r>
              <a:rPr lang="en-US" b="1" dirty="0">
                <a:solidFill>
                  <a:srgbClr val="D7E5D8"/>
                </a:solidFill>
                <a:latin typeface="Syne Extra Bold" pitchFamily="34" charset="0"/>
                <a:ea typeface="Syne Extra Bold" pitchFamily="34" charset="-122"/>
                <a:cs typeface="Syne Extra Bold" pitchFamily="34" charset="-120"/>
              </a:rPr>
              <a:t>Personal and Health Issues</a:t>
            </a:r>
            <a:endParaRPr lang="en-US" dirty="0"/>
          </a:p>
        </p:txBody>
      </p:sp>
      <p:sp>
        <p:nvSpPr>
          <p:cNvPr id="20" name="Text 15"/>
          <p:cNvSpPr/>
          <p:nvPr/>
        </p:nvSpPr>
        <p:spPr>
          <a:xfrm>
            <a:off x="9581555" y="4319707"/>
            <a:ext cx="4255056" cy="431959"/>
          </a:xfrm>
          <a:prstGeom prst="rect">
            <a:avLst/>
          </a:prstGeom>
          <a:noFill/>
          <a:ln/>
        </p:spPr>
        <p:txBody>
          <a:bodyPr wrap="square" lIns="0" tIns="0" rIns="0" bIns="0" rtlCol="0" anchor="t"/>
          <a:lstStyle/>
          <a:p>
            <a:pPr marL="0" indent="0" algn="l">
              <a:lnSpc>
                <a:spcPts val="1700"/>
              </a:lnSpc>
              <a:buNone/>
            </a:pPr>
            <a:r>
              <a:rPr lang="en-US" sz="1600" dirty="0">
                <a:solidFill>
                  <a:srgbClr val="D7E5D8"/>
                </a:solidFill>
                <a:latin typeface="Syne" pitchFamily="34" charset="0"/>
                <a:ea typeface="Syne" pitchFamily="34" charset="-122"/>
                <a:cs typeface="Syne" pitchFamily="34" charset="-120"/>
              </a:rPr>
              <a:t>Factors encompassing mental well-being, physical health, and personal life stressors impacting academic focus.</a:t>
            </a:r>
            <a:endParaRPr lang="en-US" sz="1600" dirty="0"/>
          </a:p>
        </p:txBody>
      </p:sp>
      <p:pic>
        <p:nvPicPr>
          <p:cNvPr id="21" name="Image 3" descr="preencoded.png"/>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793790" y="5221962"/>
            <a:ext cx="396835" cy="396835"/>
          </a:xfrm>
          <a:prstGeom prst="rect">
            <a:avLst/>
          </a:prstGeom>
        </p:spPr>
      </p:pic>
      <p:sp>
        <p:nvSpPr>
          <p:cNvPr id="22" name="Text 16"/>
          <p:cNvSpPr/>
          <p:nvPr/>
        </p:nvSpPr>
        <p:spPr>
          <a:xfrm>
            <a:off x="793790" y="5757624"/>
            <a:ext cx="4255056" cy="496014"/>
          </a:xfrm>
          <a:prstGeom prst="rect">
            <a:avLst/>
          </a:prstGeom>
          <a:noFill/>
          <a:ln/>
        </p:spPr>
        <p:txBody>
          <a:bodyPr wrap="square" lIns="0" tIns="0" rIns="0" bIns="0" rtlCol="0" anchor="t"/>
          <a:lstStyle/>
          <a:p>
            <a:pPr marL="0" indent="0" algn="l">
              <a:lnSpc>
                <a:spcPts val="1950"/>
              </a:lnSpc>
              <a:buNone/>
            </a:pPr>
            <a:r>
              <a:rPr lang="en-US" b="1" dirty="0">
                <a:solidFill>
                  <a:srgbClr val="D7E5D8"/>
                </a:solidFill>
                <a:latin typeface="Syne Extra Bold" pitchFamily="34" charset="0"/>
                <a:ea typeface="Syne Extra Bold" pitchFamily="34" charset="-122"/>
                <a:cs typeface="Syne Extra Bold" pitchFamily="34" charset="-120"/>
              </a:rPr>
              <a:t>Distractions (Mainly Mobile Usage)</a:t>
            </a:r>
            <a:endParaRPr lang="en-US" dirty="0"/>
          </a:p>
        </p:txBody>
      </p:sp>
      <p:sp>
        <p:nvSpPr>
          <p:cNvPr id="23" name="Text 17"/>
          <p:cNvSpPr/>
          <p:nvPr/>
        </p:nvSpPr>
        <p:spPr>
          <a:xfrm>
            <a:off x="793790" y="6320314"/>
            <a:ext cx="4255056" cy="431959"/>
          </a:xfrm>
          <a:prstGeom prst="rect">
            <a:avLst/>
          </a:prstGeom>
          <a:noFill/>
          <a:ln/>
        </p:spPr>
        <p:txBody>
          <a:bodyPr wrap="square" lIns="0" tIns="0" rIns="0" bIns="0" rtlCol="0" anchor="t"/>
          <a:lstStyle/>
          <a:p>
            <a:pPr marL="0" indent="0" algn="l">
              <a:lnSpc>
                <a:spcPts val="1700"/>
              </a:lnSpc>
              <a:buNone/>
            </a:pPr>
            <a:r>
              <a:rPr lang="en-US" sz="1600" dirty="0">
                <a:solidFill>
                  <a:srgbClr val="D7E5D8"/>
                </a:solidFill>
                <a:latin typeface="Syne" pitchFamily="34" charset="0"/>
                <a:ea typeface="Syne" pitchFamily="34" charset="-122"/>
                <a:cs typeface="Syne" pitchFamily="34" charset="-120"/>
              </a:rPr>
              <a:t>Impact of external interruptions, particularly from mobile devices, on concentration and study habits.</a:t>
            </a:r>
            <a:endParaRPr lang="en-US" sz="1600" dirty="0"/>
          </a:p>
        </p:txBody>
      </p:sp>
      <p:pic>
        <p:nvPicPr>
          <p:cNvPr id="24" name="Image 4" descr="preencoded.png"/>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5187672" y="5221962"/>
            <a:ext cx="396835" cy="396835"/>
          </a:xfrm>
          <a:prstGeom prst="rect">
            <a:avLst/>
          </a:prstGeom>
        </p:spPr>
      </p:pic>
      <p:sp>
        <p:nvSpPr>
          <p:cNvPr id="25" name="Text 18"/>
          <p:cNvSpPr/>
          <p:nvPr/>
        </p:nvSpPr>
        <p:spPr>
          <a:xfrm>
            <a:off x="5187672" y="5757624"/>
            <a:ext cx="1984653" cy="248007"/>
          </a:xfrm>
          <a:prstGeom prst="rect">
            <a:avLst/>
          </a:prstGeom>
          <a:noFill/>
          <a:ln/>
        </p:spPr>
        <p:txBody>
          <a:bodyPr wrap="none" lIns="0" tIns="0" rIns="0" bIns="0" rtlCol="0" anchor="t"/>
          <a:lstStyle/>
          <a:p>
            <a:pPr marL="0" indent="0" algn="l">
              <a:lnSpc>
                <a:spcPts val="1950"/>
              </a:lnSpc>
              <a:buNone/>
            </a:pPr>
            <a:r>
              <a:rPr lang="en-US" b="1" dirty="0">
                <a:solidFill>
                  <a:srgbClr val="D7E5D8"/>
                </a:solidFill>
                <a:latin typeface="Syne Extra Bold" pitchFamily="34" charset="0"/>
                <a:ea typeface="Syne Extra Bold" pitchFamily="34" charset="-122"/>
                <a:cs typeface="Syne Extra Bold" pitchFamily="34" charset="-120"/>
              </a:rPr>
              <a:t>Self-Study</a:t>
            </a:r>
            <a:endParaRPr lang="en-US" dirty="0"/>
          </a:p>
        </p:txBody>
      </p:sp>
      <p:sp>
        <p:nvSpPr>
          <p:cNvPr id="26" name="Text 19"/>
          <p:cNvSpPr/>
          <p:nvPr/>
        </p:nvSpPr>
        <p:spPr>
          <a:xfrm>
            <a:off x="5187672" y="6072307"/>
            <a:ext cx="4255056" cy="647938"/>
          </a:xfrm>
          <a:prstGeom prst="rect">
            <a:avLst/>
          </a:prstGeom>
          <a:noFill/>
          <a:ln/>
        </p:spPr>
        <p:txBody>
          <a:bodyPr wrap="square" lIns="0" tIns="0" rIns="0" bIns="0" rtlCol="0" anchor="t"/>
          <a:lstStyle/>
          <a:p>
            <a:pPr marL="0" indent="0" algn="l">
              <a:lnSpc>
                <a:spcPts val="1700"/>
              </a:lnSpc>
              <a:buNone/>
            </a:pPr>
            <a:r>
              <a:rPr lang="en-US" sz="1600" dirty="0">
                <a:solidFill>
                  <a:srgbClr val="D7E5D8"/>
                </a:solidFill>
                <a:latin typeface="Syne" pitchFamily="34" charset="0"/>
                <a:ea typeface="Syne" pitchFamily="34" charset="-122"/>
                <a:cs typeface="Syne" pitchFamily="34" charset="-120"/>
              </a:rPr>
              <a:t>Challenges in independent learning, time management, and developing effective study routines without direct supervision.</a:t>
            </a:r>
            <a:endParaRPr lang="en-US" sz="1600" dirty="0"/>
          </a:p>
        </p:txBody>
      </p:sp>
      <p:sp>
        <p:nvSpPr>
          <p:cNvPr id="27" name="Text 20"/>
          <p:cNvSpPr/>
          <p:nvPr/>
        </p:nvSpPr>
        <p:spPr>
          <a:xfrm>
            <a:off x="793790" y="7201257"/>
            <a:ext cx="13042821" cy="647938"/>
          </a:xfrm>
          <a:prstGeom prst="rect">
            <a:avLst/>
          </a:prstGeom>
          <a:noFill/>
          <a:ln/>
        </p:spPr>
        <p:txBody>
          <a:bodyPr wrap="square" lIns="0" tIns="0" rIns="0" bIns="0" rtlCol="0" anchor="t"/>
          <a:lstStyle/>
          <a:p>
            <a:pPr marL="0" indent="0" algn="l">
              <a:lnSpc>
                <a:spcPts val="1700"/>
              </a:lnSpc>
              <a:buNone/>
            </a:pPr>
            <a:r>
              <a:rPr lang="en-US" sz="1600" b="1" dirty="0">
                <a:solidFill>
                  <a:srgbClr val="D7E5D8"/>
                </a:solidFill>
                <a:latin typeface="Syne" pitchFamily="34" charset="0"/>
                <a:ea typeface="Syne" pitchFamily="34" charset="-122"/>
                <a:cs typeface="Syne" pitchFamily="34" charset="-120"/>
              </a:rPr>
              <a:t>Interpretation:</a:t>
            </a:r>
            <a:r>
              <a:rPr lang="en-US" sz="1600" dirty="0">
                <a:solidFill>
                  <a:srgbClr val="D7E5D8"/>
                </a:solidFill>
                <a:latin typeface="Syne" pitchFamily="34" charset="0"/>
                <a:ea typeface="Syne" pitchFamily="34" charset="-122"/>
                <a:cs typeface="Syne" pitchFamily="34" charset="-120"/>
              </a:rPr>
              <a:t> The KMO value indicates moderate sampling adequacy, and Bartlett's test is highly significant, confirming that the data is suitable for factor analysis. The analysis identified five major dimensions of student challenges, namely academic support, digital learning, personal issues, distractions, and self-study. These factors represent distinct areas where students face difficulties, guiding targeted intervention strategies.</a:t>
            </a:r>
            <a:endParaRPr lang="en-US" sz="1600" dirty="0"/>
          </a:p>
        </p:txBody>
      </p:sp>
      <p:sp>
        <p:nvSpPr>
          <p:cNvPr id="28" name="Rectangle 27">
            <a:extLst>
              <a:ext uri="{FF2B5EF4-FFF2-40B4-BE49-F238E27FC236}">
                <a16:creationId xmlns:a16="http://schemas.microsoft.com/office/drawing/2014/main" id="{EFE59FEA-C98C-461E-ADC8-104902997BF9}"/>
              </a:ext>
            </a:extLst>
          </p:cNvPr>
          <p:cNvSpPr/>
          <p:nvPr/>
        </p:nvSpPr>
        <p:spPr>
          <a:xfrm>
            <a:off x="12801600" y="7661710"/>
            <a:ext cx="1742173" cy="548640"/>
          </a:xfrm>
          <a:prstGeom prst="rect">
            <a:avLst/>
          </a:prstGeom>
          <a:solidFill>
            <a:srgbClr val="141E24"/>
          </a:solidFill>
          <a:ln>
            <a:solidFill>
              <a:srgbClr val="141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89" y="680642"/>
            <a:ext cx="6914555" cy="460772"/>
          </a:xfrm>
          <a:prstGeom prst="rect">
            <a:avLst/>
          </a:prstGeom>
          <a:noFill/>
          <a:ln/>
        </p:spPr>
        <p:txBody>
          <a:bodyPr wrap="none" lIns="0" tIns="0" rIns="0" bIns="0" rtlCol="0" anchor="t"/>
          <a:lstStyle/>
          <a:p>
            <a:pPr marL="0" indent="0" algn="l">
              <a:lnSpc>
                <a:spcPts val="3600"/>
              </a:lnSpc>
              <a:buNone/>
            </a:pPr>
            <a:r>
              <a:rPr lang="en-US" sz="2900" b="1" dirty="0">
                <a:solidFill>
                  <a:srgbClr val="F0F4F1"/>
                </a:solidFill>
                <a:latin typeface="Syne Extra Bold" pitchFamily="34" charset="0"/>
                <a:ea typeface="Syne Extra Bold" pitchFamily="34" charset="-122"/>
                <a:cs typeface="Syne Extra Bold" pitchFamily="34" charset="-120"/>
              </a:rPr>
              <a:t>Support Needs Analysis</a:t>
            </a:r>
            <a:endParaRPr lang="en-US" sz="2900" dirty="0"/>
          </a:p>
        </p:txBody>
      </p:sp>
      <p:sp>
        <p:nvSpPr>
          <p:cNvPr id="3" name="Text 1"/>
          <p:cNvSpPr/>
          <p:nvPr/>
        </p:nvSpPr>
        <p:spPr>
          <a:xfrm>
            <a:off x="793789" y="1179633"/>
            <a:ext cx="3957757" cy="230386"/>
          </a:xfrm>
          <a:prstGeom prst="rect">
            <a:avLst/>
          </a:prstGeom>
          <a:noFill/>
          <a:ln/>
        </p:spPr>
        <p:txBody>
          <a:bodyPr wrap="none" lIns="0" tIns="0" rIns="0" bIns="0" rtlCol="0" anchor="t"/>
          <a:lstStyle/>
          <a:p>
            <a:pPr marL="0" indent="0" algn="l">
              <a:lnSpc>
                <a:spcPts val="1800"/>
              </a:lnSpc>
              <a:buNone/>
            </a:pPr>
            <a:r>
              <a:rPr lang="en-US" sz="1450" b="1" dirty="0">
                <a:solidFill>
                  <a:srgbClr val="F0F4F1"/>
                </a:solidFill>
                <a:latin typeface="Syne Extra Bold" pitchFamily="34" charset="0"/>
                <a:ea typeface="Syne Extra Bold" pitchFamily="34" charset="-122"/>
                <a:cs typeface="Syne Extra Bold" pitchFamily="34" charset="-120"/>
              </a:rPr>
              <a:t>Support Needs of Students</a:t>
            </a:r>
            <a:endParaRPr lang="en-US" sz="1450" dirty="0"/>
          </a:p>
        </p:txBody>
      </p:sp>
      <p:pic>
        <p:nvPicPr>
          <p:cNvPr id="4" name="Image 0" descr="preencoded.png"/>
          <p:cNvPicPr>
            <a:picLocks noChangeAspect="1"/>
          </p:cNvPicPr>
          <p:nvPr/>
        </p:nvPicPr>
        <p:blipFill>
          <a:blip r:embed="rId3"/>
          <a:stretch>
            <a:fillRect/>
          </a:stretch>
        </p:blipFill>
        <p:spPr>
          <a:xfrm>
            <a:off x="793789" y="1553727"/>
            <a:ext cx="8477726" cy="4791075"/>
          </a:xfrm>
          <a:prstGeom prst="rect">
            <a:avLst/>
          </a:prstGeom>
        </p:spPr>
      </p:pic>
      <p:sp>
        <p:nvSpPr>
          <p:cNvPr id="5" name="Text 2"/>
          <p:cNvSpPr/>
          <p:nvPr/>
        </p:nvSpPr>
        <p:spPr>
          <a:xfrm>
            <a:off x="8539554" y="2158565"/>
            <a:ext cx="189667" cy="144780"/>
          </a:xfrm>
          <a:prstGeom prst="rect">
            <a:avLst/>
          </a:prstGeom>
          <a:noFill/>
          <a:ln/>
        </p:spPr>
        <p:txBody>
          <a:bodyPr wrap="square" lIns="30480" tIns="30480" rIns="30480" bIns="30480" rtlCol="0" anchor="t"/>
          <a:lstStyle/>
          <a:p>
            <a:pPr marL="0" indent="0" algn="l">
              <a:lnSpc>
                <a:spcPts val="650"/>
              </a:lnSpc>
              <a:buNone/>
            </a:pPr>
            <a:r>
              <a:rPr lang="en-US" sz="650" dirty="0">
                <a:solidFill>
                  <a:srgbClr val="000000"/>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113</a:t>
            </a:r>
            <a:endParaRPr lang="en-US" sz="650" dirty="0"/>
          </a:p>
        </p:txBody>
      </p:sp>
      <p:sp>
        <p:nvSpPr>
          <p:cNvPr id="6" name="Text 3"/>
          <p:cNvSpPr/>
          <p:nvPr/>
        </p:nvSpPr>
        <p:spPr>
          <a:xfrm>
            <a:off x="7640097" y="3231080"/>
            <a:ext cx="141684" cy="144780"/>
          </a:xfrm>
          <a:prstGeom prst="rect">
            <a:avLst/>
          </a:prstGeom>
          <a:noFill/>
          <a:ln/>
        </p:spPr>
        <p:txBody>
          <a:bodyPr wrap="square" lIns="30480" tIns="30480" rIns="30480" bIns="30480" rtlCol="0" anchor="t"/>
          <a:lstStyle/>
          <a:p>
            <a:pPr marL="0" indent="0" algn="l">
              <a:lnSpc>
                <a:spcPts val="650"/>
              </a:lnSpc>
              <a:buNone/>
            </a:pPr>
            <a:r>
              <a:rPr lang="en-US" sz="650" dirty="0">
                <a:solidFill>
                  <a:srgbClr val="000000"/>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98</a:t>
            </a:r>
            <a:endParaRPr lang="en-US" sz="650" dirty="0"/>
          </a:p>
        </p:txBody>
      </p:sp>
      <p:sp>
        <p:nvSpPr>
          <p:cNvPr id="7" name="Text 4"/>
          <p:cNvSpPr/>
          <p:nvPr/>
        </p:nvSpPr>
        <p:spPr>
          <a:xfrm>
            <a:off x="7081170" y="4303595"/>
            <a:ext cx="141684" cy="144780"/>
          </a:xfrm>
          <a:prstGeom prst="rect">
            <a:avLst/>
          </a:prstGeom>
          <a:noFill/>
          <a:ln/>
        </p:spPr>
        <p:txBody>
          <a:bodyPr wrap="square" lIns="30480" tIns="30480" rIns="30480" bIns="30480" rtlCol="0" anchor="t"/>
          <a:lstStyle/>
          <a:p>
            <a:pPr marL="0" indent="0" algn="l">
              <a:lnSpc>
                <a:spcPts val="650"/>
              </a:lnSpc>
              <a:buNone/>
            </a:pPr>
            <a:r>
              <a:rPr lang="en-US" sz="650" dirty="0">
                <a:solidFill>
                  <a:srgbClr val="000000"/>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89</a:t>
            </a:r>
            <a:endParaRPr lang="en-US" sz="650" dirty="0"/>
          </a:p>
        </p:txBody>
      </p:sp>
      <p:sp>
        <p:nvSpPr>
          <p:cNvPr id="8" name="Text 5"/>
          <p:cNvSpPr/>
          <p:nvPr/>
        </p:nvSpPr>
        <p:spPr>
          <a:xfrm>
            <a:off x="6215776" y="5376110"/>
            <a:ext cx="141684" cy="144780"/>
          </a:xfrm>
          <a:prstGeom prst="rect">
            <a:avLst/>
          </a:prstGeom>
          <a:noFill/>
          <a:ln/>
        </p:spPr>
        <p:txBody>
          <a:bodyPr wrap="square" lIns="30480" tIns="30480" rIns="30480" bIns="30480" rtlCol="0" anchor="t"/>
          <a:lstStyle/>
          <a:p>
            <a:pPr marL="0" indent="0" algn="l">
              <a:lnSpc>
                <a:spcPts val="650"/>
              </a:lnSpc>
              <a:buNone/>
            </a:pPr>
            <a:r>
              <a:rPr lang="en-US" sz="650" dirty="0">
                <a:solidFill>
                  <a:srgbClr val="000000"/>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75</a:t>
            </a:r>
            <a:endParaRPr lang="en-US" sz="650" dirty="0"/>
          </a:p>
        </p:txBody>
      </p:sp>
      <p:sp>
        <p:nvSpPr>
          <p:cNvPr id="9" name="Shape 6"/>
          <p:cNvSpPr/>
          <p:nvPr/>
        </p:nvSpPr>
        <p:spPr>
          <a:xfrm>
            <a:off x="793789" y="6408977"/>
            <a:ext cx="13425130" cy="486966"/>
          </a:xfrm>
          <a:prstGeom prst="roundRect">
            <a:avLst>
              <a:gd name="adj" fmla="val 12716"/>
            </a:avLst>
          </a:prstGeom>
          <a:solidFill>
            <a:srgbClr val="022349"/>
          </a:solidFill>
          <a:ln/>
        </p:spPr>
      </p:sp>
      <p:pic>
        <p:nvPicPr>
          <p:cNvPr id="10" name="Image 1" descr="preencoded.png"/>
          <p:cNvPicPr>
            <a:picLocks noChangeAspect="1"/>
          </p:cNvPicPr>
          <p:nvPr/>
        </p:nvPicPr>
        <p:blipFill>
          <a:blip r:embed="rId4"/>
          <a:stretch>
            <a:fillRect/>
          </a:stretch>
        </p:blipFill>
        <p:spPr>
          <a:xfrm>
            <a:off x="941188" y="6608883"/>
            <a:ext cx="184190" cy="147399"/>
          </a:xfrm>
          <a:prstGeom prst="rect">
            <a:avLst/>
          </a:prstGeom>
        </p:spPr>
      </p:pic>
      <p:sp>
        <p:nvSpPr>
          <p:cNvPr id="11" name="Text 7"/>
          <p:cNvSpPr/>
          <p:nvPr/>
        </p:nvSpPr>
        <p:spPr>
          <a:xfrm>
            <a:off x="941189" y="6588642"/>
            <a:ext cx="12569070" cy="125731"/>
          </a:xfrm>
          <a:prstGeom prst="rect">
            <a:avLst/>
          </a:prstGeom>
          <a:noFill/>
          <a:ln/>
        </p:spPr>
        <p:txBody>
          <a:bodyPr wrap="none" lIns="0" tIns="0" rIns="0" bIns="0" rtlCol="0" anchor="t"/>
          <a:lstStyle/>
          <a:p>
            <a:pPr marL="0" indent="0" algn="l">
              <a:lnSpc>
                <a:spcPts val="1500"/>
              </a:lnSpc>
              <a:buNone/>
            </a:pPr>
            <a:r>
              <a:rPr lang="en-US" sz="1400" dirty="0">
                <a:solidFill>
                  <a:srgbClr val="FFFFFF"/>
                </a:solidFill>
                <a:latin typeface="Syne" pitchFamily="34" charset="0"/>
                <a:ea typeface="Syne" pitchFamily="34" charset="-122"/>
                <a:cs typeface="Syne" pitchFamily="34" charset="-120"/>
              </a:rPr>
              <a:t>         </a:t>
            </a:r>
            <a:r>
              <a:rPr lang="en-US" sz="1400" b="1" dirty="0">
                <a:solidFill>
                  <a:srgbClr val="FFFFFF"/>
                </a:solidFill>
                <a:latin typeface="Syne" pitchFamily="34" charset="0"/>
                <a:ea typeface="Syne" pitchFamily="34" charset="-122"/>
                <a:cs typeface="Syne" pitchFamily="34" charset="-120"/>
              </a:rPr>
              <a:t>Significant Association with Challenge Level:</a:t>
            </a:r>
            <a:r>
              <a:rPr lang="en-US" sz="1400" dirty="0">
                <a:solidFill>
                  <a:srgbClr val="FFFFFF"/>
                </a:solidFill>
                <a:latin typeface="Syne" pitchFamily="34" charset="0"/>
                <a:ea typeface="Syne" pitchFamily="34" charset="-122"/>
                <a:cs typeface="Syne" pitchFamily="34" charset="-120"/>
              </a:rPr>
              <a:t> Only Interactive  Learning showed a statistically significant association with student  challenge levels (</a:t>
            </a:r>
            <a:r>
              <a:rPr lang="en-US" sz="1400" b="1" dirty="0">
                <a:solidFill>
                  <a:srgbClr val="FFFFFF"/>
                </a:solidFill>
                <a:latin typeface="Syne" pitchFamily="34" charset="0"/>
                <a:ea typeface="Syne" pitchFamily="34" charset="-122"/>
                <a:cs typeface="Syne" pitchFamily="34" charset="-120"/>
              </a:rPr>
              <a:t>p = 0.016</a:t>
            </a:r>
            <a:r>
              <a:rPr lang="en-US" sz="1400" dirty="0">
                <a:solidFill>
                  <a:srgbClr val="FFFFFF"/>
                </a:solidFill>
                <a:latin typeface="Syne" pitchFamily="34" charset="0"/>
                <a:ea typeface="Syne" pitchFamily="34" charset="-122"/>
                <a:cs typeface="Syne" pitchFamily="34" charset="-120"/>
              </a:rPr>
              <a:t>).       </a:t>
            </a:r>
            <a:endParaRPr lang="en-US" sz="1400" dirty="0"/>
          </a:p>
        </p:txBody>
      </p:sp>
      <p:sp>
        <p:nvSpPr>
          <p:cNvPr id="12" name="Text 8"/>
          <p:cNvSpPr/>
          <p:nvPr/>
        </p:nvSpPr>
        <p:spPr>
          <a:xfrm>
            <a:off x="793789" y="7003693"/>
            <a:ext cx="13042821" cy="1018461"/>
          </a:xfrm>
          <a:prstGeom prst="rect">
            <a:avLst/>
          </a:prstGeom>
          <a:noFill/>
          <a:ln/>
        </p:spPr>
        <p:txBody>
          <a:bodyPr wrap="square" lIns="0" tIns="0" rIns="0" bIns="0" rtlCol="0" anchor="t"/>
          <a:lstStyle/>
          <a:p>
            <a:pPr marL="0" indent="0" algn="just">
              <a:lnSpc>
                <a:spcPts val="1500"/>
              </a:lnSpc>
              <a:buNone/>
            </a:pPr>
            <a:r>
              <a:rPr lang="en-US" dirty="0">
                <a:solidFill>
                  <a:srgbClr val="D7E5D8"/>
                </a:solidFill>
                <a:latin typeface="Syne" pitchFamily="34" charset="0"/>
                <a:ea typeface="Syne" pitchFamily="34" charset="-122"/>
                <a:cs typeface="Syne" pitchFamily="34" charset="-120"/>
              </a:rPr>
              <a:t>       The analysis reveals that time management, counselling, and career guidance are the most frequently requested support services by students. While most support types did not show a direct statistical link to the  overall challenge level students faced, interactive learning was uniquely identified as a crucial support, significantly impacting students with   higher levels of challenges. This suggests that engaging and dynamic  learning environments are vital for those struggling most.     </a:t>
            </a:r>
            <a:endParaRPr lang="en-US" dirty="0"/>
          </a:p>
        </p:txBody>
      </p:sp>
      <p:sp>
        <p:nvSpPr>
          <p:cNvPr id="13" name="Rectangle 12">
            <a:extLst>
              <a:ext uri="{FF2B5EF4-FFF2-40B4-BE49-F238E27FC236}">
                <a16:creationId xmlns:a16="http://schemas.microsoft.com/office/drawing/2014/main" id="{6C013289-26BB-4F67-A841-821E47E58FCE}"/>
              </a:ext>
            </a:extLst>
          </p:cNvPr>
          <p:cNvSpPr/>
          <p:nvPr/>
        </p:nvSpPr>
        <p:spPr>
          <a:xfrm>
            <a:off x="12801599" y="7680960"/>
            <a:ext cx="1742173" cy="548640"/>
          </a:xfrm>
          <a:prstGeom prst="rect">
            <a:avLst/>
          </a:prstGeom>
          <a:solidFill>
            <a:srgbClr val="141E24"/>
          </a:solidFill>
          <a:ln>
            <a:solidFill>
              <a:srgbClr val="141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416838"/>
            <a:ext cx="4956334" cy="531614"/>
          </a:xfrm>
          <a:prstGeom prst="rect">
            <a:avLst/>
          </a:prstGeom>
          <a:noFill/>
          <a:ln/>
        </p:spPr>
        <p:txBody>
          <a:bodyPr wrap="none" lIns="0" tIns="0" rIns="0" bIns="0" rtlCol="0" anchor="t"/>
          <a:lstStyle/>
          <a:p>
            <a:pPr marL="0" indent="0" algn="l">
              <a:lnSpc>
                <a:spcPts val="4150"/>
              </a:lnSpc>
              <a:buNone/>
            </a:pPr>
            <a:r>
              <a:rPr lang="en-US" sz="3300" b="1" dirty="0">
                <a:solidFill>
                  <a:srgbClr val="F0F4F1"/>
                </a:solidFill>
                <a:latin typeface="Syne Extra Bold" pitchFamily="34" charset="0"/>
                <a:ea typeface="Syne Extra Bold" pitchFamily="34" charset="-122"/>
                <a:cs typeface="Syne Extra Bold" pitchFamily="34" charset="-120"/>
              </a:rPr>
              <a:t>Major Findings</a:t>
            </a:r>
            <a:endParaRPr lang="en-US" sz="3300" dirty="0"/>
          </a:p>
        </p:txBody>
      </p:sp>
      <p:sp>
        <p:nvSpPr>
          <p:cNvPr id="3" name="Text 1"/>
          <p:cNvSpPr/>
          <p:nvPr/>
        </p:nvSpPr>
        <p:spPr>
          <a:xfrm>
            <a:off x="793790" y="1126093"/>
            <a:ext cx="13042821" cy="476250"/>
          </a:xfrm>
          <a:prstGeom prst="rect">
            <a:avLst/>
          </a:prstGeom>
          <a:noFill/>
          <a:ln/>
        </p:spPr>
        <p:txBody>
          <a:bodyPr wrap="square" lIns="0" tIns="0" rIns="0" bIns="0" rtlCol="0" anchor="t"/>
          <a:lstStyle/>
          <a:p>
            <a:pPr marL="0" indent="0" algn="l">
              <a:lnSpc>
                <a:spcPts val="1850"/>
              </a:lnSpc>
              <a:buNone/>
            </a:pPr>
            <a:r>
              <a:rPr lang="en-US" sz="1600" dirty="0">
                <a:solidFill>
                  <a:srgbClr val="D7E5D8"/>
                </a:solidFill>
                <a:latin typeface="Syne" pitchFamily="34" charset="0"/>
                <a:ea typeface="Syne" pitchFamily="34" charset="-122"/>
                <a:cs typeface="Syne" pitchFamily="34" charset="-120"/>
              </a:rPr>
              <a:t>       This study reveals critical insights into student academic performance, the challenges they face, and their support needs, offering a comprehensive  view for targeted interventions.     </a:t>
            </a:r>
            <a:endParaRPr lang="en-US" sz="1600" dirty="0"/>
          </a:p>
        </p:txBody>
      </p:sp>
      <p:sp>
        <p:nvSpPr>
          <p:cNvPr id="4" name="Shape 2"/>
          <p:cNvSpPr/>
          <p:nvPr/>
        </p:nvSpPr>
        <p:spPr>
          <a:xfrm>
            <a:off x="793790" y="2137648"/>
            <a:ext cx="6457593" cy="2659856"/>
          </a:xfrm>
          <a:prstGeom prst="roundRect">
            <a:avLst>
              <a:gd name="adj" fmla="val 2686"/>
            </a:avLst>
          </a:prstGeom>
          <a:solidFill>
            <a:srgbClr val="547808"/>
          </a:solidFill>
          <a:ln w="7620">
            <a:solidFill>
              <a:srgbClr val="6D9121"/>
            </a:solidFill>
            <a:prstDash val="solid"/>
          </a:ln>
        </p:spPr>
      </p:sp>
      <p:sp>
        <p:nvSpPr>
          <p:cNvPr id="5" name="Shape 3"/>
          <p:cNvSpPr/>
          <p:nvPr/>
        </p:nvSpPr>
        <p:spPr>
          <a:xfrm>
            <a:off x="971431" y="2315289"/>
            <a:ext cx="510302" cy="510302"/>
          </a:xfrm>
          <a:prstGeom prst="roundRect">
            <a:avLst>
              <a:gd name="adj" fmla="val 17917009"/>
            </a:avLst>
          </a:prstGeom>
          <a:solidFill>
            <a:srgbClr val="A9F00F"/>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1806" y="2455545"/>
            <a:ext cx="229553" cy="229552"/>
          </a:xfrm>
          <a:prstGeom prst="rect">
            <a:avLst/>
          </a:prstGeom>
        </p:spPr>
      </p:pic>
      <p:sp>
        <p:nvSpPr>
          <p:cNvPr id="7" name="Text 4"/>
          <p:cNvSpPr/>
          <p:nvPr/>
        </p:nvSpPr>
        <p:spPr>
          <a:xfrm>
            <a:off x="971431" y="2953107"/>
            <a:ext cx="5902166" cy="265747"/>
          </a:xfrm>
          <a:prstGeom prst="rect">
            <a:avLst/>
          </a:prstGeom>
          <a:noFill/>
          <a:ln/>
        </p:spPr>
        <p:txBody>
          <a:bodyPr wrap="none" lIns="0" tIns="0" rIns="0" bIns="0" rtlCol="0" anchor="t"/>
          <a:lstStyle/>
          <a:p>
            <a:pPr marL="0" indent="0" algn="l">
              <a:lnSpc>
                <a:spcPts val="2050"/>
              </a:lnSpc>
              <a:buNone/>
            </a:pPr>
            <a:r>
              <a:rPr lang="en-US" sz="2000" b="1" dirty="0">
                <a:solidFill>
                  <a:srgbClr val="FFFFFF"/>
                </a:solidFill>
                <a:latin typeface="Syne Extra Bold" pitchFamily="34" charset="0"/>
                <a:ea typeface="Syne Extra Bold" pitchFamily="34" charset="-122"/>
                <a:cs typeface="Syne Extra Bold" pitchFamily="34" charset="-120"/>
              </a:rPr>
              <a:t>Performance &amp; Influencing Factors</a:t>
            </a:r>
            <a:endParaRPr lang="en-US" sz="2000" dirty="0"/>
          </a:p>
        </p:txBody>
      </p:sp>
      <p:sp>
        <p:nvSpPr>
          <p:cNvPr id="8" name="Text 5"/>
          <p:cNvSpPr/>
          <p:nvPr/>
        </p:nvSpPr>
        <p:spPr>
          <a:xfrm>
            <a:off x="971431" y="3295293"/>
            <a:ext cx="6102310" cy="1324570"/>
          </a:xfrm>
          <a:prstGeom prst="rect">
            <a:avLst/>
          </a:prstGeom>
          <a:noFill/>
          <a:ln/>
        </p:spPr>
        <p:txBody>
          <a:bodyPr wrap="square" lIns="0" tIns="0" rIns="0" bIns="0" rtlCol="0" anchor="t"/>
          <a:lstStyle/>
          <a:p>
            <a:pPr marL="342900" indent="-342900" algn="l">
              <a:lnSpc>
                <a:spcPts val="1850"/>
              </a:lnSpc>
              <a:buSzPct val="100000"/>
              <a:buChar char="•"/>
            </a:pPr>
            <a:r>
              <a:rPr lang="en-US" sz="1600" dirty="0">
                <a:solidFill>
                  <a:srgbClr val="FFFFFF"/>
                </a:solidFill>
                <a:latin typeface="Syne" pitchFamily="34" charset="0"/>
                <a:ea typeface="Syne" pitchFamily="34" charset="-122"/>
                <a:cs typeface="Syne" pitchFamily="34" charset="-120"/>
              </a:rPr>
              <a:t>Students exhibit moderate to good academic performance.</a:t>
            </a:r>
            <a:endParaRPr lang="en-US" sz="1600" dirty="0"/>
          </a:p>
          <a:p>
            <a:pPr marL="342900" indent="-342900" algn="l">
              <a:lnSpc>
                <a:spcPts val="1850"/>
              </a:lnSpc>
              <a:buSzPct val="100000"/>
              <a:buChar char="•"/>
            </a:pPr>
            <a:r>
              <a:rPr lang="en-US" sz="1600" dirty="0">
                <a:solidFill>
                  <a:srgbClr val="FFFFFF"/>
                </a:solidFill>
                <a:latin typeface="Syne" pitchFamily="34" charset="0"/>
                <a:ea typeface="Syne" pitchFamily="34" charset="-122"/>
                <a:cs typeface="Syne" pitchFamily="34" charset="-120"/>
              </a:rPr>
              <a:t>Internal performance, study habits, attendance, and teacher help are positive influencers.</a:t>
            </a:r>
            <a:endParaRPr lang="en-US" sz="1600" dirty="0"/>
          </a:p>
          <a:p>
            <a:pPr marL="342900" indent="-342900" algn="l">
              <a:lnSpc>
                <a:spcPts val="1850"/>
              </a:lnSpc>
              <a:buSzPct val="100000"/>
              <a:buChar char="•"/>
            </a:pPr>
            <a:r>
              <a:rPr lang="en-US" sz="1600" dirty="0">
                <a:solidFill>
                  <a:srgbClr val="FFFFFF"/>
                </a:solidFill>
                <a:latin typeface="Syne" pitchFamily="34" charset="0"/>
                <a:ea typeface="Syne" pitchFamily="34" charset="-122"/>
                <a:cs typeface="Syne" pitchFamily="34" charset="-120"/>
              </a:rPr>
              <a:t>Backlogs and stress negatively impact academic outcomes.</a:t>
            </a:r>
            <a:endParaRPr lang="en-US" sz="1600" dirty="0"/>
          </a:p>
          <a:p>
            <a:pPr marL="342900" indent="-342900" algn="l">
              <a:lnSpc>
                <a:spcPts val="1850"/>
              </a:lnSpc>
              <a:buSzPct val="100000"/>
              <a:buChar char="•"/>
            </a:pPr>
            <a:r>
              <a:rPr lang="en-US" sz="1600" dirty="0">
                <a:solidFill>
                  <a:srgbClr val="FFFFFF"/>
                </a:solidFill>
                <a:latin typeface="Syne" pitchFamily="34" charset="0"/>
                <a:ea typeface="Syne" pitchFamily="34" charset="-122"/>
                <a:cs typeface="Syne" pitchFamily="34" charset="-120"/>
              </a:rPr>
              <a:t>Family income does not significantly affect performance.</a:t>
            </a:r>
            <a:endParaRPr lang="en-US" sz="1600" dirty="0"/>
          </a:p>
        </p:txBody>
      </p:sp>
      <p:sp>
        <p:nvSpPr>
          <p:cNvPr id="9" name="Shape 6"/>
          <p:cNvSpPr/>
          <p:nvPr/>
        </p:nvSpPr>
        <p:spPr>
          <a:xfrm>
            <a:off x="7378898" y="2137648"/>
            <a:ext cx="6457712" cy="2659856"/>
          </a:xfrm>
          <a:prstGeom prst="roundRect">
            <a:avLst>
              <a:gd name="adj" fmla="val 2686"/>
            </a:avLst>
          </a:prstGeom>
          <a:solidFill>
            <a:srgbClr val="547808"/>
          </a:solidFill>
          <a:ln w="7620">
            <a:solidFill>
              <a:srgbClr val="6D9121"/>
            </a:solidFill>
            <a:prstDash val="solid"/>
          </a:ln>
        </p:spPr>
      </p:sp>
      <p:sp>
        <p:nvSpPr>
          <p:cNvPr id="10" name="Shape 7"/>
          <p:cNvSpPr/>
          <p:nvPr/>
        </p:nvSpPr>
        <p:spPr>
          <a:xfrm>
            <a:off x="7556540" y="2315289"/>
            <a:ext cx="510302" cy="510302"/>
          </a:xfrm>
          <a:prstGeom prst="roundRect">
            <a:avLst>
              <a:gd name="adj" fmla="val 17917009"/>
            </a:avLst>
          </a:prstGeom>
          <a:solidFill>
            <a:srgbClr val="A9F00F"/>
          </a:solidFill>
          <a:ln/>
        </p:spPr>
      </p:sp>
      <p:pic>
        <p:nvPicPr>
          <p:cNvPr id="11"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96914" y="2455545"/>
            <a:ext cx="229553" cy="229552"/>
          </a:xfrm>
          <a:prstGeom prst="rect">
            <a:avLst/>
          </a:prstGeom>
        </p:spPr>
      </p:pic>
      <p:sp>
        <p:nvSpPr>
          <p:cNvPr id="12" name="Text 8"/>
          <p:cNvSpPr/>
          <p:nvPr/>
        </p:nvSpPr>
        <p:spPr>
          <a:xfrm>
            <a:off x="7556540" y="2953107"/>
            <a:ext cx="5154097" cy="265747"/>
          </a:xfrm>
          <a:prstGeom prst="rect">
            <a:avLst/>
          </a:prstGeom>
          <a:noFill/>
          <a:ln/>
        </p:spPr>
        <p:txBody>
          <a:bodyPr wrap="none" lIns="0" tIns="0" rIns="0" bIns="0" rtlCol="0" anchor="t"/>
          <a:lstStyle/>
          <a:p>
            <a:pPr marL="0" indent="0" algn="l">
              <a:lnSpc>
                <a:spcPts val="2050"/>
              </a:lnSpc>
              <a:buNone/>
            </a:pPr>
            <a:r>
              <a:rPr lang="en-US" sz="2000" b="1" dirty="0">
                <a:solidFill>
                  <a:srgbClr val="FFFFFF"/>
                </a:solidFill>
                <a:latin typeface="Syne Extra Bold" pitchFamily="34" charset="0"/>
                <a:ea typeface="Syne Extra Bold" pitchFamily="34" charset="-122"/>
                <a:cs typeface="Syne Extra Bold" pitchFamily="34" charset="-120"/>
              </a:rPr>
              <a:t>Challenges Faced by Students</a:t>
            </a:r>
            <a:endParaRPr lang="en-US" sz="2000" dirty="0"/>
          </a:p>
        </p:txBody>
      </p:sp>
      <p:sp>
        <p:nvSpPr>
          <p:cNvPr id="13" name="Text 9"/>
          <p:cNvSpPr/>
          <p:nvPr/>
        </p:nvSpPr>
        <p:spPr>
          <a:xfrm>
            <a:off x="7556540" y="3295293"/>
            <a:ext cx="6102429" cy="997148"/>
          </a:xfrm>
          <a:prstGeom prst="rect">
            <a:avLst/>
          </a:prstGeom>
          <a:noFill/>
          <a:ln/>
        </p:spPr>
        <p:txBody>
          <a:bodyPr wrap="square" lIns="0" tIns="0" rIns="0" bIns="0" rtlCol="0" anchor="t"/>
          <a:lstStyle/>
          <a:p>
            <a:pPr marL="342900" indent="-342900" algn="l">
              <a:lnSpc>
                <a:spcPts val="1850"/>
              </a:lnSpc>
              <a:buSzPct val="100000"/>
              <a:buChar char="•"/>
            </a:pPr>
            <a:r>
              <a:rPr lang="en-US" sz="1600" dirty="0">
                <a:solidFill>
                  <a:srgbClr val="FFFFFF"/>
                </a:solidFill>
                <a:latin typeface="Syne" pitchFamily="34" charset="0"/>
                <a:ea typeface="Syne" pitchFamily="34" charset="-122"/>
                <a:cs typeface="Syne" pitchFamily="34" charset="-120"/>
              </a:rPr>
              <a:t>Students face moderate challenge levels, particularly in Commerce and rural areas.</a:t>
            </a:r>
            <a:endParaRPr lang="en-US" sz="1600" dirty="0"/>
          </a:p>
          <a:p>
            <a:pPr marL="342900" indent="-342900" algn="l">
              <a:lnSpc>
                <a:spcPts val="1850"/>
              </a:lnSpc>
              <a:buSzPct val="100000"/>
              <a:buChar char="•"/>
            </a:pPr>
            <a:r>
              <a:rPr lang="en-US" sz="1600" dirty="0">
                <a:solidFill>
                  <a:srgbClr val="FFFFFF"/>
                </a:solidFill>
                <a:latin typeface="Syne" pitchFamily="34" charset="0"/>
                <a:ea typeface="Syne" pitchFamily="34" charset="-122"/>
                <a:cs typeface="Syne" pitchFamily="34" charset="-120"/>
              </a:rPr>
              <a:t>Key challenge dimensions include academic support, digital learning, personal issues, distractions, and self-study.</a:t>
            </a:r>
            <a:endParaRPr lang="en-US" sz="1600" dirty="0"/>
          </a:p>
        </p:txBody>
      </p:sp>
      <p:sp>
        <p:nvSpPr>
          <p:cNvPr id="14" name="Shape 10"/>
          <p:cNvSpPr/>
          <p:nvPr/>
        </p:nvSpPr>
        <p:spPr>
          <a:xfrm>
            <a:off x="793790" y="4925020"/>
            <a:ext cx="13042821" cy="2138958"/>
          </a:xfrm>
          <a:prstGeom prst="roundRect">
            <a:avLst>
              <a:gd name="adj" fmla="val 3340"/>
            </a:avLst>
          </a:prstGeom>
          <a:solidFill>
            <a:srgbClr val="547808"/>
          </a:solidFill>
          <a:ln w="7620">
            <a:solidFill>
              <a:srgbClr val="6D9121"/>
            </a:solidFill>
            <a:prstDash val="solid"/>
          </a:ln>
        </p:spPr>
      </p:sp>
      <p:sp>
        <p:nvSpPr>
          <p:cNvPr id="15" name="Shape 11"/>
          <p:cNvSpPr/>
          <p:nvPr/>
        </p:nvSpPr>
        <p:spPr>
          <a:xfrm>
            <a:off x="971431" y="5102662"/>
            <a:ext cx="510302" cy="510302"/>
          </a:xfrm>
          <a:prstGeom prst="roundRect">
            <a:avLst>
              <a:gd name="adj" fmla="val 17917009"/>
            </a:avLst>
          </a:prstGeom>
          <a:solidFill>
            <a:srgbClr val="A9F00F"/>
          </a:solidFill>
          <a:ln/>
        </p:spPr>
      </p:sp>
      <p:pic>
        <p:nvPicPr>
          <p:cNvPr id="16" name="Image 2"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1111806" y="5242917"/>
            <a:ext cx="229553" cy="229552"/>
          </a:xfrm>
          <a:prstGeom prst="rect">
            <a:avLst/>
          </a:prstGeom>
        </p:spPr>
      </p:pic>
      <p:sp>
        <p:nvSpPr>
          <p:cNvPr id="17" name="Text 12"/>
          <p:cNvSpPr/>
          <p:nvPr/>
        </p:nvSpPr>
        <p:spPr>
          <a:xfrm>
            <a:off x="971431" y="5740479"/>
            <a:ext cx="5121116" cy="265747"/>
          </a:xfrm>
          <a:prstGeom prst="rect">
            <a:avLst/>
          </a:prstGeom>
          <a:noFill/>
          <a:ln/>
        </p:spPr>
        <p:txBody>
          <a:bodyPr wrap="none" lIns="0" tIns="0" rIns="0" bIns="0" rtlCol="0" anchor="t"/>
          <a:lstStyle/>
          <a:p>
            <a:pPr marL="0" indent="0" algn="l">
              <a:lnSpc>
                <a:spcPts val="2050"/>
              </a:lnSpc>
              <a:buNone/>
            </a:pPr>
            <a:r>
              <a:rPr lang="en-US" sz="2000" b="1" dirty="0">
                <a:solidFill>
                  <a:srgbClr val="FFFFFF"/>
                </a:solidFill>
                <a:latin typeface="Syne Extra Bold" pitchFamily="34" charset="0"/>
                <a:ea typeface="Syne Extra Bold" pitchFamily="34" charset="-122"/>
                <a:cs typeface="Syne Extra Bold" pitchFamily="34" charset="-120"/>
              </a:rPr>
              <a:t>Support Needs &amp; Interventions</a:t>
            </a:r>
            <a:endParaRPr lang="en-US" sz="2000" dirty="0"/>
          </a:p>
        </p:txBody>
      </p:sp>
      <p:sp>
        <p:nvSpPr>
          <p:cNvPr id="18" name="Text 13"/>
          <p:cNvSpPr/>
          <p:nvPr/>
        </p:nvSpPr>
        <p:spPr>
          <a:xfrm>
            <a:off x="971431" y="6082665"/>
            <a:ext cx="12687538" cy="803672"/>
          </a:xfrm>
          <a:prstGeom prst="rect">
            <a:avLst/>
          </a:prstGeom>
          <a:noFill/>
          <a:ln/>
        </p:spPr>
        <p:txBody>
          <a:bodyPr wrap="square" lIns="0" tIns="0" rIns="0" bIns="0" rtlCol="0" anchor="t"/>
          <a:lstStyle/>
          <a:p>
            <a:pPr marL="342900" indent="-342900" algn="l">
              <a:lnSpc>
                <a:spcPts val="1850"/>
              </a:lnSpc>
              <a:buSzPct val="100000"/>
              <a:buChar char="•"/>
            </a:pPr>
            <a:r>
              <a:rPr lang="en-US" sz="1600" dirty="0">
                <a:solidFill>
                  <a:srgbClr val="FFFFFF"/>
                </a:solidFill>
                <a:latin typeface="Syne" pitchFamily="34" charset="0"/>
                <a:ea typeface="Syne" pitchFamily="34" charset="-122"/>
                <a:cs typeface="Syne" pitchFamily="34" charset="-120"/>
              </a:rPr>
              <a:t>Time management and counselling are the most frequently needed support services.</a:t>
            </a:r>
            <a:endParaRPr lang="en-US" sz="1600" dirty="0"/>
          </a:p>
          <a:p>
            <a:pPr marL="342900" indent="-342900" algn="l">
              <a:lnSpc>
                <a:spcPts val="1850"/>
              </a:lnSpc>
              <a:buSzPct val="100000"/>
              <a:buChar char="•"/>
            </a:pPr>
            <a:r>
              <a:rPr lang="en-US" sz="1600" dirty="0">
                <a:solidFill>
                  <a:srgbClr val="FFFFFF"/>
                </a:solidFill>
                <a:latin typeface="Syne" pitchFamily="34" charset="0"/>
                <a:ea typeface="Syne" pitchFamily="34" charset="-122"/>
                <a:cs typeface="Syne" pitchFamily="34" charset="-120"/>
              </a:rPr>
              <a:t>Interactive learning is crucial for high-challenge students.</a:t>
            </a:r>
            <a:endParaRPr lang="en-US" sz="1600" dirty="0"/>
          </a:p>
          <a:p>
            <a:pPr marL="342900" indent="-342900" algn="l">
              <a:lnSpc>
                <a:spcPts val="1850"/>
              </a:lnSpc>
              <a:buSzPct val="100000"/>
              <a:buChar char="•"/>
            </a:pPr>
            <a:r>
              <a:rPr lang="en-US" sz="1600" dirty="0">
                <a:solidFill>
                  <a:srgbClr val="FFFFFF"/>
                </a:solidFill>
                <a:latin typeface="Syne" pitchFamily="34" charset="0"/>
                <a:ea typeface="Syne" pitchFamily="34" charset="-122"/>
                <a:cs typeface="Syne" pitchFamily="34" charset="-120"/>
              </a:rPr>
              <a:t>Machine learning models, especially Logistic Regression, effectively identify at-risk students for early intervention.</a:t>
            </a:r>
            <a:endParaRPr lang="en-US" sz="1600" dirty="0"/>
          </a:p>
        </p:txBody>
      </p:sp>
      <p:sp>
        <p:nvSpPr>
          <p:cNvPr id="19" name="Rectangle 18">
            <a:extLst>
              <a:ext uri="{FF2B5EF4-FFF2-40B4-BE49-F238E27FC236}">
                <a16:creationId xmlns:a16="http://schemas.microsoft.com/office/drawing/2014/main" id="{64B274CA-618A-4C29-8FF1-844705E4CA2A}"/>
              </a:ext>
            </a:extLst>
          </p:cNvPr>
          <p:cNvSpPr/>
          <p:nvPr/>
        </p:nvSpPr>
        <p:spPr>
          <a:xfrm>
            <a:off x="12801600" y="7661710"/>
            <a:ext cx="1742173" cy="548640"/>
          </a:xfrm>
          <a:prstGeom prst="rect">
            <a:avLst/>
          </a:prstGeom>
          <a:solidFill>
            <a:srgbClr val="141E24"/>
          </a:solidFill>
          <a:ln>
            <a:solidFill>
              <a:srgbClr val="141E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80000"/>
            </a:srgbClr>
          </a:solidFill>
          <a:ln/>
        </p:spPr>
      </p:sp>
      <p:sp>
        <p:nvSpPr>
          <p:cNvPr id="4" name="Text 1"/>
          <p:cNvSpPr/>
          <p:nvPr/>
        </p:nvSpPr>
        <p:spPr>
          <a:xfrm>
            <a:off x="793790" y="500539"/>
            <a:ext cx="7045285" cy="566976"/>
          </a:xfrm>
          <a:prstGeom prst="rect">
            <a:avLst/>
          </a:prstGeom>
          <a:noFill/>
          <a:ln/>
        </p:spPr>
        <p:txBody>
          <a:bodyPr wrap="none" lIns="0" tIns="0" rIns="0" bIns="0" rtlCol="0" anchor="t"/>
          <a:lstStyle/>
          <a:p>
            <a:pPr marL="0" indent="0" algn="l">
              <a:lnSpc>
                <a:spcPts val="4450"/>
              </a:lnSpc>
              <a:buNone/>
            </a:pPr>
            <a:r>
              <a:rPr lang="en-US" sz="3550" b="1" dirty="0">
                <a:solidFill>
                  <a:srgbClr val="F0F4F1"/>
                </a:solidFill>
                <a:latin typeface="Syne Extra Bold" pitchFamily="34" charset="0"/>
                <a:ea typeface="Syne Extra Bold" pitchFamily="34" charset="-122"/>
                <a:cs typeface="Syne Extra Bold" pitchFamily="34" charset="-120"/>
              </a:rPr>
              <a:t>Recommendations</a:t>
            </a:r>
            <a:endParaRPr lang="en-US" sz="3550" dirty="0"/>
          </a:p>
        </p:txBody>
      </p:sp>
      <p:sp>
        <p:nvSpPr>
          <p:cNvPr id="5" name="Text 2"/>
          <p:cNvSpPr/>
          <p:nvPr/>
        </p:nvSpPr>
        <p:spPr>
          <a:xfrm>
            <a:off x="793790" y="1645801"/>
            <a:ext cx="13042821" cy="261223"/>
          </a:xfrm>
          <a:prstGeom prst="rect">
            <a:avLst/>
          </a:prstGeom>
          <a:noFill/>
          <a:ln/>
        </p:spPr>
        <p:txBody>
          <a:bodyPr wrap="none" lIns="0" tIns="0" rIns="0" bIns="0" rtlCol="0" anchor="t"/>
          <a:lstStyle/>
          <a:p>
            <a:pPr marL="0" indent="0" algn="l">
              <a:lnSpc>
                <a:spcPts val="2050"/>
              </a:lnSpc>
              <a:buNone/>
            </a:pPr>
            <a:r>
              <a:rPr lang="en-US" sz="1600" dirty="0">
                <a:solidFill>
                  <a:srgbClr val="D7E5D8"/>
                </a:solidFill>
                <a:latin typeface="Syne" pitchFamily="34" charset="0"/>
                <a:ea typeface="Syne" pitchFamily="34" charset="-122"/>
                <a:cs typeface="Syne" pitchFamily="34" charset="-120"/>
              </a:rPr>
              <a:t>       Based on our findings, we propose the following actionable recommendations to enhance student academic achievement and well-being:     </a:t>
            </a:r>
            <a:endParaRPr lang="en-US" sz="1600" dirty="0"/>
          </a:p>
        </p:txBody>
      </p:sp>
      <p:sp>
        <p:nvSpPr>
          <p:cNvPr id="6" name="Shape 3"/>
          <p:cNvSpPr/>
          <p:nvPr/>
        </p:nvSpPr>
        <p:spPr>
          <a:xfrm>
            <a:off x="793790" y="2070259"/>
            <a:ext cx="408265" cy="408265"/>
          </a:xfrm>
          <a:prstGeom prst="roundRect">
            <a:avLst>
              <a:gd name="adj" fmla="val 18668"/>
            </a:avLst>
          </a:prstGeom>
          <a:solidFill>
            <a:srgbClr val="547808"/>
          </a:solidFill>
          <a:ln w="7620">
            <a:solidFill>
              <a:srgbClr val="6D9121"/>
            </a:solidFill>
            <a:prstDash val="solid"/>
          </a:ln>
        </p:spPr>
      </p:sp>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1774" y="2138184"/>
            <a:ext cx="272177" cy="272177"/>
          </a:xfrm>
          <a:prstGeom prst="rect">
            <a:avLst/>
          </a:prstGeom>
        </p:spPr>
      </p:pic>
      <p:sp>
        <p:nvSpPr>
          <p:cNvPr id="8" name="Text 4"/>
          <p:cNvSpPr/>
          <p:nvPr/>
        </p:nvSpPr>
        <p:spPr>
          <a:xfrm>
            <a:off x="1347192" y="2129195"/>
            <a:ext cx="12489418" cy="261223"/>
          </a:xfrm>
          <a:prstGeom prst="rect">
            <a:avLst/>
          </a:prstGeom>
          <a:noFill/>
          <a:ln/>
        </p:spPr>
        <p:txBody>
          <a:bodyPr wrap="none" lIns="0" tIns="0" rIns="0" bIns="0" rtlCol="0" anchor="t"/>
          <a:lstStyle/>
          <a:p>
            <a:pPr marL="0" indent="0" algn="l">
              <a:lnSpc>
                <a:spcPts val="2050"/>
              </a:lnSpc>
              <a:buNone/>
            </a:pPr>
            <a:r>
              <a:rPr lang="en-US" sz="1600" dirty="0">
                <a:solidFill>
                  <a:srgbClr val="D7E5D8"/>
                </a:solidFill>
                <a:latin typeface="Syne" pitchFamily="34" charset="0"/>
                <a:ea typeface="Syne" pitchFamily="34" charset="-122"/>
                <a:cs typeface="Syne" pitchFamily="34" charset="-120"/>
              </a:rPr>
              <a:t>           Regularly monitor internal performance and provide targeted support to at-risk students through remedial classes and counseling.         </a:t>
            </a:r>
            <a:endParaRPr lang="en-US" sz="1600" dirty="0"/>
          </a:p>
        </p:txBody>
      </p:sp>
      <p:sp>
        <p:nvSpPr>
          <p:cNvPr id="9" name="Shape 5"/>
          <p:cNvSpPr/>
          <p:nvPr/>
        </p:nvSpPr>
        <p:spPr>
          <a:xfrm>
            <a:off x="793790" y="2768798"/>
            <a:ext cx="408265" cy="408265"/>
          </a:xfrm>
          <a:prstGeom prst="roundRect">
            <a:avLst>
              <a:gd name="adj" fmla="val 18668"/>
            </a:avLst>
          </a:prstGeom>
          <a:solidFill>
            <a:srgbClr val="547808"/>
          </a:solidFill>
          <a:ln w="7620">
            <a:solidFill>
              <a:srgbClr val="6D9121"/>
            </a:solidFill>
            <a:prstDash val="solid"/>
          </a:ln>
        </p:spPr>
      </p:sp>
      <p:pic>
        <p:nvPicPr>
          <p:cNvPr id="10" name="Image 2" descr="preencoded.png"/>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861774" y="2836724"/>
            <a:ext cx="272177" cy="272177"/>
          </a:xfrm>
          <a:prstGeom prst="rect">
            <a:avLst/>
          </a:prstGeom>
        </p:spPr>
      </p:pic>
      <p:sp>
        <p:nvSpPr>
          <p:cNvPr id="11" name="Text 6"/>
          <p:cNvSpPr/>
          <p:nvPr/>
        </p:nvSpPr>
        <p:spPr>
          <a:xfrm>
            <a:off x="1347192" y="2827734"/>
            <a:ext cx="12489418" cy="261223"/>
          </a:xfrm>
          <a:prstGeom prst="rect">
            <a:avLst/>
          </a:prstGeom>
          <a:noFill/>
          <a:ln/>
        </p:spPr>
        <p:txBody>
          <a:bodyPr wrap="none" lIns="0" tIns="0" rIns="0" bIns="0" rtlCol="0" anchor="t"/>
          <a:lstStyle/>
          <a:p>
            <a:pPr marL="0" indent="0" algn="l">
              <a:lnSpc>
                <a:spcPts val="2050"/>
              </a:lnSpc>
              <a:buNone/>
            </a:pPr>
            <a:r>
              <a:rPr lang="en-US" sz="1600" dirty="0">
                <a:solidFill>
                  <a:srgbClr val="D7E5D8"/>
                </a:solidFill>
                <a:latin typeface="Syne" pitchFamily="34" charset="0"/>
                <a:ea typeface="Syne" pitchFamily="34" charset="-122"/>
                <a:cs typeface="Syne" pitchFamily="34" charset="-120"/>
              </a:rPr>
              <a:t>           Conduct comprehensive workshops focused on time management, effective study skills, and motivation to foster strong academic habits.         </a:t>
            </a:r>
            <a:endParaRPr lang="en-US" sz="1600" dirty="0"/>
          </a:p>
        </p:txBody>
      </p:sp>
      <p:sp>
        <p:nvSpPr>
          <p:cNvPr id="12" name="Shape 7"/>
          <p:cNvSpPr/>
          <p:nvPr/>
        </p:nvSpPr>
        <p:spPr>
          <a:xfrm>
            <a:off x="793790" y="3467338"/>
            <a:ext cx="408265" cy="408265"/>
          </a:xfrm>
          <a:prstGeom prst="roundRect">
            <a:avLst>
              <a:gd name="adj" fmla="val 18668"/>
            </a:avLst>
          </a:prstGeom>
          <a:solidFill>
            <a:srgbClr val="547808"/>
          </a:solidFill>
          <a:ln w="7620">
            <a:solidFill>
              <a:srgbClr val="6D9121"/>
            </a:solidFill>
            <a:prstDash val="solid"/>
          </a:ln>
        </p:spPr>
      </p:sp>
      <p:pic>
        <p:nvPicPr>
          <p:cNvPr id="13" name="Image 3" descr="preencoded.png"/>
          <p:cNvPicPr>
            <a:picLocks noChangeAspect="1"/>
          </p:cNvPicPr>
          <p:nvPr/>
        </p:nvPicPr>
        <p:blipFill>
          <a:blip r:embed="rId4">
            <a:extLst>
              <a:ext uri="{96DAC541-7B7A-43D3-8B79-37D633B846F1}">
                <asvg:svgBlip xmlns:asvg="http://schemas.microsoft.com/office/drawing/2016/SVG/main" r:embed="rId7"/>
              </a:ext>
            </a:extLst>
          </a:blip>
          <a:stretch>
            <a:fillRect/>
          </a:stretch>
        </p:blipFill>
        <p:spPr>
          <a:xfrm>
            <a:off x="861774" y="3535263"/>
            <a:ext cx="272177" cy="272177"/>
          </a:xfrm>
          <a:prstGeom prst="rect">
            <a:avLst/>
          </a:prstGeom>
        </p:spPr>
      </p:pic>
      <p:sp>
        <p:nvSpPr>
          <p:cNvPr id="14" name="Text 8"/>
          <p:cNvSpPr/>
          <p:nvPr/>
        </p:nvSpPr>
        <p:spPr>
          <a:xfrm>
            <a:off x="1347192" y="3526274"/>
            <a:ext cx="12489418" cy="261223"/>
          </a:xfrm>
          <a:prstGeom prst="rect">
            <a:avLst/>
          </a:prstGeom>
          <a:noFill/>
          <a:ln/>
        </p:spPr>
        <p:txBody>
          <a:bodyPr wrap="none" lIns="0" tIns="0" rIns="0" bIns="0" rtlCol="0" anchor="t"/>
          <a:lstStyle/>
          <a:p>
            <a:pPr marL="0" indent="0" algn="l">
              <a:lnSpc>
                <a:spcPts val="2050"/>
              </a:lnSpc>
              <a:buNone/>
            </a:pPr>
            <a:r>
              <a:rPr lang="en-US" sz="1600" dirty="0">
                <a:solidFill>
                  <a:srgbClr val="D7E5D8"/>
                </a:solidFill>
                <a:latin typeface="Syne" pitchFamily="34" charset="0"/>
                <a:ea typeface="Syne" pitchFamily="34" charset="-122"/>
                <a:cs typeface="Syne" pitchFamily="34" charset="-120"/>
              </a:rPr>
              <a:t>           Strengthen and expand counseling services to adequately support students in managing stress and personal challenges.         </a:t>
            </a:r>
            <a:endParaRPr lang="en-US" sz="1600" dirty="0"/>
          </a:p>
        </p:txBody>
      </p:sp>
      <p:sp>
        <p:nvSpPr>
          <p:cNvPr id="15" name="Shape 9"/>
          <p:cNvSpPr/>
          <p:nvPr/>
        </p:nvSpPr>
        <p:spPr>
          <a:xfrm>
            <a:off x="793790" y="4165878"/>
            <a:ext cx="408265" cy="408265"/>
          </a:xfrm>
          <a:prstGeom prst="roundRect">
            <a:avLst>
              <a:gd name="adj" fmla="val 18668"/>
            </a:avLst>
          </a:prstGeom>
          <a:solidFill>
            <a:srgbClr val="547808"/>
          </a:solidFill>
          <a:ln w="7620">
            <a:solidFill>
              <a:srgbClr val="6D9121"/>
            </a:solidFill>
            <a:prstDash val="solid"/>
          </a:ln>
        </p:spPr>
      </p:sp>
      <p:pic>
        <p:nvPicPr>
          <p:cNvPr id="16" name="Image 4" descr="preencoded.png"/>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861774" y="4233803"/>
            <a:ext cx="272177" cy="272177"/>
          </a:xfrm>
          <a:prstGeom prst="rect">
            <a:avLst/>
          </a:prstGeom>
        </p:spPr>
      </p:pic>
      <p:sp>
        <p:nvSpPr>
          <p:cNvPr id="17" name="Text 10"/>
          <p:cNvSpPr/>
          <p:nvPr/>
        </p:nvSpPr>
        <p:spPr>
          <a:xfrm>
            <a:off x="1347192" y="4224814"/>
            <a:ext cx="12489418" cy="261223"/>
          </a:xfrm>
          <a:prstGeom prst="rect">
            <a:avLst/>
          </a:prstGeom>
          <a:noFill/>
          <a:ln/>
        </p:spPr>
        <p:txBody>
          <a:bodyPr wrap="none" lIns="0" tIns="0" rIns="0" bIns="0" rtlCol="0" anchor="t"/>
          <a:lstStyle/>
          <a:p>
            <a:pPr marL="0" indent="0" algn="l">
              <a:lnSpc>
                <a:spcPts val="2050"/>
              </a:lnSpc>
              <a:buNone/>
            </a:pPr>
            <a:r>
              <a:rPr lang="en-US" sz="1600" dirty="0">
                <a:solidFill>
                  <a:srgbClr val="D7E5D8"/>
                </a:solidFill>
                <a:latin typeface="Syne" pitchFamily="34" charset="0"/>
                <a:ea typeface="Syne" pitchFamily="34" charset="-122"/>
                <a:cs typeface="Syne" pitchFamily="34" charset="-120"/>
              </a:rPr>
              <a:t>           Implement interactive and student-centered teaching methods to promote deeper engagement and improve learning outcomes.         </a:t>
            </a:r>
            <a:endParaRPr lang="en-US" sz="1600" dirty="0"/>
          </a:p>
        </p:txBody>
      </p:sp>
      <p:sp>
        <p:nvSpPr>
          <p:cNvPr id="18" name="Shape 11"/>
          <p:cNvSpPr/>
          <p:nvPr/>
        </p:nvSpPr>
        <p:spPr>
          <a:xfrm>
            <a:off x="793790" y="4864418"/>
            <a:ext cx="408265" cy="408265"/>
          </a:xfrm>
          <a:prstGeom prst="roundRect">
            <a:avLst>
              <a:gd name="adj" fmla="val 18668"/>
            </a:avLst>
          </a:prstGeom>
          <a:solidFill>
            <a:srgbClr val="547808"/>
          </a:solidFill>
          <a:ln w="7620">
            <a:solidFill>
              <a:srgbClr val="6D9121"/>
            </a:solidFill>
            <a:prstDash val="solid"/>
          </a:ln>
        </p:spPr>
      </p:sp>
      <p:pic>
        <p:nvPicPr>
          <p:cNvPr id="19" name="Image 5" descr="preencoded.png"/>
          <p:cNvPicPr>
            <a:picLocks noChangeAspect="1"/>
          </p:cNvPicPr>
          <p:nvPr/>
        </p:nvPicPr>
        <p:blipFill>
          <a:blip r:embed="rId4">
            <a:extLst>
              <a:ext uri="{96DAC541-7B7A-43D3-8B79-37D633B846F1}">
                <asvg:svgBlip xmlns:asvg="http://schemas.microsoft.com/office/drawing/2016/SVG/main" r:embed="rId9"/>
              </a:ext>
            </a:extLst>
          </a:blip>
          <a:stretch>
            <a:fillRect/>
          </a:stretch>
        </p:blipFill>
        <p:spPr>
          <a:xfrm>
            <a:off x="861774" y="4932343"/>
            <a:ext cx="272177" cy="272177"/>
          </a:xfrm>
          <a:prstGeom prst="rect">
            <a:avLst/>
          </a:prstGeom>
        </p:spPr>
      </p:pic>
      <p:sp>
        <p:nvSpPr>
          <p:cNvPr id="20" name="Text 12"/>
          <p:cNvSpPr/>
          <p:nvPr/>
        </p:nvSpPr>
        <p:spPr>
          <a:xfrm>
            <a:off x="1347192" y="4923353"/>
            <a:ext cx="12489418" cy="261223"/>
          </a:xfrm>
          <a:prstGeom prst="rect">
            <a:avLst/>
          </a:prstGeom>
          <a:noFill/>
          <a:ln/>
        </p:spPr>
        <p:txBody>
          <a:bodyPr wrap="none" lIns="0" tIns="0" rIns="0" bIns="0" rtlCol="0" anchor="t"/>
          <a:lstStyle/>
          <a:p>
            <a:pPr marL="0" indent="0" algn="l">
              <a:lnSpc>
                <a:spcPts val="2050"/>
              </a:lnSpc>
              <a:buNone/>
            </a:pPr>
            <a:r>
              <a:rPr lang="en-US" sz="1600" dirty="0">
                <a:solidFill>
                  <a:srgbClr val="D7E5D8"/>
                </a:solidFill>
                <a:latin typeface="Syne" pitchFamily="34" charset="0"/>
                <a:ea typeface="Syne" pitchFamily="34" charset="-122"/>
                <a:cs typeface="Syne" pitchFamily="34" charset="-120"/>
              </a:rPr>
              <a:t>           Encourage consistent teacher-student interaction and provide continuous academic guidance to foster a supportive learning environment.         </a:t>
            </a:r>
            <a:endParaRPr lang="en-US" sz="1600" dirty="0"/>
          </a:p>
        </p:txBody>
      </p:sp>
      <p:sp>
        <p:nvSpPr>
          <p:cNvPr id="21" name="Shape 13"/>
          <p:cNvSpPr/>
          <p:nvPr/>
        </p:nvSpPr>
        <p:spPr>
          <a:xfrm>
            <a:off x="793790" y="5562957"/>
            <a:ext cx="408265" cy="408265"/>
          </a:xfrm>
          <a:prstGeom prst="roundRect">
            <a:avLst>
              <a:gd name="adj" fmla="val 18668"/>
            </a:avLst>
          </a:prstGeom>
          <a:solidFill>
            <a:srgbClr val="547808"/>
          </a:solidFill>
          <a:ln w="7620">
            <a:solidFill>
              <a:srgbClr val="6D9121"/>
            </a:solidFill>
            <a:prstDash val="solid"/>
          </a:ln>
        </p:spPr>
      </p:sp>
      <p:pic>
        <p:nvPicPr>
          <p:cNvPr id="22" name="Image 6" descr="preencoded.png"/>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861774" y="5630882"/>
            <a:ext cx="272177" cy="272177"/>
          </a:xfrm>
          <a:prstGeom prst="rect">
            <a:avLst/>
          </a:prstGeom>
        </p:spPr>
      </p:pic>
      <p:sp>
        <p:nvSpPr>
          <p:cNvPr id="23" name="Text 14"/>
          <p:cNvSpPr/>
          <p:nvPr/>
        </p:nvSpPr>
        <p:spPr>
          <a:xfrm>
            <a:off x="1347192" y="5621893"/>
            <a:ext cx="12489418" cy="261223"/>
          </a:xfrm>
          <a:prstGeom prst="rect">
            <a:avLst/>
          </a:prstGeom>
          <a:noFill/>
          <a:ln/>
        </p:spPr>
        <p:txBody>
          <a:bodyPr wrap="none" lIns="0" tIns="0" rIns="0" bIns="0" rtlCol="0" anchor="t"/>
          <a:lstStyle/>
          <a:p>
            <a:pPr marL="0" indent="0" algn="l">
              <a:lnSpc>
                <a:spcPts val="2050"/>
              </a:lnSpc>
              <a:buNone/>
            </a:pPr>
            <a:r>
              <a:rPr lang="en-US" sz="1600" dirty="0">
                <a:solidFill>
                  <a:srgbClr val="D7E5D8"/>
                </a:solidFill>
                <a:latin typeface="Syne" pitchFamily="34" charset="0"/>
                <a:ea typeface="Syne" pitchFamily="34" charset="-122"/>
                <a:cs typeface="Syne" pitchFamily="34" charset="-120"/>
              </a:rPr>
              <a:t>           Offer special support programs tailored for rural and socio-economically weaker students who face additional challenges.         </a:t>
            </a:r>
            <a:endParaRPr lang="en-US" sz="1600" dirty="0"/>
          </a:p>
        </p:txBody>
      </p:sp>
      <p:sp>
        <p:nvSpPr>
          <p:cNvPr id="24" name="Shape 15"/>
          <p:cNvSpPr/>
          <p:nvPr/>
        </p:nvSpPr>
        <p:spPr>
          <a:xfrm>
            <a:off x="793790" y="6261497"/>
            <a:ext cx="408265" cy="408265"/>
          </a:xfrm>
          <a:prstGeom prst="roundRect">
            <a:avLst>
              <a:gd name="adj" fmla="val 18668"/>
            </a:avLst>
          </a:prstGeom>
          <a:solidFill>
            <a:srgbClr val="547808"/>
          </a:solidFill>
          <a:ln w="7620">
            <a:solidFill>
              <a:srgbClr val="6D9121"/>
            </a:solidFill>
            <a:prstDash val="solid"/>
          </a:ln>
        </p:spPr>
      </p:sp>
      <p:pic>
        <p:nvPicPr>
          <p:cNvPr id="25" name="Image 7" descr="preencoded.png"/>
          <p:cNvPicPr>
            <a:picLocks noChangeAspect="1"/>
          </p:cNvPicPr>
          <p:nvPr/>
        </p:nvPicPr>
        <p:blipFill>
          <a:blip r:embed="rId4">
            <a:extLst>
              <a:ext uri="{96DAC541-7B7A-43D3-8B79-37D633B846F1}">
                <asvg:svgBlip xmlns:asvg="http://schemas.microsoft.com/office/drawing/2016/SVG/main" r:embed="rId11"/>
              </a:ext>
            </a:extLst>
          </a:blip>
          <a:stretch>
            <a:fillRect/>
          </a:stretch>
        </p:blipFill>
        <p:spPr>
          <a:xfrm>
            <a:off x="861774" y="6329422"/>
            <a:ext cx="272177" cy="272177"/>
          </a:xfrm>
          <a:prstGeom prst="rect">
            <a:avLst/>
          </a:prstGeom>
        </p:spPr>
      </p:pic>
      <p:sp>
        <p:nvSpPr>
          <p:cNvPr id="26" name="Text 16"/>
          <p:cNvSpPr/>
          <p:nvPr/>
        </p:nvSpPr>
        <p:spPr>
          <a:xfrm>
            <a:off x="1347192" y="6320433"/>
            <a:ext cx="12489418" cy="261223"/>
          </a:xfrm>
          <a:prstGeom prst="rect">
            <a:avLst/>
          </a:prstGeom>
          <a:noFill/>
          <a:ln/>
        </p:spPr>
        <p:txBody>
          <a:bodyPr wrap="none" lIns="0" tIns="0" rIns="0" bIns="0" rtlCol="0" anchor="t"/>
          <a:lstStyle/>
          <a:p>
            <a:pPr marL="0" indent="0" algn="l">
              <a:lnSpc>
                <a:spcPts val="2050"/>
              </a:lnSpc>
              <a:buNone/>
            </a:pPr>
            <a:r>
              <a:rPr lang="en-US" sz="1600" dirty="0">
                <a:solidFill>
                  <a:srgbClr val="D7E5D8"/>
                </a:solidFill>
                <a:latin typeface="Syne" pitchFamily="34" charset="0"/>
                <a:ea typeface="Syne" pitchFamily="34" charset="-122"/>
                <a:cs typeface="Syne" pitchFamily="34" charset="-120"/>
              </a:rPr>
              <a:t>           Promote robust career guidance, peer learning initiatives, and collaborative group study opportunities to boost engagement.         </a:t>
            </a:r>
            <a:endParaRPr lang="en-US" sz="1600" dirty="0"/>
          </a:p>
        </p:txBody>
      </p:sp>
      <p:sp>
        <p:nvSpPr>
          <p:cNvPr id="27" name="Shape 17"/>
          <p:cNvSpPr/>
          <p:nvPr/>
        </p:nvSpPr>
        <p:spPr>
          <a:xfrm>
            <a:off x="793790" y="6960037"/>
            <a:ext cx="408265" cy="408265"/>
          </a:xfrm>
          <a:prstGeom prst="roundRect">
            <a:avLst>
              <a:gd name="adj" fmla="val 18668"/>
            </a:avLst>
          </a:prstGeom>
          <a:solidFill>
            <a:srgbClr val="547808"/>
          </a:solidFill>
          <a:ln w="7620">
            <a:solidFill>
              <a:srgbClr val="6D9121"/>
            </a:solidFill>
            <a:prstDash val="solid"/>
          </a:ln>
        </p:spPr>
      </p:sp>
      <p:pic>
        <p:nvPicPr>
          <p:cNvPr id="28" name="Image 8" descr="preencoded.png"/>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861774" y="7027962"/>
            <a:ext cx="272177" cy="272177"/>
          </a:xfrm>
          <a:prstGeom prst="rect">
            <a:avLst/>
          </a:prstGeom>
        </p:spPr>
      </p:pic>
      <p:sp>
        <p:nvSpPr>
          <p:cNvPr id="29" name="Text 18"/>
          <p:cNvSpPr/>
          <p:nvPr/>
        </p:nvSpPr>
        <p:spPr>
          <a:xfrm>
            <a:off x="1347192" y="7018973"/>
            <a:ext cx="12489418" cy="261223"/>
          </a:xfrm>
          <a:prstGeom prst="rect">
            <a:avLst/>
          </a:prstGeom>
          <a:noFill/>
          <a:ln/>
        </p:spPr>
        <p:txBody>
          <a:bodyPr wrap="none" lIns="0" tIns="0" rIns="0" bIns="0" rtlCol="0" anchor="t"/>
          <a:lstStyle/>
          <a:p>
            <a:pPr marL="0" indent="0" algn="l">
              <a:lnSpc>
                <a:spcPts val="2050"/>
              </a:lnSpc>
              <a:buNone/>
            </a:pPr>
            <a:r>
              <a:rPr lang="en-US" sz="1600" dirty="0">
                <a:solidFill>
                  <a:srgbClr val="D7E5D8"/>
                </a:solidFill>
                <a:latin typeface="Syne" pitchFamily="34" charset="0"/>
                <a:ea typeface="Syne" pitchFamily="34" charset="-122"/>
                <a:cs typeface="Syne" pitchFamily="34" charset="-120"/>
              </a:rPr>
              <a:t>           Utilize machine learning models for the early and proactive identification of at-risk students, enabling timely interventions.         </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80000"/>
            </a:srgbClr>
          </a:solidFill>
          <a:ln/>
        </p:spPr>
      </p:sp>
      <p:sp>
        <p:nvSpPr>
          <p:cNvPr id="4" name="Text 1"/>
          <p:cNvSpPr/>
          <p:nvPr/>
        </p:nvSpPr>
        <p:spPr>
          <a:xfrm>
            <a:off x="793790" y="569714"/>
            <a:ext cx="10672763" cy="708779"/>
          </a:xfrm>
          <a:prstGeom prst="rect">
            <a:avLst/>
          </a:prstGeom>
          <a:noFill/>
          <a:ln/>
        </p:spPr>
        <p:txBody>
          <a:bodyPr wrap="none" lIns="0" tIns="0" rIns="0" bIns="0" rtlCol="0" anchor="t"/>
          <a:lstStyle/>
          <a:p>
            <a:pPr marL="0" indent="0" algn="l">
              <a:lnSpc>
                <a:spcPts val="5550"/>
              </a:lnSpc>
              <a:buNone/>
            </a:pPr>
            <a:r>
              <a:rPr lang="en-US" sz="4450" b="1" dirty="0">
                <a:solidFill>
                  <a:srgbClr val="F0F4F1"/>
                </a:solidFill>
                <a:latin typeface="Syne Extra Bold" pitchFamily="34" charset="0"/>
                <a:ea typeface="Syne Extra Bold" pitchFamily="34" charset="-122"/>
                <a:cs typeface="Syne Extra Bold" pitchFamily="34" charset="-120"/>
              </a:rPr>
              <a:t>Limitations of the Study</a:t>
            </a:r>
            <a:endParaRPr lang="en-US" sz="4450" dirty="0"/>
          </a:p>
        </p:txBody>
      </p:sp>
      <p:sp>
        <p:nvSpPr>
          <p:cNvPr id="5" name="Shape 2"/>
          <p:cNvSpPr/>
          <p:nvPr/>
        </p:nvSpPr>
        <p:spPr>
          <a:xfrm>
            <a:off x="793790" y="2405182"/>
            <a:ext cx="113348" cy="113348"/>
          </a:xfrm>
          <a:prstGeom prst="roundRect">
            <a:avLst>
              <a:gd name="adj" fmla="val 403360"/>
            </a:avLst>
          </a:prstGeom>
          <a:solidFill>
            <a:srgbClr val="A9F00F"/>
          </a:solidFill>
          <a:ln/>
        </p:spPr>
      </p:sp>
      <p:sp>
        <p:nvSpPr>
          <p:cNvPr id="6" name="Text 3"/>
          <p:cNvSpPr/>
          <p:nvPr/>
        </p:nvSpPr>
        <p:spPr>
          <a:xfrm>
            <a:off x="1133951" y="2280404"/>
            <a:ext cx="12702659"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The study is limited to selected undergraduate colleges in Kolhapur District, which may affect the generalizability of the findings.</a:t>
            </a:r>
            <a:endParaRPr lang="en-US" sz="2000" dirty="0"/>
          </a:p>
        </p:txBody>
      </p:sp>
      <p:sp>
        <p:nvSpPr>
          <p:cNvPr id="7" name="Shape 4"/>
          <p:cNvSpPr/>
          <p:nvPr/>
        </p:nvSpPr>
        <p:spPr>
          <a:xfrm>
            <a:off x="793790" y="3221712"/>
            <a:ext cx="113348" cy="113348"/>
          </a:xfrm>
          <a:prstGeom prst="roundRect">
            <a:avLst>
              <a:gd name="adj" fmla="val 403360"/>
            </a:avLst>
          </a:prstGeom>
          <a:solidFill>
            <a:srgbClr val="A9F00F"/>
          </a:solidFill>
          <a:ln/>
        </p:spPr>
      </p:sp>
      <p:sp>
        <p:nvSpPr>
          <p:cNvPr id="8" name="Text 5"/>
          <p:cNvSpPr/>
          <p:nvPr/>
        </p:nvSpPr>
        <p:spPr>
          <a:xfrm>
            <a:off x="1133951" y="3096935"/>
            <a:ext cx="12702659" cy="725805"/>
          </a:xfrm>
          <a:prstGeom prst="rect">
            <a:avLst/>
          </a:prstGeom>
          <a:noFill/>
          <a:ln/>
        </p:spPr>
        <p:txBody>
          <a:bodyPr wrap="squar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Being a cross-sectional study, it identifies associations but cannot establish causation between the identified challenges and academic outcomes.</a:t>
            </a:r>
            <a:endParaRPr lang="en-US" sz="2000" dirty="0"/>
          </a:p>
        </p:txBody>
      </p:sp>
      <p:sp>
        <p:nvSpPr>
          <p:cNvPr id="9" name="Shape 6"/>
          <p:cNvSpPr/>
          <p:nvPr/>
        </p:nvSpPr>
        <p:spPr>
          <a:xfrm>
            <a:off x="793790" y="4401145"/>
            <a:ext cx="113348" cy="113348"/>
          </a:xfrm>
          <a:prstGeom prst="roundRect">
            <a:avLst>
              <a:gd name="adj" fmla="val 403360"/>
            </a:avLst>
          </a:prstGeom>
          <a:solidFill>
            <a:srgbClr val="A9F00F"/>
          </a:solidFill>
          <a:ln/>
        </p:spPr>
      </p:sp>
      <p:sp>
        <p:nvSpPr>
          <p:cNvPr id="10" name="Text 7"/>
          <p:cNvSpPr/>
          <p:nvPr/>
        </p:nvSpPr>
        <p:spPr>
          <a:xfrm>
            <a:off x="1133951" y="4276368"/>
            <a:ext cx="12702659" cy="362903"/>
          </a:xfrm>
          <a:prstGeom prst="rect">
            <a:avLst/>
          </a:prstGeom>
          <a:noFill/>
          <a:ln/>
        </p:spPr>
        <p:txBody>
          <a:bodyPr wrap="non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The analysis is based on self-reported student responses, which may involve inherent response bias or inaccuracies.</a:t>
            </a:r>
            <a:endParaRPr lang="en-US" sz="2000" dirty="0"/>
          </a:p>
        </p:txBody>
      </p:sp>
      <p:sp>
        <p:nvSpPr>
          <p:cNvPr id="11" name="Shape 8"/>
          <p:cNvSpPr/>
          <p:nvPr/>
        </p:nvSpPr>
        <p:spPr>
          <a:xfrm>
            <a:off x="793790" y="5217676"/>
            <a:ext cx="113348" cy="113348"/>
          </a:xfrm>
          <a:prstGeom prst="roundRect">
            <a:avLst>
              <a:gd name="adj" fmla="val 403360"/>
            </a:avLst>
          </a:prstGeom>
          <a:solidFill>
            <a:srgbClr val="A9F00F"/>
          </a:solidFill>
          <a:ln/>
        </p:spPr>
      </p:sp>
      <p:sp>
        <p:nvSpPr>
          <p:cNvPr id="12" name="Text 9"/>
          <p:cNvSpPr/>
          <p:nvPr/>
        </p:nvSpPr>
        <p:spPr>
          <a:xfrm>
            <a:off x="1133951" y="5092898"/>
            <a:ext cx="12702659" cy="725805"/>
          </a:xfrm>
          <a:prstGeom prst="rect">
            <a:avLst/>
          </a:prstGeom>
          <a:noFill/>
          <a:ln/>
        </p:spPr>
        <p:txBody>
          <a:bodyPr wrap="squar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Some potentially important factors, such as individual personality traits, specific institutional policies, or socio-economic background beyond family income, were not included in the scope of this research.</a:t>
            </a:r>
            <a:endParaRPr lang="en-US" sz="2000" dirty="0"/>
          </a:p>
        </p:txBody>
      </p:sp>
      <p:sp>
        <p:nvSpPr>
          <p:cNvPr id="13" name="Shape 10"/>
          <p:cNvSpPr/>
          <p:nvPr/>
        </p:nvSpPr>
        <p:spPr>
          <a:xfrm>
            <a:off x="793790" y="6397109"/>
            <a:ext cx="113348" cy="113348"/>
          </a:xfrm>
          <a:prstGeom prst="roundRect">
            <a:avLst>
              <a:gd name="adj" fmla="val 403360"/>
            </a:avLst>
          </a:prstGeom>
          <a:solidFill>
            <a:srgbClr val="A9F00F"/>
          </a:solidFill>
          <a:ln/>
        </p:spPr>
      </p:sp>
      <p:sp>
        <p:nvSpPr>
          <p:cNvPr id="14" name="Text 11"/>
          <p:cNvSpPr/>
          <p:nvPr/>
        </p:nvSpPr>
        <p:spPr>
          <a:xfrm>
            <a:off x="1133951" y="6272332"/>
            <a:ext cx="12702659" cy="725805"/>
          </a:xfrm>
          <a:prstGeom prst="rect">
            <a:avLst/>
          </a:prstGeom>
          <a:noFill/>
          <a:ln/>
        </p:spPr>
        <p:txBody>
          <a:bodyPr wrap="square" lIns="0" tIns="0" rIns="0" bIns="0" rtlCol="0" anchor="t"/>
          <a:lstStyle/>
          <a:p>
            <a:pPr marL="0" indent="0" algn="l">
              <a:lnSpc>
                <a:spcPts val="2850"/>
              </a:lnSpc>
              <a:buNone/>
            </a:pPr>
            <a:r>
              <a:rPr lang="en-US" sz="2000" dirty="0">
                <a:solidFill>
                  <a:srgbClr val="D7E5D8"/>
                </a:solidFill>
                <a:latin typeface="Syne" pitchFamily="34" charset="0"/>
                <a:ea typeface="Syne" pitchFamily="34" charset="-122"/>
                <a:cs typeface="Syne" pitchFamily="34" charset="-120"/>
              </a:rPr>
              <a:t>The statistical models explain only a portion of academic performance variance, indicating that many other unmeasured factors may also significantly influence student achievement.</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80000"/>
            </a:srgbClr>
          </a:solidFill>
          <a:ln/>
        </p:spPr>
      </p:sp>
      <p:sp>
        <p:nvSpPr>
          <p:cNvPr id="4" name="Text 1"/>
          <p:cNvSpPr/>
          <p:nvPr/>
        </p:nvSpPr>
        <p:spPr>
          <a:xfrm>
            <a:off x="793790" y="987266"/>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F0F4F1"/>
                </a:solidFill>
                <a:latin typeface="Syne Extra Bold" pitchFamily="34" charset="0"/>
                <a:ea typeface="Syne Extra Bold" pitchFamily="34" charset="-122"/>
                <a:cs typeface="Syne Extra Bold" pitchFamily="34" charset="-120"/>
              </a:rPr>
              <a:t>References</a:t>
            </a:r>
            <a:endParaRPr lang="en-US" sz="3550" dirty="0"/>
          </a:p>
        </p:txBody>
      </p:sp>
      <p:sp>
        <p:nvSpPr>
          <p:cNvPr id="5" name="Text 2"/>
          <p:cNvSpPr/>
          <p:nvPr/>
        </p:nvSpPr>
        <p:spPr>
          <a:xfrm>
            <a:off x="793790" y="1771888"/>
            <a:ext cx="13042821" cy="5470446"/>
          </a:xfrm>
          <a:prstGeom prst="rect">
            <a:avLst/>
          </a:prstGeom>
          <a:noFill/>
          <a:ln/>
        </p:spPr>
        <p:txBody>
          <a:bodyPr wrap="square" lIns="0" tIns="0" rIns="0" bIns="0" rtlCol="0" anchor="t"/>
          <a:lstStyle/>
          <a:p>
            <a:pPr marL="342900" indent="-342900" algn="l">
              <a:lnSpc>
                <a:spcPts val="2050"/>
              </a:lnSpc>
              <a:buSzPct val="100000"/>
              <a:buFont typeface="+mj-lt"/>
              <a:buAutoNum type="arabicPeriod"/>
            </a:pPr>
            <a:r>
              <a:rPr lang="en-US" sz="1400" dirty="0">
                <a:solidFill>
                  <a:srgbClr val="D7E5D8"/>
                </a:solidFill>
                <a:latin typeface="Syne" pitchFamily="34" charset="0"/>
                <a:ea typeface="Syne" pitchFamily="34" charset="-122"/>
                <a:cs typeface="Syne" pitchFamily="34" charset="-120"/>
              </a:rPr>
              <a:t>Ramaswami, M., &amp; Bhaskaran, R. (2009). A study on feature selection techniques in educational data mining. arXiv preprint arXiv:0912.3924.</a:t>
            </a:r>
            <a:endParaRPr lang="en-US" sz="1400" dirty="0"/>
          </a:p>
          <a:p>
            <a:pPr marL="342900" indent="-342900" algn="l">
              <a:lnSpc>
                <a:spcPts val="2050"/>
              </a:lnSpc>
              <a:buSzPct val="100000"/>
              <a:buFont typeface="+mj-lt"/>
              <a:buAutoNum type="arabicPeriod" startAt="2"/>
            </a:pPr>
            <a:r>
              <a:rPr lang="en-US" sz="1400" dirty="0">
                <a:solidFill>
                  <a:srgbClr val="D7E5D8"/>
                </a:solidFill>
                <a:latin typeface="Syne" pitchFamily="34" charset="0"/>
                <a:ea typeface="Syne" pitchFamily="34" charset="-122"/>
                <a:cs typeface="Syne" pitchFamily="34" charset="-120"/>
              </a:rPr>
              <a:t>Yadav, S. K., Bharadwaj, B., &amp; Pal, S. (2012). Data mining applications: A comparative study for predicting student's performance. arXiv preprint arXiv:1202.4815.</a:t>
            </a:r>
            <a:endParaRPr lang="en-US" sz="1400" dirty="0"/>
          </a:p>
          <a:p>
            <a:pPr marL="342900" indent="-342900" algn="l">
              <a:lnSpc>
                <a:spcPts val="2050"/>
              </a:lnSpc>
              <a:buSzPct val="100000"/>
              <a:buFont typeface="+mj-lt"/>
              <a:buAutoNum type="arabicPeriod" startAt="3"/>
            </a:pPr>
            <a:r>
              <a:rPr lang="en-US" sz="1400" dirty="0">
                <a:solidFill>
                  <a:srgbClr val="D7E5D8"/>
                </a:solidFill>
                <a:latin typeface="Syne" pitchFamily="34" charset="0"/>
                <a:ea typeface="Syne" pitchFamily="34" charset="-122"/>
                <a:cs typeface="Syne" pitchFamily="34" charset="-120"/>
              </a:rPr>
              <a:t>vamanan, ramesh &amp; Parkavi, P &amp; Ramar, K.. (2013). Predicting Student Performance: A Statistical and Data Mining Approach. International journal of computer applications. 63. 975-8887. 10.5120/10489-5242.</a:t>
            </a:r>
            <a:endParaRPr lang="en-US" sz="1400" dirty="0"/>
          </a:p>
          <a:p>
            <a:pPr marL="342900" indent="-342900" algn="l">
              <a:lnSpc>
                <a:spcPts val="2050"/>
              </a:lnSpc>
              <a:buSzPct val="100000"/>
              <a:buFont typeface="+mj-lt"/>
              <a:buAutoNum type="arabicPeriod" startAt="4"/>
            </a:pPr>
            <a:r>
              <a:rPr lang="en-US" sz="1400" dirty="0">
                <a:solidFill>
                  <a:srgbClr val="D7E5D8"/>
                </a:solidFill>
                <a:latin typeface="Syne" pitchFamily="34" charset="0"/>
                <a:ea typeface="Syne" pitchFamily="34" charset="-122"/>
                <a:cs typeface="Syne" pitchFamily="34" charset="-120"/>
              </a:rPr>
              <a:t>Adhatrao, K., Gaykar, A., Dhawan, A., Jha, R., &amp; Honrao, V. (2013). Predicting students' performance using ID3 and C4. 5 classification algorithms. arXiv preprint arXiv:1310.2071.</a:t>
            </a:r>
            <a:endParaRPr lang="en-US" sz="1400" dirty="0"/>
          </a:p>
          <a:p>
            <a:pPr marL="342900" indent="-342900" algn="l">
              <a:lnSpc>
                <a:spcPts val="2050"/>
              </a:lnSpc>
              <a:buSzPct val="100000"/>
              <a:buFont typeface="+mj-lt"/>
              <a:buAutoNum type="arabicPeriod" startAt="5"/>
            </a:pPr>
            <a:r>
              <a:rPr lang="en-US" sz="1400" dirty="0">
                <a:solidFill>
                  <a:srgbClr val="D7E5D8"/>
                </a:solidFill>
                <a:latin typeface="Syne" pitchFamily="34" charset="0"/>
                <a:ea typeface="Syne" pitchFamily="34" charset="-122"/>
                <a:cs typeface="Syne" pitchFamily="34" charset="-120"/>
              </a:rPr>
              <a:t>Sujatha, G. &amp; S, Sindhu &amp; Savaridassan, P. (2018). Predicting students performance using personalized analytics. International Journal of Pure and Applied Mathematics. 119. 229-237.</a:t>
            </a:r>
            <a:endParaRPr lang="en-US" sz="1400" dirty="0"/>
          </a:p>
          <a:p>
            <a:pPr marL="342900" indent="-342900" algn="l">
              <a:lnSpc>
                <a:spcPts val="2050"/>
              </a:lnSpc>
              <a:buSzPct val="100000"/>
              <a:buFont typeface="+mj-lt"/>
              <a:buAutoNum type="arabicPeriod" startAt="6"/>
            </a:pPr>
            <a:r>
              <a:rPr lang="en-US" sz="1400" dirty="0">
                <a:solidFill>
                  <a:srgbClr val="D7E5D8"/>
                </a:solidFill>
                <a:latin typeface="Syne" pitchFamily="34" charset="0"/>
                <a:ea typeface="Syne" pitchFamily="34" charset="-122"/>
                <a:cs typeface="Syne" pitchFamily="34" charset="-120"/>
              </a:rPr>
              <a:t>Li, Y., Gou, J., &amp; Fan, Z. (2019). Educational data mining for students' performance based on fuzzy C-means clustering. The Journal of Engineering, 2019(11), 8245–8250.</a:t>
            </a:r>
            <a:endParaRPr lang="en-US" sz="1400" dirty="0"/>
          </a:p>
          <a:p>
            <a:pPr marL="342900" indent="-342900" algn="l">
              <a:lnSpc>
                <a:spcPts val="2050"/>
              </a:lnSpc>
              <a:buSzPct val="100000"/>
              <a:buFont typeface="+mj-lt"/>
              <a:buAutoNum type="arabicPeriod" startAt="7"/>
            </a:pPr>
            <a:r>
              <a:rPr lang="en-US" sz="1400" dirty="0">
                <a:solidFill>
                  <a:srgbClr val="D7E5D8"/>
                </a:solidFill>
                <a:latin typeface="Syne" pitchFamily="34" charset="0"/>
                <a:ea typeface="Syne" pitchFamily="34" charset="-122"/>
                <a:cs typeface="Syne" pitchFamily="34" charset="-120"/>
              </a:rPr>
              <a:t>Zhang, Yupei et al. “Educational Data Mining Techniques for Student Performance Prediction: Method Review and Comparison Analysis.” Frontiers in psychology vol. 12 698490. 7 Dec. 2021, doi:10.3389/fpsyg.2021.698490</a:t>
            </a:r>
            <a:endParaRPr lang="en-US" sz="1400" dirty="0"/>
          </a:p>
          <a:p>
            <a:pPr marL="342900" indent="-342900" algn="l">
              <a:lnSpc>
                <a:spcPts val="2050"/>
              </a:lnSpc>
              <a:buSzPct val="100000"/>
              <a:buFont typeface="+mj-lt"/>
              <a:buAutoNum type="arabicPeriod" startAt="8"/>
            </a:pPr>
            <a:r>
              <a:rPr lang="en-US" sz="1400" dirty="0">
                <a:solidFill>
                  <a:srgbClr val="D7E5D8"/>
                </a:solidFill>
                <a:latin typeface="Syne" pitchFamily="34" charset="0"/>
                <a:ea typeface="Syne" pitchFamily="34" charset="-122"/>
                <a:cs typeface="Syne" pitchFamily="34" charset="-120"/>
              </a:rPr>
              <a:t>Lynn, N. D., &amp; Emanuel, A. W. R. (2021). Using Data Mining Techniques to Predict Students’ Performance: A Review. IOP Conference Series: Materials Science and Engineering, 1096, 012083.</a:t>
            </a:r>
            <a:endParaRPr lang="en-US" sz="1400" dirty="0"/>
          </a:p>
          <a:p>
            <a:pPr marL="342900" indent="-342900" algn="l">
              <a:lnSpc>
                <a:spcPts val="2050"/>
              </a:lnSpc>
              <a:buSzPct val="100000"/>
              <a:buFont typeface="+mj-lt"/>
              <a:buAutoNum type="arabicPeriod" startAt="9"/>
            </a:pPr>
            <a:r>
              <a:rPr lang="en-US" sz="1400" dirty="0">
                <a:solidFill>
                  <a:srgbClr val="D7E5D8"/>
                </a:solidFill>
                <a:latin typeface="Syne" pitchFamily="34" charset="0"/>
                <a:ea typeface="Syne" pitchFamily="34" charset="-122"/>
                <a:cs typeface="Syne" pitchFamily="34" charset="-120"/>
              </a:rPr>
              <a:t>Ahmad, B., Zafar, N., &amp; Anwar, H. (2021). Predicting Student’s Performance Using Machine Learning: A Systematic Review. Education Sciences, 11(9), 552.</a:t>
            </a:r>
            <a:endParaRPr lang="en-US" sz="1400" dirty="0"/>
          </a:p>
          <a:p>
            <a:pPr marL="342900" indent="-342900" algn="l">
              <a:lnSpc>
                <a:spcPts val="2050"/>
              </a:lnSpc>
              <a:buSzPct val="100000"/>
              <a:buFont typeface="+mj-lt"/>
              <a:buAutoNum type="arabicPeriod" startAt="10"/>
            </a:pPr>
            <a:r>
              <a:rPr lang="en-US" sz="1400" dirty="0">
                <a:solidFill>
                  <a:srgbClr val="D7E5D8"/>
                </a:solidFill>
                <a:latin typeface="Syne" pitchFamily="34" charset="0"/>
                <a:ea typeface="Syne" pitchFamily="34" charset="-122"/>
                <a:cs typeface="Syne" pitchFamily="34" charset="-120"/>
              </a:rPr>
              <a:t>Syed Mustapha, SMFD. (2023). Predictive Analysis of Students’ Learning Performance Using Data Mining Techniques: A Comparative Study of Feature Selection Methods. Applied System Innovation. 6. 86. 10.3390/asi6050086.</a:t>
            </a:r>
            <a:endParaRPr lang="en-US" sz="1400" dirty="0"/>
          </a:p>
          <a:p>
            <a:pPr marL="342900" indent="-342900" algn="l">
              <a:lnSpc>
                <a:spcPts val="2050"/>
              </a:lnSpc>
              <a:buSzPct val="100000"/>
              <a:buFont typeface="+mj-lt"/>
              <a:buAutoNum type="arabicPeriod" startAt="11"/>
            </a:pPr>
            <a:r>
              <a:rPr lang="en-US" sz="1400" dirty="0">
                <a:solidFill>
                  <a:srgbClr val="D7E5D8"/>
                </a:solidFill>
                <a:latin typeface="Syne" pitchFamily="34" charset="0"/>
                <a:ea typeface="Syne" pitchFamily="34" charset="-122"/>
                <a:cs typeface="Syne" pitchFamily="34" charset="-120"/>
              </a:rPr>
              <a:t>Hussain, M. M., Akbar, S., Ale Hassan, S., Waqas Aziz, M., &amp; Urooj, F. (2024). Prediction of Student’s Academic Performance through Data Mining Approach. Journal of Informatics and Web Engineering, 3(1), 241–251. https://doi.org/10.33093/jiwe.2024.3.1.16</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2857"/>
            <a:ext cx="14630400" cy="8229600"/>
          </a:xfrm>
          <a:prstGeom prst="rect">
            <a:avLst/>
          </a:prstGeom>
          <a:solidFill>
            <a:srgbClr val="152025">
              <a:alpha val="80000"/>
            </a:srgbClr>
          </a:solidFill>
          <a:ln/>
        </p:spPr>
      </p:sp>
      <p:sp>
        <p:nvSpPr>
          <p:cNvPr id="4" name="Text 1"/>
          <p:cNvSpPr/>
          <p:nvPr/>
        </p:nvSpPr>
        <p:spPr>
          <a:xfrm>
            <a:off x="4479846" y="3408878"/>
            <a:ext cx="5670590" cy="708779"/>
          </a:xfrm>
          <a:prstGeom prst="rect">
            <a:avLst/>
          </a:prstGeom>
          <a:noFill/>
          <a:ln/>
        </p:spPr>
        <p:txBody>
          <a:bodyPr wrap="none" lIns="0" tIns="0" rIns="0" bIns="0" rtlCol="0" anchor="t"/>
          <a:lstStyle/>
          <a:p>
            <a:pPr marL="0" indent="0" algn="ctr">
              <a:lnSpc>
                <a:spcPts val="5550"/>
              </a:lnSpc>
              <a:buNone/>
            </a:pPr>
            <a:r>
              <a:rPr lang="en-US" sz="8000" b="1" dirty="0">
                <a:solidFill>
                  <a:srgbClr val="F0F4F1"/>
                </a:solidFill>
                <a:latin typeface="Syne Extra Bold" pitchFamily="34" charset="0"/>
                <a:ea typeface="Syne Extra Bold" pitchFamily="34" charset="-122"/>
                <a:cs typeface="Syne Extra Bold" pitchFamily="34" charset="-120"/>
              </a:rPr>
              <a:t>Thank You!</a:t>
            </a:r>
            <a:endParaRPr lang="en-US" sz="8000" dirty="0"/>
          </a:p>
        </p:txBody>
      </p:sp>
      <p:sp>
        <p:nvSpPr>
          <p:cNvPr id="5" name="Text 2"/>
          <p:cNvSpPr/>
          <p:nvPr/>
        </p:nvSpPr>
        <p:spPr>
          <a:xfrm>
            <a:off x="793790" y="4457819"/>
            <a:ext cx="13042821" cy="362903"/>
          </a:xfrm>
          <a:prstGeom prst="rect">
            <a:avLst/>
          </a:prstGeom>
          <a:noFill/>
          <a:ln/>
        </p:spPr>
        <p:txBody>
          <a:bodyPr wrap="none" lIns="0" tIns="0" rIns="0" bIns="0" rtlCol="0" anchor="t"/>
          <a:lstStyle/>
          <a:p>
            <a:pPr marL="0" indent="0" algn="ctr">
              <a:lnSpc>
                <a:spcPts val="2850"/>
              </a:lnSpc>
              <a:buNone/>
            </a:pPr>
            <a:r>
              <a:rPr lang="en-US" sz="2400" dirty="0">
                <a:solidFill>
                  <a:srgbClr val="D7E5D8"/>
                </a:solidFill>
                <a:latin typeface="Syne" pitchFamily="34" charset="0"/>
                <a:ea typeface="Syne" pitchFamily="34" charset="-122"/>
                <a:cs typeface="Syne" pitchFamily="34" charset="-120"/>
              </a:rPr>
              <a:t>For your attention and interest in our study on student challenges and academic achievement.</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TotalTime>
  <Words>2843</Words>
  <Application>Microsoft Office PowerPoint</Application>
  <PresentationFormat>Custom</PresentationFormat>
  <Paragraphs>369</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Syne</vt:lpstr>
      <vt:lpstr>Calibri</vt:lpstr>
      <vt:lpstr>Arial</vt:lpstr>
      <vt:lpstr>-apple-system, BlinkMacSystemFont, Segoe UI, Roboto, Helvetica Neue, Arial, sans-serif Medium</vt:lpstr>
      <vt:lpstr>Syne Extra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vaibhya_0506</dc:creator>
  <cp:lastModifiedBy>hp</cp:lastModifiedBy>
  <cp:revision>11</cp:revision>
  <dcterms:created xsi:type="dcterms:W3CDTF">2026-04-28T16:49:48Z</dcterms:created>
  <dcterms:modified xsi:type="dcterms:W3CDTF">2026-04-29T02:21:29Z</dcterms:modified>
</cp:coreProperties>
</file>